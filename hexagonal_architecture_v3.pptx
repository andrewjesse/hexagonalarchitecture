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59" r:id="rId5"/>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Tight Coupling</c:v>
                </c:pt>
              </c:strCache>
            </c:strRef>
          </c:tx>
          <c:spPr>
            <a:solidFill>
              <a:srgbClr val="FF6B35"/>
            </a:solidFill>
            <a:ln w="38100" cap="flat">
              <a:solidFill>
                <a:srgbClr val="FF6B3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6B35"/>
              </a:solidFill>
              <a:ln w="9525" cap="flat">
                <a:solidFill>
                  <a:srgbClr val="FF6B35"/>
                </a:solidFill>
                <a:prstDash val="solid"/>
                <a:round/>
              </a:ln>
              <a:effectLst/>
            </c:spPr>
          </c:marker>
          <c:cat>
            <c:multiLvlStrRef>
              <c:f>Sheet1!$A$2:$A$6</c:f>
              <c:multiLvlStrCache>
                <c:ptCount val="5"/>
                <c:lvl>
                  <c:pt idx="0">
                    <c:v>Yr 1</c:v>
                  </c:pt>
                  <c:pt idx="1">
                    <c:v>Yr 2</c:v>
                  </c:pt>
                  <c:pt idx="2">
                    <c:v>Yr 3</c:v>
                  </c:pt>
                  <c:pt idx="3">
                    <c:v>Yr 4</c:v>
                  </c:pt>
                  <c:pt idx="4">
                    <c:v>Yr 5</c:v>
                  </c:pt>
                </c:lvl>
              </c:multiLvlStrCache>
            </c:multiLvlStrRef>
          </c:cat>
          <c:val>
            <c:numRef>
              <c:f>Sheet1!$B$2:$B$6</c:f>
              <c:numCache>
                <c:formatCode>General</c:formatCode>
                <c:ptCount val="5"/>
                <c:pt idx="0">
                  <c:v>10</c:v>
                </c:pt>
                <c:pt idx="1">
                  <c:v>24</c:v>
                </c:pt>
                <c:pt idx="2">
                  <c:v>52</c:v>
                </c:pt>
                <c:pt idx="3">
                  <c:v>95</c:v>
                </c:pt>
                <c:pt idx="4">
                  <c:v>160</c:v>
                </c:pt>
              </c:numCache>
            </c:numRef>
          </c:val>
          <c:smooth val="1"/>
        </c:ser>
        <c:ser>
          <c:idx val="1"/>
          <c:order val="1"/>
          <c:tx>
            <c:strRef>
              <c:f>Sheet1!$C$1</c:f>
              <c:strCache>
                <c:ptCount val="1"/>
                <c:pt idx="0">
                  <c:v>Hexagonal HA</c:v>
                </c:pt>
              </c:strCache>
            </c:strRef>
          </c:tx>
          <c:spPr>
            <a:solidFill>
              <a:srgbClr val="2ECC71"/>
            </a:solidFill>
            <a:ln w="38100" cap="flat">
              <a:solidFill>
                <a:srgbClr val="2ECC7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CC71"/>
              </a:solidFill>
              <a:ln w="9525" cap="flat">
                <a:solidFill>
                  <a:srgbClr val="2ECC71"/>
                </a:solidFill>
                <a:prstDash val="solid"/>
                <a:round/>
              </a:ln>
              <a:effectLst/>
            </c:spPr>
          </c:marker>
          <c:cat>
            <c:multiLvlStrRef>
              <c:f>Sheet1!$A$2:$A$6</c:f>
              <c:multiLvlStrCache>
                <c:ptCount val="5"/>
                <c:lvl>
                  <c:pt idx="0">
                    <c:v>Yr 1</c:v>
                  </c:pt>
                  <c:pt idx="1">
                    <c:v>Yr 2</c:v>
                  </c:pt>
                  <c:pt idx="2">
                    <c:v>Yr 3</c:v>
                  </c:pt>
                  <c:pt idx="3">
                    <c:v>Yr 4</c:v>
                  </c:pt>
                  <c:pt idx="4">
                    <c:v>Yr 5</c:v>
                  </c:pt>
                </c:lvl>
              </c:multiLvlStrCache>
            </c:multiLvlStrRef>
          </c:cat>
          <c:val>
            <c:numRef>
              <c:f>Sheet1!$C$2:$C$6</c:f>
              <c:numCache>
                <c:formatCode>General</c:formatCode>
                <c:ptCount val="5"/>
                <c:pt idx="0">
                  <c:v>14</c:v>
                </c:pt>
                <c:pt idx="1">
                  <c:v>20</c:v>
                </c:pt>
                <c:pt idx="2">
                  <c:v>28</c:v>
                </c:pt>
                <c:pt idx="3">
                  <c:v>36</c:v>
                </c:pt>
                <c:pt idx="4">
                  <c:v>44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A97B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3D5A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A97B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chart>
  <c:spPr>
    <a:solidFill>
      <a:srgbClr val="122130"/>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istair.cockburn.us/hexagonal-architecture" TargetMode="External"/><Relationship Id="rId4" Type="http://schemas.openxmlformats.org/officeDocument/2006/relationships/hyperlink" Target="https://www.happycoders.eu/wp-content/uploads/2025/12/hexagonal_architecture_sven_woltmann_happycoders.v20251214.pdf" TargetMode="External"/><Relationship Id="rId5" Type="http://schemas.openxmlformats.org/officeDocument/2006/relationships/hyperlink" Target="https://github.com/AndrewJesse/HexagonalArchitecture" TargetMode="Externa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8-1.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6"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0" y="0"/>
            <a:ext cx="5943600" cy="5143500"/>
          </a:xfrm>
          <a:prstGeom prst="rect">
            <a:avLst/>
          </a:prstGeom>
          <a:solidFill>
            <a:srgbClr val="152638"/>
          </a:solidFill>
          <a:ln/>
        </p:spPr>
      </p:sp>
      <p:sp>
        <p:nvSpPr>
          <p:cNvPr id="3" name="Shape 1"/>
          <p:cNvSpPr/>
          <p:nvPr/>
        </p:nvSpPr>
        <p:spPr>
          <a:xfrm>
            <a:off x="0" y="0"/>
            <a:ext cx="109728" cy="5143500"/>
          </a:xfrm>
          <a:prstGeom prst="rect">
            <a:avLst/>
          </a:prstGeom>
          <a:solidFill>
            <a:srgbClr val="00C2CB"/>
          </a:solidFill>
          <a:ln/>
        </p:spPr>
      </p:sp>
      <p:sp>
        <p:nvSpPr>
          <p:cNvPr id="4" name="Shape 2"/>
          <p:cNvSpPr/>
          <p:nvPr/>
        </p:nvSpPr>
        <p:spPr>
          <a:xfrm>
            <a:off x="320040" y="475488"/>
            <a:ext cx="3474720" cy="329184"/>
          </a:xfrm>
          <a:prstGeom prst="rect">
            <a:avLst/>
          </a:prstGeom>
          <a:solidFill>
            <a:srgbClr val="1E3A52"/>
          </a:solidFill>
          <a:ln/>
          <a:effectLst>
            <a:outerShdw sx="100000" sy="100000" kx="0" ky="0" algn="bl" rotWithShape="0" blurRad="101600" dist="38100" dir="8100000">
              <a:srgbClr val="000000">
                <a:alpha val="28000"/>
              </a:srgbClr>
            </a:outerShdw>
          </a:effectLst>
        </p:spPr>
      </p:sp>
      <p:sp>
        <p:nvSpPr>
          <p:cNvPr id="5" name="Text 3"/>
          <p:cNvSpPr/>
          <p:nvPr/>
        </p:nvSpPr>
        <p:spPr>
          <a:xfrm>
            <a:off x="320040" y="475488"/>
            <a:ext cx="3474720" cy="329184"/>
          </a:xfrm>
          <a:prstGeom prst="rect">
            <a:avLst/>
          </a:prstGeom>
          <a:noFill/>
          <a:ln/>
        </p:spPr>
        <p:txBody>
          <a:bodyPr wrap="square" lIns="0" tIns="0" rIns="0" bIns="0" rtlCol="0" anchor="ctr"/>
          <a:lstStyle/>
          <a:p>
            <a:pPr algn="ctr" indent="0" marL="0">
              <a:buNone/>
            </a:pPr>
            <a:r>
              <a:rPr lang="en-US" sz="700" b="1" spc="100" kern="0" dirty="0">
                <a:solidFill>
                  <a:srgbClr val="00C2CB"/>
                </a:solidFill>
              </a:rPr>
              <a:t>HMI SOFTWARE ARCHITECT  —  INTERVIEW RESEARCH</a:t>
            </a:r>
            <a:endParaRPr lang="en-US" sz="700" dirty="0"/>
          </a:p>
        </p:txBody>
      </p:sp>
      <p:sp>
        <p:nvSpPr>
          <p:cNvPr id="6" name="Text 4"/>
          <p:cNvSpPr/>
          <p:nvPr/>
        </p:nvSpPr>
        <p:spPr>
          <a:xfrm>
            <a:off x="320040" y="960120"/>
            <a:ext cx="5486400" cy="804672"/>
          </a:xfrm>
          <a:prstGeom prst="rect">
            <a:avLst/>
          </a:prstGeom>
          <a:noFill/>
          <a:ln/>
        </p:spPr>
        <p:txBody>
          <a:bodyPr wrap="square" lIns="0" tIns="0" rIns="0" bIns="0" rtlCol="0" anchor="ctr"/>
          <a:lstStyle/>
          <a:p>
            <a:pPr indent="0" marL="0">
              <a:buNone/>
            </a:pPr>
            <a:r>
              <a:rPr lang="en-US" sz="4800" b="1" dirty="0">
                <a:solidFill>
                  <a:srgbClr val="EDF4F8"/>
                </a:solidFill>
                <a:latin typeface="Trebuchet MS" pitchFamily="34" charset="0"/>
                <a:ea typeface="Trebuchet MS" pitchFamily="34" charset="-122"/>
                <a:cs typeface="Trebuchet MS" pitchFamily="34" charset="-120"/>
              </a:rPr>
              <a:t>Hexagonal</a:t>
            </a:r>
            <a:endParaRPr lang="en-US" sz="4800" dirty="0"/>
          </a:p>
        </p:txBody>
      </p:sp>
      <p:sp>
        <p:nvSpPr>
          <p:cNvPr id="7" name="Text 5"/>
          <p:cNvSpPr/>
          <p:nvPr/>
        </p:nvSpPr>
        <p:spPr>
          <a:xfrm>
            <a:off x="320040" y="1719072"/>
            <a:ext cx="5486400" cy="804672"/>
          </a:xfrm>
          <a:prstGeom prst="rect">
            <a:avLst/>
          </a:prstGeom>
          <a:noFill/>
          <a:ln/>
        </p:spPr>
        <p:txBody>
          <a:bodyPr wrap="square" lIns="0" tIns="0" rIns="0" bIns="0" rtlCol="0" anchor="ctr"/>
          <a:lstStyle/>
          <a:p>
            <a:pPr indent="0" marL="0">
              <a:buNone/>
            </a:pPr>
            <a:r>
              <a:rPr lang="en-US" sz="4800" b="1" dirty="0">
                <a:solidFill>
                  <a:srgbClr val="00C2CB"/>
                </a:solidFill>
                <a:latin typeface="Trebuchet MS" pitchFamily="34" charset="0"/>
                <a:ea typeface="Trebuchet MS" pitchFamily="34" charset="-122"/>
                <a:cs typeface="Trebuchet MS" pitchFamily="34" charset="-120"/>
              </a:rPr>
              <a:t>Architecture</a:t>
            </a:r>
            <a:endParaRPr lang="en-US" sz="4800" dirty="0"/>
          </a:p>
        </p:txBody>
      </p:sp>
      <p:sp>
        <p:nvSpPr>
          <p:cNvPr id="8" name="Text 6"/>
          <p:cNvSpPr/>
          <p:nvPr/>
        </p:nvSpPr>
        <p:spPr>
          <a:xfrm>
            <a:off x="320040" y="2578608"/>
            <a:ext cx="5394960" cy="384048"/>
          </a:xfrm>
          <a:prstGeom prst="rect">
            <a:avLst/>
          </a:prstGeom>
          <a:noFill/>
          <a:ln/>
        </p:spPr>
        <p:txBody>
          <a:bodyPr wrap="square" lIns="0" tIns="0" rIns="0" bIns="0" rtlCol="0" anchor="ctr"/>
          <a:lstStyle/>
          <a:p>
            <a:pPr indent="0" marL="0">
              <a:buNone/>
            </a:pPr>
            <a:r>
              <a:rPr lang="en-US" sz="1300" dirty="0">
                <a:solidFill>
                  <a:srgbClr val="B8D4E0"/>
                </a:solidFill>
                <a:latin typeface="Calibri" pitchFamily="34" charset="0"/>
                <a:ea typeface="Calibri" pitchFamily="34" charset="-122"/>
                <a:cs typeface="Calibri" pitchFamily="34" charset="-120"/>
              </a:rPr>
              <a:t>Ports &amp; Adapters · Inside-Outside Symmetry · HMI Software</a:t>
            </a:r>
            <a:endParaRPr lang="en-US" sz="1300" dirty="0"/>
          </a:p>
        </p:txBody>
      </p:sp>
      <p:sp>
        <p:nvSpPr>
          <p:cNvPr id="9" name="Shape 7"/>
          <p:cNvSpPr/>
          <p:nvPr/>
        </p:nvSpPr>
        <p:spPr>
          <a:xfrm>
            <a:off x="320040" y="3072384"/>
            <a:ext cx="5303520" cy="36576"/>
          </a:xfrm>
          <a:prstGeom prst="rect">
            <a:avLst/>
          </a:prstGeom>
          <a:solidFill>
            <a:srgbClr val="3D5A70"/>
          </a:solidFill>
          <a:ln/>
        </p:spPr>
      </p:sp>
      <p:sp>
        <p:nvSpPr>
          <p:cNvPr id="10" name="Text 8"/>
          <p:cNvSpPr/>
          <p:nvPr/>
        </p:nvSpPr>
        <p:spPr>
          <a:xfrm>
            <a:off x="320040" y="3182112"/>
            <a:ext cx="914400" cy="256032"/>
          </a:xfrm>
          <a:prstGeom prst="rect">
            <a:avLst/>
          </a:prstGeom>
          <a:noFill/>
          <a:ln/>
        </p:spPr>
        <p:txBody>
          <a:bodyPr wrap="square" lIns="0" tIns="0" rIns="0" bIns="0" rtlCol="0" anchor="ctr"/>
          <a:lstStyle/>
          <a:p>
            <a:pPr indent="0" marL="0">
              <a:buNone/>
            </a:pPr>
            <a:r>
              <a:rPr lang="en-US" sz="1000" b="1" dirty="0">
                <a:solidFill>
                  <a:srgbClr val="00C2CB"/>
                </a:solidFill>
              </a:rPr>
              <a:t>Purpose:</a:t>
            </a:r>
            <a:endParaRPr lang="en-US" sz="1000" dirty="0"/>
          </a:p>
        </p:txBody>
      </p:sp>
      <p:sp>
        <p:nvSpPr>
          <p:cNvPr id="11" name="Text 9"/>
          <p:cNvSpPr/>
          <p:nvPr/>
        </p:nvSpPr>
        <p:spPr>
          <a:xfrm>
            <a:off x="1188720" y="3163824"/>
            <a:ext cx="4480560" cy="438912"/>
          </a:xfrm>
          <a:prstGeom prst="rect">
            <a:avLst/>
          </a:prstGeom>
          <a:noFill/>
          <a:ln/>
        </p:spPr>
        <p:txBody>
          <a:bodyPr wrap="square" lIns="0" tIns="0" rIns="0" bIns="0" rtlCol="0" anchor="ctr"/>
          <a:lstStyle/>
          <a:p>
            <a:pPr indent="0" marL="0">
              <a:buNone/>
            </a:pPr>
            <a:r>
              <a:rPr lang="en-US" sz="950" dirty="0">
                <a:solidFill>
                  <a:srgbClr val="6A97B0"/>
                </a:solidFill>
                <a:latin typeface="Calibri" pitchFamily="34" charset="0"/>
                <a:ea typeface="Calibri" pitchFamily="34" charset="-122"/>
                <a:cs typeface="Calibri" pitchFamily="34" charset="-120"/>
              </a:rPr>
              <a:t>Demonstrate research depth, curiosity, and architectural understanding for the Daimler Truck Driver Experience / Instrument Cluster role.</a:t>
            </a:r>
            <a:endParaRPr lang="en-US" sz="950" dirty="0"/>
          </a:p>
        </p:txBody>
      </p:sp>
      <p:sp>
        <p:nvSpPr>
          <p:cNvPr id="12" name="Text 10"/>
          <p:cNvSpPr/>
          <p:nvPr/>
        </p:nvSpPr>
        <p:spPr>
          <a:xfrm>
            <a:off x="320040" y="3675888"/>
            <a:ext cx="5303520" cy="256032"/>
          </a:xfrm>
          <a:prstGeom prst="rect">
            <a:avLst/>
          </a:prstGeom>
          <a:noFill/>
          <a:ln/>
        </p:spPr>
        <p:txBody>
          <a:bodyPr wrap="square" lIns="0" tIns="0" rIns="0" bIns="0" rtlCol="0" anchor="ctr"/>
          <a:lstStyle/>
          <a:p>
            <a:pPr indent="0" marL="0">
              <a:buNone/>
            </a:pPr>
            <a:r>
              <a:rPr lang="en-US" sz="850" i="1" dirty="0">
                <a:solidFill>
                  <a:srgbClr val="6A97B0"/>
                </a:solidFill>
                <a:latin typeface="Calibri" pitchFamily="34" charset="0"/>
                <a:ea typeface="Calibri" pitchFamily="34" charset="-122"/>
                <a:cs typeface="Calibri" pitchFamily="34" charset="-120"/>
              </a:rPr>
              <a:t>Primary source: Alistair Cockburn, "Hexagonal Architecture" (2005) — the original paper</a:t>
            </a:r>
            <a:endParaRPr lang="en-US" sz="850" dirty="0"/>
          </a:p>
        </p:txBody>
      </p:sp>
      <p:sp>
        <p:nvSpPr>
          <p:cNvPr id="13" name="Text 11"/>
          <p:cNvSpPr/>
          <p:nvPr/>
        </p:nvSpPr>
        <p:spPr>
          <a:xfrm>
            <a:off x="320040" y="3950208"/>
            <a:ext cx="5303520" cy="256032"/>
          </a:xfrm>
          <a:prstGeom prst="rect">
            <a:avLst/>
          </a:prstGeom>
          <a:noFill/>
          <a:ln/>
        </p:spPr>
        <p:txBody>
          <a:bodyPr wrap="square" lIns="0" tIns="0" rIns="0" bIns="0" rtlCol="0" anchor="ctr"/>
          <a:lstStyle/>
          <a:p>
            <a:pPr indent="0" marL="0">
              <a:buNone/>
            </a:pPr>
            <a:r>
              <a:rPr lang="en-US" sz="850" i="1" dirty="0">
                <a:solidFill>
                  <a:srgbClr val="6A97B0"/>
                </a:solidFill>
                <a:latin typeface="Calibri" pitchFamily="34" charset="0"/>
                <a:ea typeface="Calibri" pitchFamily="34" charset="-122"/>
                <a:cs typeface="Calibri" pitchFamily="34" charset="-120"/>
              </a:rPr>
              <a:t>Audience: Technical / Software Development  |  Shareable with any stakeholder</a:t>
            </a:r>
            <a:endParaRPr lang="en-US" sz="850" dirty="0"/>
          </a:p>
        </p:txBody>
      </p:sp>
      <p:sp>
        <p:nvSpPr>
          <p:cNvPr id="14" name="Text 12"/>
          <p:cNvSpPr/>
          <p:nvPr/>
        </p:nvSpPr>
        <p:spPr>
          <a:xfrm>
            <a:off x="320040" y="4800600"/>
            <a:ext cx="5486400" cy="237744"/>
          </a:xfrm>
          <a:prstGeom prst="rect">
            <a:avLst/>
          </a:prstGeom>
          <a:noFill/>
          <a:ln/>
        </p:spPr>
        <p:txBody>
          <a:bodyPr wrap="square" lIns="0" tIns="0" rIns="0" bIns="0" rtlCol="0" anchor="ctr"/>
          <a:lstStyle/>
          <a:p>
            <a:pPr indent="0" marL="0">
              <a:buNone/>
            </a:pPr>
            <a:r>
              <a:rPr lang="en-US" sz="850" dirty="0">
                <a:solidFill>
                  <a:srgbClr val="3D5A70"/>
                </a:solidFill>
              </a:rPr>
              <a:t>Prepared by Andrew (AJ) Marchese  •  DevOps Engineer II, DTNA</a:t>
            </a:r>
            <a:endParaRPr lang="en-US" sz="850" dirty="0"/>
          </a:p>
        </p:txBody>
      </p:sp>
      <p:sp>
        <p:nvSpPr>
          <p:cNvPr id="15" name="Shape 13"/>
          <p:cNvSpPr/>
          <p:nvPr/>
        </p:nvSpPr>
        <p:spPr>
          <a:xfrm>
            <a:off x="6080760" y="256032"/>
            <a:ext cx="2834640" cy="4645152"/>
          </a:xfrm>
          <a:prstGeom prst="rect">
            <a:avLst/>
          </a:prstGeom>
          <a:solidFill>
            <a:srgbClr val="1E3A52"/>
          </a:solidFill>
          <a:ln/>
          <a:effectLst>
            <a:outerShdw sx="100000" sy="100000" kx="0" ky="0" algn="bl" rotWithShape="0" blurRad="101600" dist="38100" dir="8100000">
              <a:srgbClr val="000000">
                <a:alpha val="28000"/>
              </a:srgbClr>
            </a:outerShdw>
          </a:effectLst>
        </p:spPr>
      </p:sp>
      <p:sp>
        <p:nvSpPr>
          <p:cNvPr id="16" name="Text 14"/>
          <p:cNvSpPr/>
          <p:nvPr/>
        </p:nvSpPr>
        <p:spPr>
          <a:xfrm>
            <a:off x="6080760" y="292608"/>
            <a:ext cx="2834640" cy="292608"/>
          </a:xfrm>
          <a:prstGeom prst="rect">
            <a:avLst/>
          </a:prstGeom>
          <a:noFill/>
          <a:ln/>
        </p:spPr>
        <p:txBody>
          <a:bodyPr wrap="square" lIns="0" tIns="0" rIns="0" bIns="0" rtlCol="0" anchor="ctr"/>
          <a:lstStyle/>
          <a:p>
            <a:pPr algn="ctr" indent="0" marL="0">
              <a:buNone/>
            </a:pPr>
            <a:r>
              <a:rPr lang="en-US" sz="750" b="1" spc="200" kern="0" dirty="0">
                <a:solidFill>
                  <a:srgbClr val="6A97B0"/>
                </a:solidFill>
              </a:rPr>
              <a:t>INFRASTRUCTURE</a:t>
            </a:r>
            <a:endParaRPr lang="en-US" sz="750" dirty="0"/>
          </a:p>
        </p:txBody>
      </p:sp>
      <p:sp>
        <p:nvSpPr>
          <p:cNvPr id="17" name="Text 15"/>
          <p:cNvSpPr/>
          <p:nvPr/>
        </p:nvSpPr>
        <p:spPr>
          <a:xfrm>
            <a:off x="6080760" y="4553712"/>
            <a:ext cx="2834640" cy="292608"/>
          </a:xfrm>
          <a:prstGeom prst="rect">
            <a:avLst/>
          </a:prstGeom>
          <a:noFill/>
          <a:ln/>
        </p:spPr>
        <p:txBody>
          <a:bodyPr wrap="square" lIns="0" tIns="0" rIns="0" bIns="0" rtlCol="0" anchor="ctr"/>
          <a:lstStyle/>
          <a:p>
            <a:pPr algn="ctr" indent="0" marL="0">
              <a:buNone/>
            </a:pPr>
            <a:r>
              <a:rPr lang="en-US" sz="750" b="1" spc="200" kern="0" dirty="0">
                <a:solidFill>
                  <a:srgbClr val="6A97B0"/>
                </a:solidFill>
              </a:rPr>
              <a:t>INFRASTRUCTURE</a:t>
            </a:r>
            <a:endParaRPr lang="en-US" sz="750" dirty="0"/>
          </a:p>
        </p:txBody>
      </p:sp>
      <p:sp>
        <p:nvSpPr>
          <p:cNvPr id="18" name="Shape 16"/>
          <p:cNvSpPr/>
          <p:nvPr/>
        </p:nvSpPr>
        <p:spPr>
          <a:xfrm>
            <a:off x="6419088" y="749808"/>
            <a:ext cx="2176272" cy="3621024"/>
          </a:xfrm>
          <a:prstGeom prst="rect">
            <a:avLst/>
          </a:prstGeom>
          <a:solidFill>
            <a:srgbClr val="122130"/>
          </a:solidFill>
          <a:ln/>
          <a:effectLst>
            <a:outerShdw sx="100000" sy="100000" kx="0" ky="0" algn="bl" rotWithShape="0" blurRad="50800" dist="25400" dir="8100000">
              <a:srgbClr val="000000">
                <a:alpha val="20000"/>
              </a:srgbClr>
            </a:outerShdw>
          </a:effectLst>
        </p:spPr>
      </p:sp>
      <p:sp>
        <p:nvSpPr>
          <p:cNvPr id="19" name="Text 17"/>
          <p:cNvSpPr/>
          <p:nvPr/>
        </p:nvSpPr>
        <p:spPr>
          <a:xfrm>
            <a:off x="6419088" y="786384"/>
            <a:ext cx="2176272" cy="256032"/>
          </a:xfrm>
          <a:prstGeom prst="rect">
            <a:avLst/>
          </a:prstGeom>
          <a:noFill/>
          <a:ln/>
        </p:spPr>
        <p:txBody>
          <a:bodyPr wrap="square" lIns="0" tIns="0" rIns="0" bIns="0" rtlCol="0" anchor="ctr"/>
          <a:lstStyle/>
          <a:p>
            <a:pPr algn="ctr" indent="0" marL="0">
              <a:buNone/>
            </a:pPr>
            <a:r>
              <a:rPr lang="en-US" sz="750" b="1" spc="200" kern="0" dirty="0">
                <a:solidFill>
                  <a:srgbClr val="00C2CB"/>
                </a:solidFill>
              </a:rPr>
              <a:t>PORTS</a:t>
            </a:r>
            <a:endParaRPr lang="en-US" sz="750" dirty="0"/>
          </a:p>
        </p:txBody>
      </p:sp>
      <p:sp>
        <p:nvSpPr>
          <p:cNvPr id="20" name="Text 18"/>
          <p:cNvSpPr/>
          <p:nvPr/>
        </p:nvSpPr>
        <p:spPr>
          <a:xfrm>
            <a:off x="6419088" y="4114800"/>
            <a:ext cx="2176272" cy="256032"/>
          </a:xfrm>
          <a:prstGeom prst="rect">
            <a:avLst/>
          </a:prstGeom>
          <a:noFill/>
          <a:ln/>
        </p:spPr>
        <p:txBody>
          <a:bodyPr wrap="square" lIns="0" tIns="0" rIns="0" bIns="0" rtlCol="0" anchor="ctr"/>
          <a:lstStyle/>
          <a:p>
            <a:pPr algn="ctr" indent="0" marL="0">
              <a:buNone/>
            </a:pPr>
            <a:r>
              <a:rPr lang="en-US" sz="750" b="1" spc="200" kern="0" dirty="0">
                <a:solidFill>
                  <a:srgbClr val="00C2CB"/>
                </a:solidFill>
              </a:rPr>
              <a:t>PORTS</a:t>
            </a:r>
            <a:endParaRPr lang="en-US" sz="750" dirty="0"/>
          </a:p>
        </p:txBody>
      </p:sp>
      <p:sp>
        <p:nvSpPr>
          <p:cNvPr id="21" name="Shape 19"/>
          <p:cNvSpPr/>
          <p:nvPr/>
        </p:nvSpPr>
        <p:spPr>
          <a:xfrm>
            <a:off x="6748272" y="1261872"/>
            <a:ext cx="1517904" cy="2596896"/>
          </a:xfrm>
          <a:prstGeom prst="rect">
            <a:avLst/>
          </a:prstGeom>
          <a:solidFill>
            <a:srgbClr val="0B1929"/>
          </a:solidFill>
          <a:ln/>
          <a:effectLst>
            <a:outerShdw sx="100000" sy="100000" kx="0" ky="0" algn="bl" rotWithShape="0" blurRad="50800" dist="25400" dir="8100000">
              <a:srgbClr val="000000">
                <a:alpha val="20000"/>
              </a:srgbClr>
            </a:outerShdw>
          </a:effectLst>
        </p:spPr>
      </p:sp>
      <p:sp>
        <p:nvSpPr>
          <p:cNvPr id="22" name="Text 20"/>
          <p:cNvSpPr/>
          <p:nvPr/>
        </p:nvSpPr>
        <p:spPr>
          <a:xfrm>
            <a:off x="6748272" y="1353312"/>
            <a:ext cx="1517904" cy="2414016"/>
          </a:xfrm>
          <a:prstGeom prst="rect">
            <a:avLst/>
          </a:prstGeom>
          <a:noFill/>
          <a:ln/>
        </p:spPr>
        <p:txBody>
          <a:bodyPr wrap="square" lIns="0" tIns="0" rIns="0" bIns="0" rtlCol="0" anchor="ctr"/>
          <a:lstStyle/>
          <a:p>
            <a:pPr algn="ctr" indent="0" marL="0">
              <a:buNone/>
            </a:pPr>
            <a:r>
              <a:rPr lang="en-US" sz="1000" b="1" dirty="0">
                <a:solidFill>
                  <a:srgbClr val="00C2CB"/>
                </a:solidFill>
              </a:rPr>
              <a:t>DOMAIN</a:t>
            </a:r>
            <a:endParaRPr lang="en-US" sz="1000" dirty="0"/>
          </a:p>
          <a:p>
            <a:pPr algn="ctr" indent="0" marL="0">
              <a:buNone/>
            </a:pPr>
            <a:r>
              <a:rPr lang="en-US" sz="1000" b="1" dirty="0">
                <a:solidFill>
                  <a:srgbClr val="00C2CB"/>
                </a:solidFill>
              </a:rPr>
              <a:t>Logic</a:t>
            </a:r>
            <a:endParaRPr lang="en-US" sz="1000" dirty="0"/>
          </a:p>
          <a:p>
            <a:pPr algn="ctr" indent="0" marL="0">
              <a:buNone/>
            </a:pPr>
            <a:r>
              <a:rPr lang="en-US" sz="1000" b="1" dirty="0">
                <a:solidFill>
                  <a:srgbClr val="00C2CB"/>
                </a:solidFill>
              </a:rPr>
              <a:t>&amp;</a:t>
            </a:r>
            <a:endParaRPr lang="en-US" sz="1000" dirty="0"/>
          </a:p>
          <a:p>
            <a:pPr algn="ctr" indent="0" marL="0">
              <a:buNone/>
            </a:pPr>
            <a:r>
              <a:rPr lang="en-US" sz="1000" b="1" dirty="0">
                <a:solidFill>
                  <a:srgbClr val="00C2CB"/>
                </a:solidFill>
              </a:rPr>
              <a:t>Entities</a:t>
            </a:r>
            <a:endParaRPr lang="en-US" sz="1000" dirty="0"/>
          </a:p>
        </p:txBody>
      </p:sp>
      <p:sp>
        <p:nvSpPr>
          <p:cNvPr id="23" name="Shape 21"/>
          <p:cNvSpPr/>
          <p:nvPr/>
        </p:nvSpPr>
        <p:spPr>
          <a:xfrm>
            <a:off x="6144768" y="1261872"/>
            <a:ext cx="530352" cy="731520"/>
          </a:xfrm>
          <a:prstGeom prst="rect">
            <a:avLst/>
          </a:prstGeom>
          <a:solidFill>
            <a:srgbClr val="FF6B35"/>
          </a:solidFill>
          <a:ln/>
          <a:effectLst>
            <a:outerShdw sx="100000" sy="100000" kx="0" ky="0" algn="bl" rotWithShape="0" blurRad="50800" dist="25400" dir="8100000">
              <a:srgbClr val="000000">
                <a:alpha val="20000"/>
              </a:srgbClr>
            </a:outerShdw>
          </a:effectLst>
        </p:spPr>
      </p:sp>
      <p:sp>
        <p:nvSpPr>
          <p:cNvPr id="24" name="Text 22"/>
          <p:cNvSpPr/>
          <p:nvPr/>
        </p:nvSpPr>
        <p:spPr>
          <a:xfrm>
            <a:off x="6144768" y="1261872"/>
            <a:ext cx="530352" cy="731520"/>
          </a:xfrm>
          <a:prstGeom prst="rect">
            <a:avLst/>
          </a:prstGeom>
          <a:noFill/>
          <a:ln/>
        </p:spPr>
        <p:txBody>
          <a:bodyPr wrap="square" lIns="0" tIns="0" rIns="0" bIns="0" rtlCol="0" anchor="ctr"/>
          <a:lstStyle/>
          <a:p>
            <a:pPr algn="ctr" indent="0" marL="0">
              <a:buNone/>
            </a:pPr>
            <a:r>
              <a:rPr lang="en-US" sz="700" b="1" dirty="0">
                <a:solidFill>
                  <a:srgbClr val="0B1929"/>
                </a:solidFill>
              </a:rPr>
              <a:t>HMI</a:t>
            </a:r>
            <a:endParaRPr lang="en-US" sz="700" dirty="0"/>
          </a:p>
          <a:p>
            <a:pPr algn="ctr" indent="0" marL="0">
              <a:buNone/>
            </a:pPr>
            <a:r>
              <a:rPr lang="en-US" sz="700" b="1" dirty="0">
                <a:solidFill>
                  <a:srgbClr val="0B1929"/>
                </a:solidFill>
              </a:rPr>
              <a:t>Adapter</a:t>
            </a:r>
            <a:endParaRPr lang="en-US" sz="700" dirty="0"/>
          </a:p>
        </p:txBody>
      </p:sp>
      <p:sp>
        <p:nvSpPr>
          <p:cNvPr id="25" name="Shape 23"/>
          <p:cNvSpPr/>
          <p:nvPr/>
        </p:nvSpPr>
        <p:spPr>
          <a:xfrm>
            <a:off x="6144768" y="2578608"/>
            <a:ext cx="530352" cy="731520"/>
          </a:xfrm>
          <a:prstGeom prst="rect">
            <a:avLst/>
          </a:prstGeom>
          <a:solidFill>
            <a:srgbClr val="FF6B35"/>
          </a:solidFill>
          <a:ln/>
          <a:effectLst>
            <a:outerShdw sx="100000" sy="100000" kx="0" ky="0" algn="bl" rotWithShape="0" blurRad="50800" dist="25400" dir="8100000">
              <a:srgbClr val="000000">
                <a:alpha val="20000"/>
              </a:srgbClr>
            </a:outerShdw>
          </a:effectLst>
        </p:spPr>
      </p:sp>
      <p:sp>
        <p:nvSpPr>
          <p:cNvPr id="26" name="Text 24"/>
          <p:cNvSpPr/>
          <p:nvPr/>
        </p:nvSpPr>
        <p:spPr>
          <a:xfrm>
            <a:off x="6144768" y="2578608"/>
            <a:ext cx="530352" cy="731520"/>
          </a:xfrm>
          <a:prstGeom prst="rect">
            <a:avLst/>
          </a:prstGeom>
          <a:noFill/>
          <a:ln/>
        </p:spPr>
        <p:txBody>
          <a:bodyPr wrap="square" lIns="0" tIns="0" rIns="0" bIns="0" rtlCol="0" anchor="ctr"/>
          <a:lstStyle/>
          <a:p>
            <a:pPr algn="ctr" indent="0" marL="0">
              <a:buNone/>
            </a:pPr>
            <a:r>
              <a:rPr lang="en-US" sz="700" b="1" dirty="0">
                <a:solidFill>
                  <a:srgbClr val="0B1929"/>
                </a:solidFill>
              </a:rPr>
              <a:t>CAN</a:t>
            </a:r>
            <a:endParaRPr lang="en-US" sz="700" dirty="0"/>
          </a:p>
          <a:p>
            <a:pPr algn="ctr" indent="0" marL="0">
              <a:buNone/>
            </a:pPr>
            <a:r>
              <a:rPr lang="en-US" sz="700" b="1" dirty="0">
                <a:solidFill>
                  <a:srgbClr val="0B1929"/>
                </a:solidFill>
              </a:rPr>
              <a:t>Adapter</a:t>
            </a:r>
            <a:endParaRPr lang="en-US" sz="700" dirty="0"/>
          </a:p>
        </p:txBody>
      </p:sp>
      <p:sp>
        <p:nvSpPr>
          <p:cNvPr id="27" name="Shape 25"/>
          <p:cNvSpPr/>
          <p:nvPr/>
        </p:nvSpPr>
        <p:spPr>
          <a:xfrm>
            <a:off x="8065008" y="1261872"/>
            <a:ext cx="530352" cy="731520"/>
          </a:xfrm>
          <a:prstGeom prst="rect">
            <a:avLst/>
          </a:prstGeom>
          <a:solidFill>
            <a:srgbClr val="2ECC71"/>
          </a:solidFill>
          <a:ln/>
          <a:effectLst>
            <a:outerShdw sx="100000" sy="100000" kx="0" ky="0" algn="bl" rotWithShape="0" blurRad="50800" dist="25400" dir="8100000">
              <a:srgbClr val="000000">
                <a:alpha val="20000"/>
              </a:srgbClr>
            </a:outerShdw>
          </a:effectLst>
        </p:spPr>
      </p:sp>
      <p:sp>
        <p:nvSpPr>
          <p:cNvPr id="28" name="Text 26"/>
          <p:cNvSpPr/>
          <p:nvPr/>
        </p:nvSpPr>
        <p:spPr>
          <a:xfrm>
            <a:off x="8065008" y="1261872"/>
            <a:ext cx="530352" cy="731520"/>
          </a:xfrm>
          <a:prstGeom prst="rect">
            <a:avLst/>
          </a:prstGeom>
          <a:noFill/>
          <a:ln/>
        </p:spPr>
        <p:txBody>
          <a:bodyPr wrap="square" lIns="0" tIns="0" rIns="0" bIns="0" rtlCol="0" anchor="ctr"/>
          <a:lstStyle/>
          <a:p>
            <a:pPr algn="ctr" indent="0" marL="0">
              <a:buNone/>
            </a:pPr>
            <a:r>
              <a:rPr lang="en-US" sz="700" b="1" dirty="0">
                <a:solidFill>
                  <a:srgbClr val="0B1929"/>
                </a:solidFill>
              </a:rPr>
              <a:t>DB</a:t>
            </a:r>
            <a:endParaRPr lang="en-US" sz="700" dirty="0"/>
          </a:p>
          <a:p>
            <a:pPr algn="ctr" indent="0" marL="0">
              <a:buNone/>
            </a:pPr>
            <a:r>
              <a:rPr lang="en-US" sz="700" b="1" dirty="0">
                <a:solidFill>
                  <a:srgbClr val="0B1929"/>
                </a:solidFill>
              </a:rPr>
              <a:t>Adapter</a:t>
            </a:r>
            <a:endParaRPr lang="en-US" sz="700" dirty="0"/>
          </a:p>
        </p:txBody>
      </p:sp>
      <p:sp>
        <p:nvSpPr>
          <p:cNvPr id="29" name="Shape 27"/>
          <p:cNvSpPr/>
          <p:nvPr/>
        </p:nvSpPr>
        <p:spPr>
          <a:xfrm>
            <a:off x="8065008" y="2578608"/>
            <a:ext cx="530352" cy="731520"/>
          </a:xfrm>
          <a:prstGeom prst="rect">
            <a:avLst/>
          </a:prstGeom>
          <a:solidFill>
            <a:srgbClr val="2ECC71"/>
          </a:solidFill>
          <a:ln/>
          <a:effectLst>
            <a:outerShdw sx="100000" sy="100000" kx="0" ky="0" algn="bl" rotWithShape="0" blurRad="50800" dist="25400" dir="8100000">
              <a:srgbClr val="000000">
                <a:alpha val="20000"/>
              </a:srgbClr>
            </a:outerShdw>
          </a:effectLst>
        </p:spPr>
      </p:sp>
      <p:sp>
        <p:nvSpPr>
          <p:cNvPr id="30" name="Text 28"/>
          <p:cNvSpPr/>
          <p:nvPr/>
        </p:nvSpPr>
        <p:spPr>
          <a:xfrm>
            <a:off x="8065008" y="2578608"/>
            <a:ext cx="530352" cy="731520"/>
          </a:xfrm>
          <a:prstGeom prst="rect">
            <a:avLst/>
          </a:prstGeom>
          <a:noFill/>
          <a:ln/>
        </p:spPr>
        <p:txBody>
          <a:bodyPr wrap="square" lIns="0" tIns="0" rIns="0" bIns="0" rtlCol="0" anchor="ctr"/>
          <a:lstStyle/>
          <a:p>
            <a:pPr algn="ctr" indent="0" marL="0">
              <a:buNone/>
            </a:pPr>
            <a:r>
              <a:rPr lang="en-US" sz="700" b="1" dirty="0">
                <a:solidFill>
                  <a:srgbClr val="0B1929"/>
                </a:solidFill>
              </a:rPr>
              <a:t>Mock</a:t>
            </a:r>
            <a:endParaRPr lang="en-US" sz="700" dirty="0"/>
          </a:p>
          <a:p>
            <a:pPr algn="ctr" indent="0" marL="0">
              <a:buNone/>
            </a:pPr>
            <a:r>
              <a:rPr lang="en-US" sz="700" b="1" dirty="0">
                <a:solidFill>
                  <a:srgbClr val="0B1929"/>
                </a:solidFill>
              </a:rPr>
              <a:t>Adapter</a:t>
            </a:r>
            <a:endParaRPr lang="en-US" sz="700" dirty="0"/>
          </a:p>
        </p:txBody>
      </p:sp>
      <p:sp>
        <p:nvSpPr>
          <p:cNvPr id="200" name="References"/>
          <p:cNvSpPr/>
          <p:nvPr/>
        </p:nvSpPr>
        <p:spPr>
          <a:xfrm>
            <a:off x="274320" y="4780000"/>
            <a:ext cx="8595360" cy="320000"/>
          </a:xfrm>
          <a:prstGeom prst="rect">
            <a:avLst/>
          </a:prstGeom>
          <a:noFill/>
          <a:ln/>
        </p:spPr>
        <p:txBody>
          <a:bodyPr wrap="square" lIns="0" tIns="0" rIns="0" bIns="0" rtlCol="0" anchor="ctr"/>
          <a:lstStyle/>
          <a:p>
            <a:pPr indent="0" marL="0">
              <a:buNone/>
            </a:pPr>
            <a:r>
              <a:rPr lang="en-US" sz="650" dirty="0">
                <a:solidFill>
                  <a:srgbClr val="4A7A8A"/>
                </a:solidFill>
              </a:rPr>
              <a:t xml:space="preserve">References: </a:t>
            </a:r>
            <a:r>
              <a:rPr lang="en-US" sz="650" dirty="0">
                <a:solidFill>
                  <a:srgbClr val="00C2CB"/>
                </a:solidFill>
                <a:hlinkClick r:id="rId3"/>
              </a:rPr>
              <a:t xml:space="preserve">Cockburn (2005)  </a:t>
            </a:r>
            <a:r>
              <a:rPr lang="en-US" sz="650" dirty="0">
                <a:solidFill>
                  <a:srgbClr val="4A7A8A"/>
                </a:solidFill>
              </a:rPr>
              <a:t xml:space="preserve">·  </a:t>
            </a:r>
            <a:r>
              <a:rPr lang="en-US" sz="650" dirty="0">
                <a:solidFill>
                  <a:srgbClr val="00C2CB"/>
                </a:solidFill>
                <a:hlinkClick r:id="rId4"/>
              </a:rPr>
              <a:t xml:space="preserve">HappyCoders Guide (Woltmann)  </a:t>
            </a:r>
            <a:r>
              <a:rPr lang="en-US" sz="650" dirty="0">
                <a:solidFill>
                  <a:srgbClr val="4A7A8A"/>
                </a:solidFill>
              </a:rPr>
              <a:t xml:space="preserve">·  </a:t>
            </a:r>
            <a:r>
              <a:rPr lang="en-US" sz="650" dirty="0">
                <a:solidFill>
                  <a:srgbClr val="00C2CB"/>
                </a:solidFill>
                <a:hlinkClick r:id="rId5"/>
              </a:rPr>
              <a:t>github.com/AndrewJesse/HexagonalArchitecture (Golden Path)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263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929"/>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2000" b="1" dirty="0">
                <a:solidFill>
                  <a:srgbClr val="00C2CB"/>
                </a:solidFill>
                <a:latin typeface="Trebuchet MS" pitchFamily="34" charset="0"/>
                <a:ea typeface="Trebuchet MS" pitchFamily="34" charset="-122"/>
                <a:cs typeface="Trebuchet MS" pitchFamily="34" charset="-120"/>
              </a:rPr>
              <a:t>What This Presentation Covers</a:t>
            </a:r>
            <a:endParaRPr lang="en-US" sz="2000" dirty="0"/>
          </a:p>
        </p:txBody>
      </p:sp>
      <p:sp>
        <p:nvSpPr>
          <p:cNvPr id="4" name="Shape 2"/>
          <p:cNvSpPr/>
          <p:nvPr/>
        </p:nvSpPr>
        <p:spPr>
          <a:xfrm>
            <a:off x="320040" y="822960"/>
            <a:ext cx="4206240" cy="1188720"/>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5" name="Shape 3"/>
          <p:cNvSpPr/>
          <p:nvPr/>
        </p:nvSpPr>
        <p:spPr>
          <a:xfrm>
            <a:off x="320040" y="822960"/>
            <a:ext cx="475488" cy="1188720"/>
          </a:xfrm>
          <a:prstGeom prst="rect">
            <a:avLst/>
          </a:prstGeom>
          <a:solidFill>
            <a:srgbClr val="00C2CB"/>
          </a:solidFill>
          <a:ln/>
        </p:spPr>
      </p:sp>
      <p:sp>
        <p:nvSpPr>
          <p:cNvPr id="6" name="Text 4"/>
          <p:cNvSpPr/>
          <p:nvPr/>
        </p:nvSpPr>
        <p:spPr>
          <a:xfrm>
            <a:off x="320040" y="822960"/>
            <a:ext cx="475488" cy="1188720"/>
          </a:xfrm>
          <a:prstGeom prst="rect">
            <a:avLst/>
          </a:prstGeom>
          <a:noFill/>
          <a:ln/>
        </p:spPr>
        <p:txBody>
          <a:bodyPr wrap="square" lIns="0" tIns="0" rIns="0" bIns="0" rtlCol="0" anchor="ctr"/>
          <a:lstStyle/>
          <a:p>
            <a:pPr algn="ctr" indent="0" marL="0">
              <a:buNone/>
            </a:pPr>
            <a:r>
              <a:rPr lang="en-US" sz="1400" b="1" dirty="0">
                <a:solidFill>
                  <a:srgbClr val="0B1929"/>
                </a:solidFill>
              </a:rPr>
              <a:t>01</a:t>
            </a:r>
            <a:endParaRPr lang="en-US" sz="1400" dirty="0"/>
          </a:p>
        </p:txBody>
      </p:sp>
      <p:sp>
        <p:nvSpPr>
          <p:cNvPr id="7" name="Text 5"/>
          <p:cNvSpPr/>
          <p:nvPr/>
        </p:nvSpPr>
        <p:spPr>
          <a:xfrm>
            <a:off x="886968" y="914400"/>
            <a:ext cx="3520440" cy="347472"/>
          </a:xfrm>
          <a:prstGeom prst="rect">
            <a:avLst/>
          </a:prstGeom>
          <a:noFill/>
          <a:ln/>
        </p:spPr>
        <p:txBody>
          <a:bodyPr wrap="square" lIns="0" tIns="0" rIns="0" bIns="0" rtlCol="0" anchor="ctr"/>
          <a:lstStyle/>
          <a:p>
            <a:pPr indent="0" marL="0">
              <a:buNone/>
            </a:pPr>
            <a:r>
              <a:rPr lang="en-US" sz="1150" b="1" dirty="0">
                <a:solidFill>
                  <a:srgbClr val="EDF4F8"/>
                </a:solidFill>
                <a:latin typeface="Trebuchet MS" pitchFamily="34" charset="0"/>
                <a:ea typeface="Trebuchet MS" pitchFamily="34" charset="-122"/>
                <a:cs typeface="Trebuchet MS" pitchFamily="34" charset="-120"/>
              </a:rPr>
              <a:t>Origins &amp; The Inside-Outside Insight</a:t>
            </a:r>
            <a:endParaRPr lang="en-US" sz="1150" dirty="0"/>
          </a:p>
        </p:txBody>
      </p:sp>
      <p:sp>
        <p:nvSpPr>
          <p:cNvPr id="8" name="Text 6"/>
          <p:cNvSpPr/>
          <p:nvPr/>
        </p:nvSpPr>
        <p:spPr>
          <a:xfrm>
            <a:off x="886968" y="1243584"/>
            <a:ext cx="3520440" cy="676656"/>
          </a:xfrm>
          <a:prstGeom prst="rect">
            <a:avLst/>
          </a:prstGeom>
          <a:noFill/>
          <a:ln/>
        </p:spPr>
        <p:txBody>
          <a:bodyPr wrap="square" lIns="0" tIns="0" rIns="0" bIns="0" rtlCol="0" anchor="ctr"/>
          <a:lstStyle/>
          <a:p>
            <a:pPr indent="0" marL="0">
              <a:buNone/>
            </a:pPr>
            <a:r>
              <a:rPr lang="en-US" sz="850" dirty="0">
                <a:solidFill>
                  <a:srgbClr val="6A97B0"/>
                </a:solidFill>
                <a:latin typeface="Calibri" pitchFamily="34" charset="0"/>
                <a:ea typeface="Calibri" pitchFamily="34" charset="-122"/>
                <a:cs typeface="Calibri" pitchFamily="34" charset="-120"/>
              </a:rPr>
              <a:t>Cockburn's original 2005 paper — the real problem, the symmetry, and why the hex shape was chosen.</a:t>
            </a:r>
            <a:endParaRPr lang="en-US" sz="850" dirty="0"/>
          </a:p>
        </p:txBody>
      </p:sp>
      <p:sp>
        <p:nvSpPr>
          <p:cNvPr id="9" name="Shape 7"/>
          <p:cNvSpPr/>
          <p:nvPr/>
        </p:nvSpPr>
        <p:spPr>
          <a:xfrm>
            <a:off x="320040" y="2176272"/>
            <a:ext cx="4206240" cy="1188720"/>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10" name="Shape 8"/>
          <p:cNvSpPr/>
          <p:nvPr/>
        </p:nvSpPr>
        <p:spPr>
          <a:xfrm>
            <a:off x="320040" y="2176272"/>
            <a:ext cx="475488" cy="1188720"/>
          </a:xfrm>
          <a:prstGeom prst="rect">
            <a:avLst/>
          </a:prstGeom>
          <a:solidFill>
            <a:srgbClr val="00C2CB"/>
          </a:solidFill>
          <a:ln/>
        </p:spPr>
      </p:sp>
      <p:sp>
        <p:nvSpPr>
          <p:cNvPr id="11" name="Text 9"/>
          <p:cNvSpPr/>
          <p:nvPr/>
        </p:nvSpPr>
        <p:spPr>
          <a:xfrm>
            <a:off x="320040" y="2176272"/>
            <a:ext cx="475488" cy="1188720"/>
          </a:xfrm>
          <a:prstGeom prst="rect">
            <a:avLst/>
          </a:prstGeom>
          <a:noFill/>
          <a:ln/>
        </p:spPr>
        <p:txBody>
          <a:bodyPr wrap="square" lIns="0" tIns="0" rIns="0" bIns="0" rtlCol="0" anchor="ctr"/>
          <a:lstStyle/>
          <a:p>
            <a:pPr algn="ctr" indent="0" marL="0">
              <a:buNone/>
            </a:pPr>
            <a:r>
              <a:rPr lang="en-US" sz="1400" b="1" dirty="0">
                <a:solidFill>
                  <a:srgbClr val="0B1929"/>
                </a:solidFill>
              </a:rPr>
              <a:t>02</a:t>
            </a:r>
            <a:endParaRPr lang="en-US" sz="1400" dirty="0"/>
          </a:p>
        </p:txBody>
      </p:sp>
      <p:sp>
        <p:nvSpPr>
          <p:cNvPr id="12" name="Text 10"/>
          <p:cNvSpPr/>
          <p:nvPr/>
        </p:nvSpPr>
        <p:spPr>
          <a:xfrm>
            <a:off x="886968" y="2267712"/>
            <a:ext cx="3520440" cy="347472"/>
          </a:xfrm>
          <a:prstGeom prst="rect">
            <a:avLst/>
          </a:prstGeom>
          <a:noFill/>
          <a:ln/>
        </p:spPr>
        <p:txBody>
          <a:bodyPr wrap="square" lIns="0" tIns="0" rIns="0" bIns="0" rtlCol="0" anchor="ctr"/>
          <a:lstStyle/>
          <a:p>
            <a:pPr indent="0" marL="0">
              <a:buNone/>
            </a:pPr>
            <a:r>
              <a:rPr lang="en-US" sz="1150" b="1" dirty="0">
                <a:solidFill>
                  <a:srgbClr val="EDF4F8"/>
                </a:solidFill>
                <a:latin typeface="Trebuchet MS" pitchFamily="34" charset="0"/>
                <a:ea typeface="Trebuchet MS" pitchFamily="34" charset="-122"/>
                <a:cs typeface="Trebuchet MS" pitchFamily="34" charset="-120"/>
              </a:rPr>
              <a:t>The Hexagonal Model Explained</a:t>
            </a:r>
            <a:endParaRPr lang="en-US" sz="1150" dirty="0"/>
          </a:p>
        </p:txBody>
      </p:sp>
      <p:sp>
        <p:nvSpPr>
          <p:cNvPr id="13" name="Text 11"/>
          <p:cNvSpPr/>
          <p:nvPr/>
        </p:nvSpPr>
        <p:spPr>
          <a:xfrm>
            <a:off x="886968" y="2596896"/>
            <a:ext cx="3520440" cy="676656"/>
          </a:xfrm>
          <a:prstGeom prst="rect">
            <a:avLst/>
          </a:prstGeom>
          <a:noFill/>
          <a:ln/>
        </p:spPr>
        <p:txBody>
          <a:bodyPr wrap="square" lIns="0" tIns="0" rIns="0" bIns="0" rtlCol="0" anchor="ctr"/>
          <a:lstStyle/>
          <a:p>
            <a:pPr indent="0" marL="0">
              <a:buNone/>
            </a:pPr>
            <a:r>
              <a:rPr lang="en-US" sz="850" dirty="0">
                <a:solidFill>
                  <a:srgbClr val="6A97B0"/>
                </a:solidFill>
                <a:latin typeface="Calibri" pitchFamily="34" charset="0"/>
                <a:ea typeface="Calibri" pitchFamily="34" charset="-122"/>
                <a:cs typeface="Calibri" pitchFamily="34" charset="-120"/>
              </a:rPr>
              <a:t>Domain, ports, adapters — primary vs. secondary sides, and the dependency rule that makes it work.</a:t>
            </a:r>
            <a:endParaRPr lang="en-US" sz="850" dirty="0"/>
          </a:p>
        </p:txBody>
      </p:sp>
      <p:sp>
        <p:nvSpPr>
          <p:cNvPr id="14" name="Shape 12"/>
          <p:cNvSpPr/>
          <p:nvPr/>
        </p:nvSpPr>
        <p:spPr>
          <a:xfrm>
            <a:off x="320040" y="3529584"/>
            <a:ext cx="4206240" cy="1188720"/>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15" name="Shape 13"/>
          <p:cNvSpPr/>
          <p:nvPr/>
        </p:nvSpPr>
        <p:spPr>
          <a:xfrm>
            <a:off x="320040" y="3529584"/>
            <a:ext cx="475488" cy="1188720"/>
          </a:xfrm>
          <a:prstGeom prst="rect">
            <a:avLst/>
          </a:prstGeom>
          <a:solidFill>
            <a:srgbClr val="2ECC71"/>
          </a:solidFill>
          <a:ln/>
        </p:spPr>
      </p:sp>
      <p:sp>
        <p:nvSpPr>
          <p:cNvPr id="16" name="Text 14"/>
          <p:cNvSpPr/>
          <p:nvPr/>
        </p:nvSpPr>
        <p:spPr>
          <a:xfrm>
            <a:off x="320040" y="3529584"/>
            <a:ext cx="475488" cy="1188720"/>
          </a:xfrm>
          <a:prstGeom prst="rect">
            <a:avLst/>
          </a:prstGeom>
          <a:noFill/>
          <a:ln/>
        </p:spPr>
        <p:txBody>
          <a:bodyPr wrap="square" lIns="0" tIns="0" rIns="0" bIns="0" rtlCol="0" anchor="ctr"/>
          <a:lstStyle/>
          <a:p>
            <a:pPr algn="ctr" indent="0" marL="0">
              <a:buNone/>
            </a:pPr>
            <a:r>
              <a:rPr lang="en-US" sz="1400" b="1" dirty="0">
                <a:solidFill>
                  <a:srgbClr val="0B1929"/>
                </a:solidFill>
              </a:rPr>
              <a:t>03</a:t>
            </a:r>
            <a:endParaRPr lang="en-US" sz="1400" dirty="0"/>
          </a:p>
        </p:txBody>
      </p:sp>
      <p:sp>
        <p:nvSpPr>
          <p:cNvPr id="17" name="Text 15"/>
          <p:cNvSpPr/>
          <p:nvPr/>
        </p:nvSpPr>
        <p:spPr>
          <a:xfrm>
            <a:off x="886968" y="3621024"/>
            <a:ext cx="3520440" cy="347472"/>
          </a:xfrm>
          <a:prstGeom prst="rect">
            <a:avLst/>
          </a:prstGeom>
          <a:noFill/>
          <a:ln/>
        </p:spPr>
        <p:txBody>
          <a:bodyPr wrap="square" lIns="0" tIns="0" rIns="0" bIns="0" rtlCol="0" anchor="ctr"/>
          <a:lstStyle/>
          <a:p>
            <a:pPr indent="0" marL="0">
              <a:buNone/>
            </a:pPr>
            <a:r>
              <a:rPr lang="en-US" sz="1150" b="1" dirty="0">
                <a:solidFill>
                  <a:srgbClr val="EDF4F8"/>
                </a:solidFill>
                <a:latin typeface="Trebuchet MS" pitchFamily="34" charset="0"/>
                <a:ea typeface="Trebuchet MS" pitchFamily="34" charset="-122"/>
                <a:cs typeface="Trebuchet MS" pitchFamily="34" charset="-120"/>
              </a:rPr>
              <a:t>Debug · Test · Extend</a:t>
            </a:r>
            <a:endParaRPr lang="en-US" sz="1150" dirty="0"/>
          </a:p>
        </p:txBody>
      </p:sp>
      <p:sp>
        <p:nvSpPr>
          <p:cNvPr id="18" name="Text 16"/>
          <p:cNvSpPr/>
          <p:nvPr/>
        </p:nvSpPr>
        <p:spPr>
          <a:xfrm>
            <a:off x="886968" y="3950208"/>
            <a:ext cx="3520440" cy="676656"/>
          </a:xfrm>
          <a:prstGeom prst="rect">
            <a:avLst/>
          </a:prstGeom>
          <a:noFill/>
          <a:ln/>
        </p:spPr>
        <p:txBody>
          <a:bodyPr wrap="square" lIns="0" tIns="0" rIns="0" bIns="0" rtlCol="0" anchor="ctr"/>
          <a:lstStyle/>
          <a:p>
            <a:pPr indent="0" marL="0">
              <a:buNone/>
            </a:pPr>
            <a:r>
              <a:rPr lang="en-US" sz="850" dirty="0">
                <a:solidFill>
                  <a:srgbClr val="6A97B0"/>
                </a:solidFill>
                <a:latin typeface="Calibri" pitchFamily="34" charset="0"/>
                <a:ea typeface="Calibri" pitchFamily="34" charset="-122"/>
                <a:cs typeface="Calibri" pitchFamily="34" charset="-120"/>
              </a:rPr>
              <a:t>HMI-specific benefits: defect isolation, hardware-free unit tests, and safe protocol extension.</a:t>
            </a:r>
            <a:endParaRPr lang="en-US" sz="850" dirty="0"/>
          </a:p>
        </p:txBody>
      </p:sp>
      <p:sp>
        <p:nvSpPr>
          <p:cNvPr id="19" name="Shape 17"/>
          <p:cNvSpPr/>
          <p:nvPr/>
        </p:nvSpPr>
        <p:spPr>
          <a:xfrm>
            <a:off x="4892040" y="822960"/>
            <a:ext cx="4206240" cy="1188720"/>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20" name="Shape 18"/>
          <p:cNvSpPr/>
          <p:nvPr/>
        </p:nvSpPr>
        <p:spPr>
          <a:xfrm>
            <a:off x="4892040" y="822960"/>
            <a:ext cx="475488" cy="1188720"/>
          </a:xfrm>
          <a:prstGeom prst="rect">
            <a:avLst/>
          </a:prstGeom>
          <a:solidFill>
            <a:srgbClr val="FF6B35"/>
          </a:solidFill>
          <a:ln/>
        </p:spPr>
      </p:sp>
      <p:sp>
        <p:nvSpPr>
          <p:cNvPr id="21" name="Text 19"/>
          <p:cNvSpPr/>
          <p:nvPr/>
        </p:nvSpPr>
        <p:spPr>
          <a:xfrm>
            <a:off x="4892040" y="822960"/>
            <a:ext cx="475488" cy="1188720"/>
          </a:xfrm>
          <a:prstGeom prst="rect">
            <a:avLst/>
          </a:prstGeom>
          <a:noFill/>
          <a:ln/>
        </p:spPr>
        <p:txBody>
          <a:bodyPr wrap="square" lIns="0" tIns="0" rIns="0" bIns="0" rtlCol="0" anchor="ctr"/>
          <a:lstStyle/>
          <a:p>
            <a:pPr algn="ctr" indent="0" marL="0">
              <a:buNone/>
            </a:pPr>
            <a:r>
              <a:rPr lang="en-US" sz="1400" b="1" dirty="0">
                <a:solidFill>
                  <a:srgbClr val="0B1929"/>
                </a:solidFill>
              </a:rPr>
              <a:t>04</a:t>
            </a:r>
            <a:endParaRPr lang="en-US" sz="1400" dirty="0"/>
          </a:p>
        </p:txBody>
      </p:sp>
      <p:sp>
        <p:nvSpPr>
          <p:cNvPr id="22" name="Text 20"/>
          <p:cNvSpPr/>
          <p:nvPr/>
        </p:nvSpPr>
        <p:spPr>
          <a:xfrm>
            <a:off x="5458968" y="914400"/>
            <a:ext cx="3520440" cy="347472"/>
          </a:xfrm>
          <a:prstGeom prst="rect">
            <a:avLst/>
          </a:prstGeom>
          <a:noFill/>
          <a:ln/>
        </p:spPr>
        <p:txBody>
          <a:bodyPr wrap="square" lIns="0" tIns="0" rIns="0" bIns="0" rtlCol="0" anchor="ctr"/>
          <a:lstStyle/>
          <a:p>
            <a:pPr indent="0" marL="0">
              <a:buNone/>
            </a:pPr>
            <a:r>
              <a:rPr lang="en-US" sz="1150" b="1" dirty="0">
                <a:solidFill>
                  <a:srgbClr val="EDF4F8"/>
                </a:solidFill>
                <a:latin typeface="Trebuchet MS" pitchFamily="34" charset="0"/>
                <a:ea typeface="Trebuchet MS" pitchFamily="34" charset="-122"/>
                <a:cs typeface="Trebuchet MS" pitchFamily="34" charset="-120"/>
              </a:rPr>
              <a:t>HA in HMI, AUTOSAR &amp; ISO 26262</a:t>
            </a:r>
            <a:endParaRPr lang="en-US" sz="1150" dirty="0"/>
          </a:p>
        </p:txBody>
      </p:sp>
      <p:sp>
        <p:nvSpPr>
          <p:cNvPr id="23" name="Text 21"/>
          <p:cNvSpPr/>
          <p:nvPr/>
        </p:nvSpPr>
        <p:spPr>
          <a:xfrm>
            <a:off x="5458968" y="1243584"/>
            <a:ext cx="3520440" cy="676656"/>
          </a:xfrm>
          <a:prstGeom prst="rect">
            <a:avLst/>
          </a:prstGeom>
          <a:noFill/>
          <a:ln/>
        </p:spPr>
        <p:txBody>
          <a:bodyPr wrap="square" lIns="0" tIns="0" rIns="0" bIns="0" rtlCol="0" anchor="ctr"/>
          <a:lstStyle/>
          <a:p>
            <a:pPr indent="0" marL="0">
              <a:buNone/>
            </a:pPr>
            <a:r>
              <a:rPr lang="en-US" sz="850" dirty="0">
                <a:solidFill>
                  <a:srgbClr val="6A97B0"/>
                </a:solidFill>
                <a:latin typeface="Calibri" pitchFamily="34" charset="0"/>
                <a:ea typeface="Calibri" pitchFamily="34" charset="-122"/>
                <a:cs typeface="Calibri" pitchFamily="34" charset="-120"/>
              </a:rPr>
              <a:t>AUTOSAR layer alignment, functional safety partitioning, Qt rendering, and real-world adoption.</a:t>
            </a:r>
            <a:endParaRPr lang="en-US" sz="850" dirty="0"/>
          </a:p>
        </p:txBody>
      </p:sp>
      <p:sp>
        <p:nvSpPr>
          <p:cNvPr id="24" name="Shape 22"/>
          <p:cNvSpPr/>
          <p:nvPr/>
        </p:nvSpPr>
        <p:spPr>
          <a:xfrm>
            <a:off x="4892040" y="2176272"/>
            <a:ext cx="4206240" cy="1188720"/>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25" name="Shape 23"/>
          <p:cNvSpPr/>
          <p:nvPr/>
        </p:nvSpPr>
        <p:spPr>
          <a:xfrm>
            <a:off x="4892040" y="2176272"/>
            <a:ext cx="475488" cy="1188720"/>
          </a:xfrm>
          <a:prstGeom prst="rect">
            <a:avLst/>
          </a:prstGeom>
          <a:solidFill>
            <a:srgbClr val="FF6B35"/>
          </a:solidFill>
          <a:ln/>
        </p:spPr>
      </p:sp>
      <p:sp>
        <p:nvSpPr>
          <p:cNvPr id="26" name="Text 24"/>
          <p:cNvSpPr/>
          <p:nvPr/>
        </p:nvSpPr>
        <p:spPr>
          <a:xfrm>
            <a:off x="4892040" y="2176272"/>
            <a:ext cx="475488" cy="1188720"/>
          </a:xfrm>
          <a:prstGeom prst="rect">
            <a:avLst/>
          </a:prstGeom>
          <a:noFill/>
          <a:ln/>
        </p:spPr>
        <p:txBody>
          <a:bodyPr wrap="square" lIns="0" tIns="0" rIns="0" bIns="0" rtlCol="0" anchor="ctr"/>
          <a:lstStyle/>
          <a:p>
            <a:pPr algn="ctr" indent="0" marL="0">
              <a:buNone/>
            </a:pPr>
            <a:r>
              <a:rPr lang="en-US" sz="1400" b="1" dirty="0">
                <a:solidFill>
                  <a:srgbClr val="0B1929"/>
                </a:solidFill>
              </a:rPr>
              <a:t>05</a:t>
            </a:r>
            <a:endParaRPr lang="en-US" sz="1400" dirty="0"/>
          </a:p>
        </p:txBody>
      </p:sp>
      <p:sp>
        <p:nvSpPr>
          <p:cNvPr id="27" name="Text 25"/>
          <p:cNvSpPr/>
          <p:nvPr/>
        </p:nvSpPr>
        <p:spPr>
          <a:xfrm>
            <a:off x="5458968" y="2267712"/>
            <a:ext cx="3520440" cy="347472"/>
          </a:xfrm>
          <a:prstGeom prst="rect">
            <a:avLst/>
          </a:prstGeom>
          <a:noFill/>
          <a:ln/>
        </p:spPr>
        <p:txBody>
          <a:bodyPr wrap="square" lIns="0" tIns="0" rIns="0" bIns="0" rtlCol="0" anchor="ctr"/>
          <a:lstStyle/>
          <a:p>
            <a:pPr indent="0" marL="0">
              <a:buNone/>
            </a:pPr>
            <a:r>
              <a:rPr lang="en-US" sz="1150" b="1" dirty="0">
                <a:solidFill>
                  <a:srgbClr val="EDF4F8"/>
                </a:solidFill>
                <a:latin typeface="Trebuchet MS" pitchFamily="34" charset="0"/>
                <a:ea typeface="Trebuchet MS" pitchFamily="34" charset="-122"/>
                <a:cs typeface="Trebuchet MS" pitchFamily="34" charset="-120"/>
              </a:rPr>
              <a:t>Strangler Fig — Safe Refactoring</a:t>
            </a:r>
            <a:endParaRPr lang="en-US" sz="1150" dirty="0"/>
          </a:p>
        </p:txBody>
      </p:sp>
      <p:sp>
        <p:nvSpPr>
          <p:cNvPr id="28" name="Text 26"/>
          <p:cNvSpPr/>
          <p:nvPr/>
        </p:nvSpPr>
        <p:spPr>
          <a:xfrm>
            <a:off x="5458968" y="2596896"/>
            <a:ext cx="3520440" cy="676656"/>
          </a:xfrm>
          <a:prstGeom prst="rect">
            <a:avLst/>
          </a:prstGeom>
          <a:noFill/>
          <a:ln/>
        </p:spPr>
        <p:txBody>
          <a:bodyPr wrap="square" lIns="0" tIns="0" rIns="0" bIns="0" rtlCol="0" anchor="ctr"/>
          <a:lstStyle/>
          <a:p>
            <a:pPr indent="0" marL="0">
              <a:buNone/>
            </a:pPr>
            <a:r>
              <a:rPr lang="en-US" sz="850" dirty="0">
                <a:solidFill>
                  <a:srgbClr val="6A97B0"/>
                </a:solidFill>
                <a:latin typeface="Calibri" pitchFamily="34" charset="0"/>
                <a:ea typeface="Calibri" pitchFamily="34" charset="-122"/>
                <a:cs typeface="Calibri" pitchFamily="34" charset="-120"/>
              </a:rPr>
              <a:t>Incremental decomposition of legacy ECU software without big-bang rewrites.</a:t>
            </a:r>
            <a:endParaRPr lang="en-US" sz="850" dirty="0"/>
          </a:p>
        </p:txBody>
      </p:sp>
      <p:sp>
        <p:nvSpPr>
          <p:cNvPr id="29" name="Shape 27"/>
          <p:cNvSpPr/>
          <p:nvPr/>
        </p:nvSpPr>
        <p:spPr>
          <a:xfrm>
            <a:off x="4892040" y="3529584"/>
            <a:ext cx="4206240" cy="1188720"/>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30" name="Shape 28"/>
          <p:cNvSpPr/>
          <p:nvPr/>
        </p:nvSpPr>
        <p:spPr>
          <a:xfrm>
            <a:off x="4892040" y="3529584"/>
            <a:ext cx="475488" cy="1188720"/>
          </a:xfrm>
          <a:prstGeom prst="rect">
            <a:avLst/>
          </a:prstGeom>
          <a:solidFill>
            <a:srgbClr val="F5A623"/>
          </a:solidFill>
          <a:ln/>
        </p:spPr>
      </p:sp>
      <p:sp>
        <p:nvSpPr>
          <p:cNvPr id="31" name="Text 29"/>
          <p:cNvSpPr/>
          <p:nvPr/>
        </p:nvSpPr>
        <p:spPr>
          <a:xfrm>
            <a:off x="4892040" y="3529584"/>
            <a:ext cx="475488" cy="1188720"/>
          </a:xfrm>
          <a:prstGeom prst="rect">
            <a:avLst/>
          </a:prstGeom>
          <a:noFill/>
          <a:ln/>
        </p:spPr>
        <p:txBody>
          <a:bodyPr wrap="square" lIns="0" tIns="0" rIns="0" bIns="0" rtlCol="0" anchor="ctr"/>
          <a:lstStyle/>
          <a:p>
            <a:pPr algn="ctr" indent="0" marL="0">
              <a:buNone/>
            </a:pPr>
            <a:r>
              <a:rPr lang="en-US" sz="1400" b="1" dirty="0">
                <a:solidFill>
                  <a:srgbClr val="0B1929"/>
                </a:solidFill>
              </a:rPr>
              <a:t>06</a:t>
            </a:r>
            <a:endParaRPr lang="en-US" sz="1400" dirty="0"/>
          </a:p>
        </p:txBody>
      </p:sp>
      <p:sp>
        <p:nvSpPr>
          <p:cNvPr id="32" name="Text 30"/>
          <p:cNvSpPr/>
          <p:nvPr/>
        </p:nvSpPr>
        <p:spPr>
          <a:xfrm>
            <a:off x="5458968" y="3621024"/>
            <a:ext cx="3520440" cy="347472"/>
          </a:xfrm>
          <a:prstGeom prst="rect">
            <a:avLst/>
          </a:prstGeom>
          <a:noFill/>
          <a:ln/>
        </p:spPr>
        <p:txBody>
          <a:bodyPr wrap="square" lIns="0" tIns="0" rIns="0" bIns="0" rtlCol="0" anchor="ctr"/>
          <a:lstStyle/>
          <a:p>
            <a:pPr indent="0" marL="0">
              <a:buNone/>
            </a:pPr>
            <a:r>
              <a:rPr lang="en-US" sz="1150" b="1" dirty="0">
                <a:solidFill>
                  <a:srgbClr val="EDF4F8"/>
                </a:solidFill>
                <a:latin typeface="Trebuchet MS" pitchFamily="34" charset="0"/>
                <a:ea typeface="Trebuchet MS" pitchFamily="34" charset="-122"/>
                <a:cs typeface="Trebuchet MS" pitchFamily="34" charset="-120"/>
              </a:rPr>
              <a:t>Enforcement, ADRs &amp; Global Teams</a:t>
            </a:r>
            <a:endParaRPr lang="en-US" sz="1150" dirty="0"/>
          </a:p>
        </p:txBody>
      </p:sp>
      <p:sp>
        <p:nvSpPr>
          <p:cNvPr id="33" name="Text 31"/>
          <p:cNvSpPr/>
          <p:nvPr/>
        </p:nvSpPr>
        <p:spPr>
          <a:xfrm>
            <a:off x="5458968" y="3950208"/>
            <a:ext cx="3520440" cy="676656"/>
          </a:xfrm>
          <a:prstGeom prst="rect">
            <a:avLst/>
          </a:prstGeom>
          <a:noFill/>
          <a:ln/>
        </p:spPr>
        <p:txBody>
          <a:bodyPr wrap="square" lIns="0" tIns="0" rIns="0" bIns="0" rtlCol="0" anchor="ctr"/>
          <a:lstStyle/>
          <a:p>
            <a:pPr indent="0" marL="0">
              <a:buNone/>
            </a:pPr>
            <a:r>
              <a:rPr lang="en-US" sz="850" dirty="0">
                <a:solidFill>
                  <a:srgbClr val="6A97B0"/>
                </a:solidFill>
                <a:latin typeface="Calibri" pitchFamily="34" charset="0"/>
                <a:ea typeface="Calibri" pitchFamily="34" charset="-122"/>
                <a:cs typeface="Calibri" pitchFamily="34" charset="-120"/>
              </a:rPr>
              <a:t>Golden Path repo, static analysis, and coaching DTICI India developers across time zones.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52638"/>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700" b="1" dirty="0">
                <a:solidFill>
                  <a:srgbClr val="00C2CB"/>
                </a:solidFill>
                <a:latin typeface="Trebuchet MS" pitchFamily="34" charset="0"/>
                <a:ea typeface="Trebuchet MS" pitchFamily="34" charset="-122"/>
                <a:cs typeface="Trebuchet MS" pitchFamily="34" charset="-120"/>
              </a:rPr>
              <a:t>01  Origins — Alistair Cockburn's 2005 Paper (The Primary Source)</a:t>
            </a:r>
            <a:endParaRPr lang="en-US" sz="1700" dirty="0"/>
          </a:p>
        </p:txBody>
      </p:sp>
      <p:sp>
        <p:nvSpPr>
          <p:cNvPr id="4" name="Shape 2"/>
          <p:cNvSpPr/>
          <p:nvPr/>
        </p:nvSpPr>
        <p:spPr>
          <a:xfrm>
            <a:off x="274320" y="804672"/>
            <a:ext cx="4709160" cy="914400"/>
          </a:xfrm>
          <a:prstGeom prst="rect">
            <a:avLst/>
          </a:prstGeom>
          <a:solidFill>
            <a:srgbClr val="122130"/>
          </a:solidFill>
          <a:ln/>
          <a:effectLst>
            <a:outerShdw sx="100000" sy="100000" kx="0" ky="0" algn="bl" rotWithShape="0" blurRad="50800" dist="25400" dir="8100000">
              <a:srgbClr val="000000">
                <a:alpha val="20000"/>
              </a:srgbClr>
            </a:outerShdw>
          </a:effectLst>
        </p:spPr>
      </p:sp>
      <p:sp>
        <p:nvSpPr>
          <p:cNvPr id="5" name="Shape 3"/>
          <p:cNvSpPr/>
          <p:nvPr/>
        </p:nvSpPr>
        <p:spPr>
          <a:xfrm>
            <a:off x="274320" y="804672"/>
            <a:ext cx="91440" cy="914400"/>
          </a:xfrm>
          <a:prstGeom prst="rect">
            <a:avLst/>
          </a:prstGeom>
          <a:solidFill>
            <a:srgbClr val="00C2CB"/>
          </a:solidFill>
          <a:ln/>
        </p:spPr>
      </p:sp>
      <p:pic>
        <p:nvPicPr>
          <p:cNvPr id="6" name="Image 0" descr="preencoded.png"/>
          <p:cNvPicPr>
            <a:picLocks noChangeAspect="1"/>
          </p:cNvPicPr>
          <p:nvPr/>
        </p:nvPicPr>
        <p:blipFill>
          <a:blip r:embed="rId1"/>
          <a:stretch>
            <a:fillRect/>
          </a:stretch>
        </p:blipFill>
        <p:spPr>
          <a:xfrm>
            <a:off x="475488" y="1060704"/>
            <a:ext cx="329184" cy="329184"/>
          </a:xfrm>
          <a:prstGeom prst="rect">
            <a:avLst/>
          </a:prstGeom>
        </p:spPr>
      </p:pic>
      <p:sp>
        <p:nvSpPr>
          <p:cNvPr id="7" name="Text 4"/>
          <p:cNvSpPr/>
          <p:nvPr/>
        </p:nvSpPr>
        <p:spPr>
          <a:xfrm>
            <a:off x="914400" y="896112"/>
            <a:ext cx="3950208" cy="320040"/>
          </a:xfrm>
          <a:prstGeom prst="rect">
            <a:avLst/>
          </a:prstGeom>
          <a:noFill/>
          <a:ln/>
        </p:spPr>
        <p:txBody>
          <a:bodyPr wrap="square" lIns="0" tIns="0" rIns="0" bIns="0" rtlCol="0" anchor="ctr"/>
          <a:lstStyle/>
          <a:p>
            <a:pPr indent="0" marL="0">
              <a:buNone/>
            </a:pPr>
            <a:r>
              <a:rPr lang="en-US" sz="1050" b="1" dirty="0">
                <a:solidFill>
                  <a:srgbClr val="EDF4F8"/>
                </a:solidFill>
                <a:latin typeface="Trebuchet MS" pitchFamily="34" charset="0"/>
                <a:ea typeface="Trebuchet MS" pitchFamily="34" charset="-122"/>
                <a:cs typeface="Trebuchet MS" pitchFamily="34" charset="-120"/>
              </a:rPr>
              <a:t>The Real Problem: Business Logic Infiltration</a:t>
            </a:r>
            <a:endParaRPr lang="en-US" sz="1050" dirty="0"/>
          </a:p>
        </p:txBody>
      </p:sp>
      <p:sp>
        <p:nvSpPr>
          <p:cNvPr id="8" name="Text 5"/>
          <p:cNvSpPr/>
          <p:nvPr/>
        </p:nvSpPr>
        <p:spPr>
          <a:xfrm>
            <a:off x="914400" y="1207008"/>
            <a:ext cx="3950208" cy="457200"/>
          </a:xfrm>
          <a:prstGeom prst="rect">
            <a:avLst/>
          </a:prstGeom>
          <a:noFill/>
          <a:ln/>
        </p:spPr>
        <p:txBody>
          <a:bodyPr wrap="square" lIns="0" tIns="0" rIns="0" bIns="0" rtlCol="0" anchor="ctr"/>
          <a:lstStyle/>
          <a:p>
            <a:pPr indent="0" marL="0">
              <a:buNone/>
            </a:pPr>
            <a:r>
              <a:rPr lang="en-US" sz="850" dirty="0">
                <a:solidFill>
                  <a:srgbClr val="6A97B0"/>
                </a:solidFill>
                <a:latin typeface="Calibri" pitchFamily="34" charset="0"/>
                <a:ea typeface="Calibri" pitchFamily="34" charset="-122"/>
                <a:cs typeface="Calibri" pitchFamily="34" charset="-120"/>
              </a:rPr>
              <a:t>Cockburn's original motivation — logic leaks into UI and database layers, making automated testing impossible and batch operation unworkable. Sound familiar for HMI clusters?</a:t>
            </a:r>
            <a:endParaRPr lang="en-US" sz="850" dirty="0"/>
          </a:p>
        </p:txBody>
      </p:sp>
      <p:sp>
        <p:nvSpPr>
          <p:cNvPr id="9" name="Shape 6"/>
          <p:cNvSpPr/>
          <p:nvPr/>
        </p:nvSpPr>
        <p:spPr>
          <a:xfrm>
            <a:off x="274320" y="1828800"/>
            <a:ext cx="4709160" cy="914400"/>
          </a:xfrm>
          <a:prstGeom prst="rect">
            <a:avLst/>
          </a:prstGeom>
          <a:solidFill>
            <a:srgbClr val="122130"/>
          </a:solidFill>
          <a:ln/>
          <a:effectLst>
            <a:outerShdw sx="100000" sy="100000" kx="0" ky="0" algn="bl" rotWithShape="0" blurRad="50800" dist="25400" dir="8100000">
              <a:srgbClr val="000000">
                <a:alpha val="20000"/>
              </a:srgbClr>
            </a:outerShdw>
          </a:effectLst>
        </p:spPr>
      </p:sp>
      <p:sp>
        <p:nvSpPr>
          <p:cNvPr id="10" name="Shape 7"/>
          <p:cNvSpPr/>
          <p:nvPr/>
        </p:nvSpPr>
        <p:spPr>
          <a:xfrm>
            <a:off x="274320" y="1828800"/>
            <a:ext cx="91440" cy="914400"/>
          </a:xfrm>
          <a:prstGeom prst="rect">
            <a:avLst/>
          </a:prstGeom>
          <a:solidFill>
            <a:srgbClr val="00C2CB"/>
          </a:solidFill>
          <a:ln/>
        </p:spPr>
      </p:sp>
      <p:pic>
        <p:nvPicPr>
          <p:cNvPr id="11" name="Image 1" descr="preencoded.png"/>
          <p:cNvPicPr>
            <a:picLocks noChangeAspect="1"/>
          </p:cNvPicPr>
          <p:nvPr/>
        </p:nvPicPr>
        <p:blipFill>
          <a:blip r:embed="rId2"/>
          <a:stretch>
            <a:fillRect/>
          </a:stretch>
        </p:blipFill>
        <p:spPr>
          <a:xfrm>
            <a:off x="475488" y="2084832"/>
            <a:ext cx="329184" cy="329184"/>
          </a:xfrm>
          <a:prstGeom prst="rect">
            <a:avLst/>
          </a:prstGeom>
        </p:spPr>
      </p:pic>
      <p:sp>
        <p:nvSpPr>
          <p:cNvPr id="12" name="Text 8"/>
          <p:cNvSpPr/>
          <p:nvPr/>
        </p:nvSpPr>
        <p:spPr>
          <a:xfrm>
            <a:off x="914400" y="1920240"/>
            <a:ext cx="3950208" cy="320040"/>
          </a:xfrm>
          <a:prstGeom prst="rect">
            <a:avLst/>
          </a:prstGeom>
          <a:noFill/>
          <a:ln/>
        </p:spPr>
        <p:txBody>
          <a:bodyPr wrap="square" lIns="0" tIns="0" rIns="0" bIns="0" rtlCol="0" anchor="ctr"/>
          <a:lstStyle/>
          <a:p>
            <a:pPr indent="0" marL="0">
              <a:buNone/>
            </a:pPr>
            <a:r>
              <a:rPr lang="en-US" sz="1050" b="1" dirty="0">
                <a:solidFill>
                  <a:srgbClr val="EDF4F8"/>
                </a:solidFill>
                <a:latin typeface="Trebuchet MS" pitchFamily="34" charset="0"/>
                <a:ea typeface="Trebuchet MS" pitchFamily="34" charset="-122"/>
                <a:cs typeface="Trebuchet MS" pitchFamily="34" charset="-120"/>
              </a:rPr>
              <a:t>The Inside-Outside Asymmetry</a:t>
            </a:r>
            <a:endParaRPr lang="en-US" sz="1050" dirty="0"/>
          </a:p>
        </p:txBody>
      </p:sp>
      <p:sp>
        <p:nvSpPr>
          <p:cNvPr id="13" name="Text 9"/>
          <p:cNvSpPr/>
          <p:nvPr/>
        </p:nvSpPr>
        <p:spPr>
          <a:xfrm>
            <a:off x="914400" y="2231136"/>
            <a:ext cx="3950208" cy="457200"/>
          </a:xfrm>
          <a:prstGeom prst="rect">
            <a:avLst/>
          </a:prstGeom>
          <a:noFill/>
          <a:ln/>
        </p:spPr>
        <p:txBody>
          <a:bodyPr wrap="square" lIns="0" tIns="0" rIns="0" bIns="0" rtlCol="0" anchor="ctr"/>
          <a:lstStyle/>
          <a:p>
            <a:pPr indent="0" marL="0">
              <a:buNone/>
            </a:pPr>
            <a:r>
              <a:rPr lang="en-US" sz="850" dirty="0">
                <a:solidFill>
                  <a:srgbClr val="6A97B0"/>
                </a:solidFill>
                <a:latin typeface="Calibri" pitchFamily="34" charset="0"/>
                <a:ea typeface="Calibri" pitchFamily="34" charset="-122"/>
                <a:cs typeface="Calibri" pitchFamily="34" charset="-120"/>
              </a:rPr>
              <a:t>The key insight is NOT left vs. right, but INSIDE vs. OUTSIDE. Code inside the hexagon must never leak outside. This single rule replaces all layered-architecture promises that teams historically break.</a:t>
            </a:r>
            <a:endParaRPr lang="en-US" sz="850" dirty="0"/>
          </a:p>
        </p:txBody>
      </p:sp>
      <p:sp>
        <p:nvSpPr>
          <p:cNvPr id="14" name="Shape 10"/>
          <p:cNvSpPr/>
          <p:nvPr/>
        </p:nvSpPr>
        <p:spPr>
          <a:xfrm>
            <a:off x="274320" y="2852928"/>
            <a:ext cx="4709160" cy="914400"/>
          </a:xfrm>
          <a:prstGeom prst="rect">
            <a:avLst/>
          </a:prstGeom>
          <a:solidFill>
            <a:srgbClr val="122130"/>
          </a:solidFill>
          <a:ln/>
          <a:effectLst>
            <a:outerShdw sx="100000" sy="100000" kx="0" ky="0" algn="bl" rotWithShape="0" blurRad="50800" dist="25400" dir="8100000">
              <a:srgbClr val="000000">
                <a:alpha val="20000"/>
              </a:srgbClr>
            </a:outerShdw>
          </a:effectLst>
        </p:spPr>
      </p:sp>
      <p:sp>
        <p:nvSpPr>
          <p:cNvPr id="15" name="Shape 11"/>
          <p:cNvSpPr/>
          <p:nvPr/>
        </p:nvSpPr>
        <p:spPr>
          <a:xfrm>
            <a:off x="274320" y="2852928"/>
            <a:ext cx="91440" cy="914400"/>
          </a:xfrm>
          <a:prstGeom prst="rect">
            <a:avLst/>
          </a:prstGeom>
          <a:solidFill>
            <a:srgbClr val="00C2CB"/>
          </a:solidFill>
          <a:ln/>
        </p:spPr>
      </p:sp>
      <p:pic>
        <p:nvPicPr>
          <p:cNvPr id="16" name="Image 2" descr="preencoded.png"/>
          <p:cNvPicPr>
            <a:picLocks noChangeAspect="1"/>
          </p:cNvPicPr>
          <p:nvPr/>
        </p:nvPicPr>
        <p:blipFill>
          <a:blip r:embed="rId3"/>
          <a:stretch>
            <a:fillRect/>
          </a:stretch>
        </p:blipFill>
        <p:spPr>
          <a:xfrm>
            <a:off x="475488" y="3108960"/>
            <a:ext cx="329184" cy="329184"/>
          </a:xfrm>
          <a:prstGeom prst="rect">
            <a:avLst/>
          </a:prstGeom>
        </p:spPr>
      </p:pic>
      <p:sp>
        <p:nvSpPr>
          <p:cNvPr id="17" name="Text 12"/>
          <p:cNvSpPr/>
          <p:nvPr/>
        </p:nvSpPr>
        <p:spPr>
          <a:xfrm>
            <a:off x="914400" y="2944368"/>
            <a:ext cx="3950208" cy="320040"/>
          </a:xfrm>
          <a:prstGeom prst="rect">
            <a:avLst/>
          </a:prstGeom>
          <a:noFill/>
          <a:ln/>
        </p:spPr>
        <p:txBody>
          <a:bodyPr wrap="square" lIns="0" tIns="0" rIns="0" bIns="0" rtlCol="0" anchor="ctr"/>
          <a:lstStyle/>
          <a:p>
            <a:pPr indent="0" marL="0">
              <a:buNone/>
            </a:pPr>
            <a:r>
              <a:rPr lang="en-US" sz="1050" b="1" dirty="0">
                <a:solidFill>
                  <a:srgbClr val="EDF4F8"/>
                </a:solidFill>
                <a:latin typeface="Trebuchet MS" pitchFamily="34" charset="0"/>
                <a:ea typeface="Trebuchet MS" pitchFamily="34" charset="-122"/>
                <a:cs typeface="Trebuchet MS" pitchFamily="34" charset="-120"/>
              </a:rPr>
              <a:t>Why a Hexagon? (Not Because 6 Matters)</a:t>
            </a:r>
            <a:endParaRPr lang="en-US" sz="1050" dirty="0"/>
          </a:p>
        </p:txBody>
      </p:sp>
      <p:sp>
        <p:nvSpPr>
          <p:cNvPr id="18" name="Text 13"/>
          <p:cNvSpPr/>
          <p:nvPr/>
        </p:nvSpPr>
        <p:spPr>
          <a:xfrm>
            <a:off x="914400" y="3255264"/>
            <a:ext cx="3950208" cy="457200"/>
          </a:xfrm>
          <a:prstGeom prst="rect">
            <a:avLst/>
          </a:prstGeom>
          <a:noFill/>
          <a:ln/>
        </p:spPr>
        <p:txBody>
          <a:bodyPr wrap="square" lIns="0" tIns="0" rIns="0" bIns="0" rtlCol="0" anchor="ctr"/>
          <a:lstStyle/>
          <a:p>
            <a:pPr indent="0" marL="0">
              <a:buNone/>
            </a:pPr>
            <a:r>
              <a:rPr lang="en-US" sz="850" dirty="0">
                <a:solidFill>
                  <a:srgbClr val="6A97B0"/>
                </a:solidFill>
                <a:latin typeface="Calibri" pitchFamily="34" charset="0"/>
                <a:ea typeface="Calibri" pitchFamily="34" charset="-122"/>
                <a:cs typeface="Calibri" pitchFamily="34" charset="-120"/>
              </a:rPr>
              <a:t>"The hexagon is not a hexagon because six is important, but to allow room to insert ports as needed, not being constrained by a one-dimensional layered drawing." — Cockburn, 2005</a:t>
            </a:r>
            <a:endParaRPr lang="en-US" sz="850" dirty="0"/>
          </a:p>
        </p:txBody>
      </p:sp>
      <p:sp>
        <p:nvSpPr>
          <p:cNvPr id="19" name="Shape 14"/>
          <p:cNvSpPr/>
          <p:nvPr/>
        </p:nvSpPr>
        <p:spPr>
          <a:xfrm>
            <a:off x="274320" y="3877056"/>
            <a:ext cx="4709160" cy="914400"/>
          </a:xfrm>
          <a:prstGeom prst="rect">
            <a:avLst/>
          </a:prstGeom>
          <a:solidFill>
            <a:srgbClr val="122130"/>
          </a:solidFill>
          <a:ln/>
          <a:effectLst>
            <a:outerShdw sx="100000" sy="100000" kx="0" ky="0" algn="bl" rotWithShape="0" blurRad="50800" dist="25400" dir="8100000">
              <a:srgbClr val="000000">
                <a:alpha val="20000"/>
              </a:srgbClr>
            </a:outerShdw>
          </a:effectLst>
        </p:spPr>
      </p:sp>
      <p:sp>
        <p:nvSpPr>
          <p:cNvPr id="20" name="Shape 15"/>
          <p:cNvSpPr/>
          <p:nvPr/>
        </p:nvSpPr>
        <p:spPr>
          <a:xfrm>
            <a:off x="274320" y="3877056"/>
            <a:ext cx="91440" cy="914400"/>
          </a:xfrm>
          <a:prstGeom prst="rect">
            <a:avLst/>
          </a:prstGeom>
          <a:solidFill>
            <a:srgbClr val="FF6B35"/>
          </a:solidFill>
          <a:ln/>
        </p:spPr>
      </p:sp>
      <p:pic>
        <p:nvPicPr>
          <p:cNvPr id="21" name="Image 3" descr="preencoded.png"/>
          <p:cNvPicPr>
            <a:picLocks noChangeAspect="1"/>
          </p:cNvPicPr>
          <p:nvPr/>
        </p:nvPicPr>
        <p:blipFill>
          <a:blip r:embed="rId4"/>
          <a:stretch>
            <a:fillRect/>
          </a:stretch>
        </p:blipFill>
        <p:spPr>
          <a:xfrm>
            <a:off x="475488" y="4133088"/>
            <a:ext cx="329184" cy="329184"/>
          </a:xfrm>
          <a:prstGeom prst="rect">
            <a:avLst/>
          </a:prstGeom>
        </p:spPr>
      </p:pic>
      <p:sp>
        <p:nvSpPr>
          <p:cNvPr id="22" name="Text 16"/>
          <p:cNvSpPr/>
          <p:nvPr/>
        </p:nvSpPr>
        <p:spPr>
          <a:xfrm>
            <a:off x="914400" y="3968496"/>
            <a:ext cx="3950208" cy="320040"/>
          </a:xfrm>
          <a:prstGeom prst="rect">
            <a:avLst/>
          </a:prstGeom>
          <a:noFill/>
          <a:ln/>
        </p:spPr>
        <p:txBody>
          <a:bodyPr wrap="square" lIns="0" tIns="0" rIns="0" bIns="0" rtlCol="0" anchor="ctr"/>
          <a:lstStyle/>
          <a:p>
            <a:pPr indent="0" marL="0">
              <a:buNone/>
            </a:pPr>
            <a:r>
              <a:rPr lang="en-US" sz="1050" b="1" dirty="0">
                <a:solidFill>
                  <a:srgbClr val="EDF4F8"/>
                </a:solidFill>
                <a:latin typeface="Trebuchet MS" pitchFamily="34" charset="0"/>
                <a:ea typeface="Trebuchet MS" pitchFamily="34" charset="-122"/>
                <a:cs typeface="Trebuchet MS" pitchFamily="34" charset="-120"/>
              </a:rPr>
              <a:t>DDD + Dependency Inversion (SOLID)</a:t>
            </a:r>
            <a:endParaRPr lang="en-US" sz="1050" dirty="0"/>
          </a:p>
        </p:txBody>
      </p:sp>
      <p:sp>
        <p:nvSpPr>
          <p:cNvPr id="23" name="Text 17"/>
          <p:cNvSpPr/>
          <p:nvPr/>
        </p:nvSpPr>
        <p:spPr>
          <a:xfrm>
            <a:off x="914400" y="4279392"/>
            <a:ext cx="3950208" cy="457200"/>
          </a:xfrm>
          <a:prstGeom prst="rect">
            <a:avLst/>
          </a:prstGeom>
          <a:noFill/>
          <a:ln/>
        </p:spPr>
        <p:txBody>
          <a:bodyPr wrap="square" lIns="0" tIns="0" rIns="0" bIns="0" rtlCol="0" anchor="ctr"/>
          <a:lstStyle/>
          <a:p>
            <a:pPr indent="0" marL="0">
              <a:buNone/>
            </a:pPr>
            <a:r>
              <a:rPr lang="en-US" sz="850" dirty="0">
                <a:solidFill>
                  <a:srgbClr val="6A97B0"/>
                </a:solidFill>
                <a:latin typeface="Calibri" pitchFamily="34" charset="0"/>
                <a:ea typeface="Calibri" pitchFamily="34" charset="-122"/>
                <a:cs typeface="Calibri" pitchFamily="34" charset="-120"/>
              </a:rPr>
              <a:t>HA operationalizes DDD domain isolation. Bob Martin's Dependency Inversion — high-level policy must not depend on low-level detail — is the mechanism that enforces the inside-outside rule.</a:t>
            </a:r>
            <a:endParaRPr lang="en-US" sz="850" dirty="0"/>
          </a:p>
        </p:txBody>
      </p:sp>
      <p:sp>
        <p:nvSpPr>
          <p:cNvPr id="24" name="Shape 18"/>
          <p:cNvSpPr/>
          <p:nvPr/>
        </p:nvSpPr>
        <p:spPr>
          <a:xfrm>
            <a:off x="5230368" y="804672"/>
            <a:ext cx="3602736" cy="3995928"/>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25" name="Text 19"/>
          <p:cNvSpPr/>
          <p:nvPr/>
        </p:nvSpPr>
        <p:spPr>
          <a:xfrm>
            <a:off x="5340096" y="877824"/>
            <a:ext cx="3383280" cy="329184"/>
          </a:xfrm>
          <a:prstGeom prst="rect">
            <a:avLst/>
          </a:prstGeom>
          <a:noFill/>
          <a:ln/>
        </p:spPr>
        <p:txBody>
          <a:bodyPr wrap="square" lIns="0" tIns="0" rIns="0" bIns="0" rtlCol="0" anchor="ctr"/>
          <a:lstStyle/>
          <a:p>
            <a:pPr algn="ctr" indent="0" marL="0">
              <a:buNone/>
            </a:pPr>
            <a:r>
              <a:rPr lang="en-US" sz="1100" b="1" dirty="0">
                <a:solidFill>
                  <a:srgbClr val="00C2CB"/>
                </a:solidFill>
                <a:latin typeface="Trebuchet MS" pitchFamily="34" charset="0"/>
                <a:ea typeface="Trebuchet MS" pitchFamily="34" charset="-122"/>
                <a:cs typeface="Trebuchet MS" pitchFamily="34" charset="-120"/>
              </a:rPr>
              <a:t>Maintenance Cost Over Time</a:t>
            </a:r>
            <a:endParaRPr lang="en-US" sz="1100" dirty="0"/>
          </a:p>
        </p:txBody>
      </p:sp>
      <p:graphicFrame>
        <p:nvGraphicFramePr>
          <p:cNvPr id="26" name="Chart 0" descr=""/>
          <p:cNvGraphicFramePr/>
          <p:nvPr/>
        </p:nvGraphicFramePr>
        <p:xfrm>
          <a:off x="5285232" y="1298448"/>
          <a:ext cx="3456432" cy="2304288"/>
        </p:xfrm>
        <a:graphic xmlns:a="http://schemas.openxmlformats.org/drawingml/2006/main">
          <a:graphicData uri="http://schemas.openxmlformats.org/drawingml/2006/chart">
            <c:chart xmlns:c="http://schemas.openxmlformats.org/drawingml/2006/chart" r:id="rId5"/>
          </a:graphicData>
        </a:graphic>
      </p:graphicFrame>
      <p:sp>
        <p:nvSpPr>
          <p:cNvPr id="27" name="Shape 20"/>
          <p:cNvSpPr/>
          <p:nvPr/>
        </p:nvSpPr>
        <p:spPr>
          <a:xfrm>
            <a:off x="5285232" y="3712464"/>
            <a:ext cx="3493008" cy="1005840"/>
          </a:xfrm>
          <a:prstGeom prst="rect">
            <a:avLst/>
          </a:prstGeom>
          <a:solidFill>
            <a:srgbClr val="0B1929"/>
          </a:solidFill>
          <a:ln/>
          <a:effectLst>
            <a:outerShdw sx="100000" sy="100000" kx="0" ky="0" algn="bl" rotWithShape="0" blurRad="50800" dist="25400" dir="8100000">
              <a:srgbClr val="000000">
                <a:alpha val="20000"/>
              </a:srgbClr>
            </a:outerShdw>
          </a:effectLst>
        </p:spPr>
      </p:sp>
      <p:sp>
        <p:nvSpPr>
          <p:cNvPr id="28" name="Shape 21"/>
          <p:cNvSpPr/>
          <p:nvPr/>
        </p:nvSpPr>
        <p:spPr>
          <a:xfrm>
            <a:off x="5285232" y="3712464"/>
            <a:ext cx="109728" cy="1005840"/>
          </a:xfrm>
          <a:prstGeom prst="rect">
            <a:avLst/>
          </a:prstGeom>
          <a:solidFill>
            <a:srgbClr val="00C2CB"/>
          </a:solidFill>
          <a:ln/>
        </p:spPr>
      </p:sp>
      <p:sp>
        <p:nvSpPr>
          <p:cNvPr id="29" name="Text 22"/>
          <p:cNvSpPr/>
          <p:nvPr/>
        </p:nvSpPr>
        <p:spPr>
          <a:xfrm>
            <a:off x="5468112" y="3749040"/>
            <a:ext cx="3200400" cy="914400"/>
          </a:xfrm>
          <a:prstGeom prst="rect">
            <a:avLst/>
          </a:prstGeom>
          <a:noFill/>
          <a:ln/>
        </p:spPr>
        <p:txBody>
          <a:bodyPr wrap="square" lIns="0" tIns="0" rIns="0" bIns="0" rtlCol="0" anchor="ctr"/>
          <a:lstStyle/>
          <a:p>
            <a:pPr indent="0" marL="0">
              <a:buNone/>
            </a:pPr>
            <a:r>
              <a:rPr lang="en-US" sz="850" i="1" dirty="0">
                <a:solidFill>
                  <a:srgbClr val="B8D4E0"/>
                </a:solidFill>
                <a:latin typeface="Calibri" pitchFamily="34" charset="0"/>
                <a:ea typeface="Calibri" pitchFamily="34" charset="-122"/>
                <a:cs typeface="Calibri" pitchFamily="34" charset="-120"/>
              </a:rPr>
              <a:t>" Create your application to work without either a UI or a database so you can run automated regression-tests against the application. "</a:t>
            </a:r>
            <a:endParaRPr lang="en-US" sz="850" dirty="0"/>
          </a:p>
        </p:txBody>
      </p:sp>
      <p:sp>
        <p:nvSpPr>
          <p:cNvPr id="30" name="Text 23"/>
          <p:cNvSpPr/>
          <p:nvPr/>
        </p:nvSpPr>
        <p:spPr>
          <a:xfrm>
            <a:off x="5468112" y="4462272"/>
            <a:ext cx="3200400" cy="201168"/>
          </a:xfrm>
          <a:prstGeom prst="rect">
            <a:avLst/>
          </a:prstGeom>
          <a:noFill/>
          <a:ln/>
        </p:spPr>
        <p:txBody>
          <a:bodyPr wrap="square" lIns="0" tIns="0" rIns="0" bIns="0" rtlCol="0" anchor="ctr"/>
          <a:lstStyle/>
          <a:p>
            <a:pPr indent="0" marL="0">
              <a:buNone/>
            </a:pPr>
            <a:r>
              <a:rPr lang="en-US" sz="750" dirty="0">
                <a:solidFill>
                  <a:srgbClr val="6A97B0"/>
                </a:solidFill>
                <a:latin typeface="Calibri" pitchFamily="34" charset="0"/>
                <a:ea typeface="Calibri" pitchFamily="34" charset="-122"/>
                <a:cs typeface="Calibri" pitchFamily="34" charset="-120"/>
              </a:rPr>
              <a:t>— Cockburn, 2005 (opening line)</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63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929"/>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800" b="1" dirty="0">
                <a:solidFill>
                  <a:srgbClr val="00C2CB"/>
                </a:solidFill>
                <a:latin typeface="Trebuchet MS" pitchFamily="34" charset="0"/>
                <a:ea typeface="Trebuchet MS" pitchFamily="34" charset="-122"/>
                <a:cs typeface="Trebuchet MS" pitchFamily="34" charset="-120"/>
              </a:rPr>
              <a:t>02  The Hexagonal Model — Domain, Ports &amp; Adapters</a:t>
            </a:r>
            <a:endParaRPr lang="en-US" sz="1800" dirty="0"/>
          </a:p>
        </p:txBody>
      </p:sp>
      <p:sp>
        <p:nvSpPr>
          <p:cNvPr id="4" name="Shape 2"/>
          <p:cNvSpPr/>
          <p:nvPr/>
        </p:nvSpPr>
        <p:spPr>
          <a:xfrm>
            <a:off x="3310128" y="1426464"/>
            <a:ext cx="2523744" cy="2340864"/>
          </a:xfrm>
          <a:prstGeom prst="rect">
            <a:avLst/>
          </a:prstGeom>
          <a:solidFill>
            <a:srgbClr val="0B1929"/>
          </a:solidFill>
          <a:ln/>
          <a:effectLst>
            <a:outerShdw sx="100000" sy="100000" kx="0" ky="0" algn="bl" rotWithShape="0" blurRad="101600" dist="38100" dir="8100000">
              <a:srgbClr val="000000">
                <a:alpha val="28000"/>
              </a:srgbClr>
            </a:outerShdw>
          </a:effectLst>
        </p:spPr>
      </p:sp>
      <p:sp>
        <p:nvSpPr>
          <p:cNvPr id="5" name="Shape 3"/>
          <p:cNvSpPr/>
          <p:nvPr/>
        </p:nvSpPr>
        <p:spPr>
          <a:xfrm>
            <a:off x="3310128" y="1426464"/>
            <a:ext cx="2523744" cy="365760"/>
          </a:xfrm>
          <a:prstGeom prst="rect">
            <a:avLst/>
          </a:prstGeom>
          <a:solidFill>
            <a:srgbClr val="0099A3"/>
          </a:solidFill>
          <a:ln/>
        </p:spPr>
      </p:sp>
      <p:sp>
        <p:nvSpPr>
          <p:cNvPr id="6" name="Text 4"/>
          <p:cNvSpPr/>
          <p:nvPr/>
        </p:nvSpPr>
        <p:spPr>
          <a:xfrm>
            <a:off x="3310128" y="1426464"/>
            <a:ext cx="2523744" cy="365760"/>
          </a:xfrm>
          <a:prstGeom prst="rect">
            <a:avLst/>
          </a:prstGeom>
          <a:noFill/>
          <a:ln/>
        </p:spPr>
        <p:txBody>
          <a:bodyPr wrap="square" lIns="0" tIns="0" rIns="0" bIns="0" rtlCol="0" anchor="ctr"/>
          <a:lstStyle/>
          <a:p>
            <a:pPr algn="ctr" indent="0" marL="0">
              <a:buNone/>
            </a:pPr>
            <a:r>
              <a:rPr lang="en-US" sz="1100" b="1" spc="200" kern="0" dirty="0">
                <a:solidFill>
                  <a:srgbClr val="0B1929"/>
                </a:solidFill>
              </a:rPr>
              <a:t>DOMAIN</a:t>
            </a:r>
            <a:endParaRPr lang="en-US" sz="1100" dirty="0"/>
          </a:p>
        </p:txBody>
      </p:sp>
      <p:sp>
        <p:nvSpPr>
          <p:cNvPr id="7" name="Text 5"/>
          <p:cNvSpPr/>
          <p:nvPr/>
        </p:nvSpPr>
        <p:spPr>
          <a:xfrm>
            <a:off x="3401568" y="1847088"/>
            <a:ext cx="2340864" cy="1874520"/>
          </a:xfrm>
          <a:prstGeom prst="rect">
            <a:avLst/>
          </a:prstGeom>
          <a:noFill/>
          <a:ln/>
        </p:spPr>
        <p:txBody>
          <a:bodyPr wrap="square" lIns="50800" tIns="50800" rIns="50800" bIns="50800" rtlCol="0" anchor="ctr"/>
          <a:lstStyle/>
          <a:p>
            <a:pPr algn="ctr" indent="0" marL="0">
              <a:buNone/>
            </a:pPr>
            <a:r>
              <a:rPr lang="en-US" sz="1000" dirty="0">
                <a:solidFill>
                  <a:srgbClr val="B8D4E0"/>
                </a:solidFill>
              </a:rPr>
              <a:t>Entities</a:t>
            </a:r>
            <a:endParaRPr lang="en-US" sz="1000" dirty="0"/>
          </a:p>
          <a:p>
            <a:pPr algn="ctr" indent="0" marL="0">
              <a:buNone/>
            </a:pPr>
            <a:r>
              <a:rPr lang="en-US" sz="1000" dirty="0">
                <a:solidFill>
                  <a:srgbClr val="B8D4E0"/>
                </a:solidFill>
              </a:rPr>
              <a:t>Use Cases</a:t>
            </a:r>
            <a:endParaRPr lang="en-US" sz="1000" dirty="0"/>
          </a:p>
          <a:p>
            <a:pPr algn="ctr" indent="0" marL="0">
              <a:buNone/>
            </a:pPr>
            <a:r>
              <a:rPr lang="en-US" sz="1000" dirty="0">
                <a:solidFill>
                  <a:srgbClr val="B8D4E0"/>
                </a:solidFill>
              </a:rPr>
              <a:t>Business Rules</a:t>
            </a:r>
            <a:endParaRPr lang="en-US" sz="1000" dirty="0"/>
          </a:p>
          <a:p>
            <a:pPr algn="ctr" indent="0" marL="0">
              <a:buNone/>
            </a:pPr>
            <a:r>
              <a:rPr lang="en-US" sz="1000" dirty="0">
                <a:solidFill>
                  <a:srgbClr val="B8D4E0"/>
                </a:solidFill>
              </a:rPr>
              <a:t>Event Handlers</a:t>
            </a:r>
            <a:endParaRPr lang="en-US" sz="1000" dirty="0"/>
          </a:p>
        </p:txBody>
      </p:sp>
      <p:sp>
        <p:nvSpPr>
          <p:cNvPr id="8" name="Shape 6"/>
          <p:cNvSpPr/>
          <p:nvPr/>
        </p:nvSpPr>
        <p:spPr>
          <a:xfrm>
            <a:off x="2779776" y="1097280"/>
            <a:ext cx="3584448" cy="2980944"/>
          </a:xfrm>
          <a:prstGeom prst="hexagon">
            <a:avLst/>
          </a:prstGeom>
          <a:solidFill>
            <a:srgbClr val="000000">
              <a:alpha val="0"/>
            </a:srgbClr>
          </a:solidFill>
          <a:ln w="22860">
            <a:solidFill>
              <a:srgbClr val="00C2CB"/>
            </a:solidFill>
            <a:prstDash val="dash"/>
          </a:ln>
        </p:spPr>
      </p:sp>
      <p:sp>
        <p:nvSpPr>
          <p:cNvPr id="9" name="Text 7"/>
          <p:cNvSpPr/>
          <p:nvPr/>
        </p:nvSpPr>
        <p:spPr>
          <a:xfrm>
            <a:off x="2779776" y="1150000"/>
            <a:ext cx="3584448" cy="237744"/>
          </a:xfrm>
          <a:prstGeom prst="rect">
            <a:avLst/>
          </a:prstGeom>
          <a:noFill/>
          <a:ln/>
        </p:spPr>
        <p:txBody>
          <a:bodyPr wrap="square" lIns="0" tIns="0" rIns="0" bIns="0" rtlCol="0" anchor="ctr"/>
          <a:lstStyle/>
          <a:p>
            <a:pPr algn="ctr" indent="0" marL="0">
              <a:buNone/>
            </a:pPr>
            <a:r>
              <a:rPr lang="en-US" sz="750" spc="100" kern="0" dirty="0">
                <a:solidFill>
                  <a:srgbClr val="00C2CB"/>
                </a:solidFill>
              </a:rPr>
              <a:t>PORTS (interfaces — the application boundary)</a:t>
            </a:r>
            <a:endParaRPr lang="en-US" sz="750" dirty="0"/>
          </a:p>
        </p:txBody>
      </p:sp>
      <p:sp>
        <p:nvSpPr>
          <p:cNvPr id="10" name="Text 8"/>
          <p:cNvSpPr/>
          <p:nvPr/>
        </p:nvSpPr>
        <p:spPr>
          <a:xfrm>
            <a:off x="2779776" y="3630000"/>
            <a:ext cx="3584448" cy="237744"/>
          </a:xfrm>
          <a:prstGeom prst="rect">
            <a:avLst/>
          </a:prstGeom>
          <a:noFill/>
          <a:ln/>
        </p:spPr>
        <p:txBody>
          <a:bodyPr wrap="square" lIns="0" tIns="0" rIns="0" bIns="0" rtlCol="0" anchor="ctr"/>
          <a:lstStyle/>
          <a:p>
            <a:pPr algn="ctr" indent="0" marL="0">
              <a:buNone/>
            </a:pPr>
            <a:r>
              <a:rPr lang="en-US" sz="750" spc="100" kern="0" dirty="0">
                <a:solidFill>
                  <a:srgbClr val="00C2CB"/>
                </a:solidFill>
              </a:rPr>
              <a:t>PORTS (interfaces — the application boundary)</a:t>
            </a:r>
            <a:endParaRPr lang="en-US" sz="750" dirty="0"/>
          </a:p>
        </p:txBody>
      </p:sp>
      <p:sp>
        <p:nvSpPr>
          <p:cNvPr id="11" name="Shape 9"/>
          <p:cNvSpPr/>
          <p:nvPr/>
        </p:nvSpPr>
        <p:spPr>
          <a:xfrm>
            <a:off x="201168" y="786384"/>
            <a:ext cx="2377440" cy="3639312"/>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12" name="Shape 10"/>
          <p:cNvSpPr/>
          <p:nvPr/>
        </p:nvSpPr>
        <p:spPr>
          <a:xfrm>
            <a:off x="201168" y="786384"/>
            <a:ext cx="2377440" cy="384048"/>
          </a:xfrm>
          <a:prstGeom prst="rect">
            <a:avLst/>
          </a:prstGeom>
          <a:solidFill>
            <a:srgbClr val="FF6B35"/>
          </a:solidFill>
          <a:ln/>
        </p:spPr>
      </p:sp>
      <p:sp>
        <p:nvSpPr>
          <p:cNvPr id="13" name="Text 11"/>
          <p:cNvSpPr/>
          <p:nvPr/>
        </p:nvSpPr>
        <p:spPr>
          <a:xfrm>
            <a:off x="201168" y="786384"/>
            <a:ext cx="2377440" cy="384048"/>
          </a:xfrm>
          <a:prstGeom prst="rect">
            <a:avLst/>
          </a:prstGeom>
          <a:noFill/>
          <a:ln/>
        </p:spPr>
        <p:txBody>
          <a:bodyPr wrap="square" lIns="0" tIns="0" rIns="0" bIns="0" rtlCol="0" anchor="ctr"/>
          <a:lstStyle/>
          <a:p>
            <a:pPr algn="ctr" indent="0" marL="0">
              <a:buNone/>
            </a:pPr>
            <a:r>
              <a:rPr lang="en-US" sz="800" b="1" dirty="0">
                <a:solidFill>
                  <a:srgbClr val="0B1929"/>
                </a:solidFill>
              </a:rPr>
              <a:t>PRIMARY (Driving) ADAPTERS</a:t>
            </a:r>
            <a:endParaRPr lang="en-US" sz="800" dirty="0"/>
          </a:p>
        </p:txBody>
      </p:sp>
      <p:sp>
        <p:nvSpPr>
          <p:cNvPr id="14" name="Shape 12"/>
          <p:cNvSpPr/>
          <p:nvPr/>
        </p:nvSpPr>
        <p:spPr>
          <a:xfrm>
            <a:off x="329184" y="1298448"/>
            <a:ext cx="2103120" cy="502920"/>
          </a:xfrm>
          <a:prstGeom prst="rect">
            <a:avLst/>
          </a:prstGeom>
          <a:solidFill>
            <a:srgbClr val="1E3A52"/>
          </a:solidFill>
          <a:ln/>
          <a:effectLst>
            <a:outerShdw sx="100000" sy="100000" kx="0" ky="0" algn="bl" rotWithShape="0" blurRad="50800" dist="25400" dir="8100000">
              <a:srgbClr val="000000">
                <a:alpha val="20000"/>
              </a:srgbClr>
            </a:outerShdw>
          </a:effectLst>
        </p:spPr>
      </p:sp>
      <p:sp>
        <p:nvSpPr>
          <p:cNvPr id="15" name="Text 13"/>
          <p:cNvSpPr/>
          <p:nvPr/>
        </p:nvSpPr>
        <p:spPr>
          <a:xfrm>
            <a:off x="329184" y="1298448"/>
            <a:ext cx="2103120" cy="502920"/>
          </a:xfrm>
          <a:prstGeom prst="rect">
            <a:avLst/>
          </a:prstGeom>
          <a:noFill/>
          <a:ln/>
        </p:spPr>
        <p:txBody>
          <a:bodyPr wrap="square" lIns="0" tIns="0" rIns="0" bIns="0" rtlCol="0" anchor="ctr"/>
          <a:lstStyle/>
          <a:p>
            <a:pPr algn="ctr" indent="0" marL="0">
              <a:buNone/>
            </a:pPr>
            <a:r>
              <a:rPr lang="en-US" sz="950" dirty="0">
                <a:solidFill>
                  <a:srgbClr val="EDF4F8"/>
                </a:solidFill>
              </a:rPr>
              <a:t>HMI Event Handler</a:t>
            </a:r>
            <a:endParaRPr lang="en-US" sz="950" dirty="0"/>
          </a:p>
        </p:txBody>
      </p:sp>
      <p:sp>
        <p:nvSpPr>
          <p:cNvPr id="16" name="Shape 14"/>
          <p:cNvSpPr/>
          <p:nvPr/>
        </p:nvSpPr>
        <p:spPr>
          <a:xfrm>
            <a:off x="2432304" y="1549908"/>
            <a:ext cx="347472" cy="0"/>
          </a:xfrm>
          <a:prstGeom prst="line">
            <a:avLst/>
          </a:prstGeom>
          <a:noFill/>
          <a:ln w="25400">
            <a:solidFill>
              <a:srgbClr val="FF6B35"/>
            </a:solidFill>
            <a:prstDash val="solid"/>
          </a:ln>
        </p:spPr>
      </p:sp>
      <p:sp>
        <p:nvSpPr>
          <p:cNvPr id="17" name="Shape 15"/>
          <p:cNvSpPr/>
          <p:nvPr/>
        </p:nvSpPr>
        <p:spPr>
          <a:xfrm>
            <a:off x="329184" y="1956816"/>
            <a:ext cx="2103120" cy="502920"/>
          </a:xfrm>
          <a:prstGeom prst="rect">
            <a:avLst/>
          </a:prstGeom>
          <a:solidFill>
            <a:srgbClr val="1E3A52"/>
          </a:solidFill>
          <a:ln/>
          <a:effectLst>
            <a:outerShdw sx="100000" sy="100000" kx="0" ky="0" algn="bl" rotWithShape="0" blurRad="50800" dist="25400" dir="8100000">
              <a:srgbClr val="000000">
                <a:alpha val="20000"/>
              </a:srgbClr>
            </a:outerShdw>
          </a:effectLst>
        </p:spPr>
      </p:sp>
      <p:sp>
        <p:nvSpPr>
          <p:cNvPr id="18" name="Text 16"/>
          <p:cNvSpPr/>
          <p:nvPr/>
        </p:nvSpPr>
        <p:spPr>
          <a:xfrm>
            <a:off x="329184" y="1956816"/>
            <a:ext cx="2103120" cy="502920"/>
          </a:xfrm>
          <a:prstGeom prst="rect">
            <a:avLst/>
          </a:prstGeom>
          <a:noFill/>
          <a:ln/>
        </p:spPr>
        <p:txBody>
          <a:bodyPr wrap="square" lIns="0" tIns="0" rIns="0" bIns="0" rtlCol="0" anchor="ctr"/>
          <a:lstStyle/>
          <a:p>
            <a:pPr algn="ctr" indent="0" marL="0">
              <a:buNone/>
            </a:pPr>
            <a:r>
              <a:rPr lang="en-US" sz="950" dirty="0">
                <a:solidFill>
                  <a:srgbClr val="EDF4F8"/>
                </a:solidFill>
              </a:rPr>
              <a:t>REST Controller</a:t>
            </a:r>
            <a:endParaRPr lang="en-US" sz="950" dirty="0"/>
          </a:p>
        </p:txBody>
      </p:sp>
      <p:sp>
        <p:nvSpPr>
          <p:cNvPr id="19" name="Shape 17"/>
          <p:cNvSpPr/>
          <p:nvPr/>
        </p:nvSpPr>
        <p:spPr>
          <a:xfrm>
            <a:off x="2432304" y="2208276"/>
            <a:ext cx="347472" cy="0"/>
          </a:xfrm>
          <a:prstGeom prst="line">
            <a:avLst/>
          </a:prstGeom>
          <a:noFill/>
          <a:ln w="25400">
            <a:solidFill>
              <a:srgbClr val="FF6B35"/>
            </a:solidFill>
            <a:prstDash val="solid"/>
          </a:ln>
        </p:spPr>
      </p:sp>
      <p:sp>
        <p:nvSpPr>
          <p:cNvPr id="20" name="Shape 18"/>
          <p:cNvSpPr/>
          <p:nvPr/>
        </p:nvSpPr>
        <p:spPr>
          <a:xfrm>
            <a:off x="329184" y="2615184"/>
            <a:ext cx="2103120" cy="502920"/>
          </a:xfrm>
          <a:prstGeom prst="rect">
            <a:avLst/>
          </a:prstGeom>
          <a:solidFill>
            <a:srgbClr val="1E3A52"/>
          </a:solidFill>
          <a:ln/>
          <a:effectLst>
            <a:outerShdw sx="100000" sy="100000" kx="0" ky="0" algn="bl" rotWithShape="0" blurRad="50800" dist="25400" dir="8100000">
              <a:srgbClr val="000000">
                <a:alpha val="20000"/>
              </a:srgbClr>
            </a:outerShdw>
          </a:effectLst>
        </p:spPr>
      </p:sp>
      <p:sp>
        <p:nvSpPr>
          <p:cNvPr id="21" name="Text 19"/>
          <p:cNvSpPr/>
          <p:nvPr/>
        </p:nvSpPr>
        <p:spPr>
          <a:xfrm>
            <a:off x="329184" y="2615184"/>
            <a:ext cx="2103120" cy="502920"/>
          </a:xfrm>
          <a:prstGeom prst="rect">
            <a:avLst/>
          </a:prstGeom>
          <a:noFill/>
          <a:ln/>
        </p:spPr>
        <p:txBody>
          <a:bodyPr wrap="square" lIns="0" tIns="0" rIns="0" bIns="0" rtlCol="0" anchor="ctr"/>
          <a:lstStyle/>
          <a:p>
            <a:pPr algn="ctr" indent="0" marL="0">
              <a:buNone/>
            </a:pPr>
            <a:r>
              <a:rPr lang="en-US" sz="950" dirty="0">
                <a:solidFill>
                  <a:srgbClr val="EDF4F8"/>
                </a:solidFill>
              </a:rPr>
              <a:t>CLI / Test Driver</a:t>
            </a:r>
            <a:endParaRPr lang="en-US" sz="950" dirty="0"/>
          </a:p>
        </p:txBody>
      </p:sp>
      <p:sp>
        <p:nvSpPr>
          <p:cNvPr id="22" name="Shape 20"/>
          <p:cNvSpPr/>
          <p:nvPr/>
        </p:nvSpPr>
        <p:spPr>
          <a:xfrm>
            <a:off x="2432304" y="2866644"/>
            <a:ext cx="347472" cy="0"/>
          </a:xfrm>
          <a:prstGeom prst="line">
            <a:avLst/>
          </a:prstGeom>
          <a:noFill/>
          <a:ln w="25400">
            <a:solidFill>
              <a:srgbClr val="FF6B35"/>
            </a:solidFill>
            <a:prstDash val="solid"/>
          </a:ln>
        </p:spPr>
      </p:sp>
      <p:sp>
        <p:nvSpPr>
          <p:cNvPr id="23" name="Shape 21"/>
          <p:cNvSpPr/>
          <p:nvPr/>
        </p:nvSpPr>
        <p:spPr>
          <a:xfrm>
            <a:off x="329184" y="3273552"/>
            <a:ext cx="2103120" cy="502920"/>
          </a:xfrm>
          <a:prstGeom prst="rect">
            <a:avLst/>
          </a:prstGeom>
          <a:solidFill>
            <a:srgbClr val="1E3A52"/>
          </a:solidFill>
          <a:ln/>
          <a:effectLst>
            <a:outerShdw sx="100000" sy="100000" kx="0" ky="0" algn="bl" rotWithShape="0" blurRad="50800" dist="25400" dir="8100000">
              <a:srgbClr val="000000">
                <a:alpha val="20000"/>
              </a:srgbClr>
            </a:outerShdw>
          </a:effectLst>
        </p:spPr>
      </p:sp>
      <p:sp>
        <p:nvSpPr>
          <p:cNvPr id="24" name="Text 22"/>
          <p:cNvSpPr/>
          <p:nvPr/>
        </p:nvSpPr>
        <p:spPr>
          <a:xfrm>
            <a:off x="329184" y="3273552"/>
            <a:ext cx="2103120" cy="502920"/>
          </a:xfrm>
          <a:prstGeom prst="rect">
            <a:avLst/>
          </a:prstGeom>
          <a:noFill/>
          <a:ln/>
        </p:spPr>
        <p:txBody>
          <a:bodyPr wrap="square" lIns="0" tIns="0" rIns="0" bIns="0" rtlCol="0" anchor="ctr"/>
          <a:lstStyle/>
          <a:p>
            <a:pPr algn="ctr" indent="0" marL="0">
              <a:buNone/>
            </a:pPr>
            <a:r>
              <a:rPr lang="en-US" sz="950" dirty="0">
                <a:solidFill>
                  <a:srgbClr val="EDF4F8"/>
                </a:solidFill>
              </a:rPr>
              <a:t>CAN Signal Receiver</a:t>
            </a:r>
            <a:endParaRPr lang="en-US" sz="950" dirty="0"/>
          </a:p>
        </p:txBody>
      </p:sp>
      <p:sp>
        <p:nvSpPr>
          <p:cNvPr id="25" name="Shape 23"/>
          <p:cNvSpPr/>
          <p:nvPr/>
        </p:nvSpPr>
        <p:spPr>
          <a:xfrm>
            <a:off x="2432304" y="3525012"/>
            <a:ext cx="347472" cy="0"/>
          </a:xfrm>
          <a:prstGeom prst="line">
            <a:avLst/>
          </a:prstGeom>
          <a:noFill/>
          <a:ln w="25400">
            <a:solidFill>
              <a:srgbClr val="FF6B35"/>
            </a:solidFill>
            <a:prstDash val="solid"/>
          </a:ln>
        </p:spPr>
      </p:sp>
      <p:sp>
        <p:nvSpPr>
          <p:cNvPr id="26" name="Text 24"/>
          <p:cNvSpPr/>
          <p:nvPr/>
        </p:nvSpPr>
        <p:spPr>
          <a:xfrm>
            <a:off x="228600" y="4261104"/>
            <a:ext cx="2340864" cy="420624"/>
          </a:xfrm>
          <a:prstGeom prst="rect">
            <a:avLst/>
          </a:prstGeom>
          <a:noFill/>
          <a:ln/>
        </p:spPr>
        <p:txBody>
          <a:bodyPr wrap="square" lIns="0" tIns="0" rIns="0" bIns="0" rtlCol="0" anchor="ctr"/>
          <a:lstStyle/>
          <a:p>
            <a:pPr algn="ctr" indent="0" marL="0">
              <a:buNone/>
            </a:pPr>
            <a:r>
              <a:rPr lang="en-US" sz="750" i="1" dirty="0">
                <a:solidFill>
                  <a:srgbClr val="6A97B0"/>
                </a:solidFill>
              </a:rPr>
              <a:t>Drives the use case.</a:t>
            </a:r>
            <a:endParaRPr lang="en-US" sz="750" dirty="0"/>
          </a:p>
          <a:p>
            <a:pPr algn="ctr" indent="0" marL="0">
              <a:buNone/>
            </a:pPr>
            <a:r>
              <a:rPr lang="en-US" sz="750" i="1" dirty="0">
                <a:solidFill>
                  <a:srgbClr val="6A97B0"/>
                </a:solidFill>
              </a:rPr>
              <a:t>"Primary Actor" in Cockburn's use case model.</a:t>
            </a:r>
            <a:endParaRPr lang="en-US" sz="750" dirty="0"/>
          </a:p>
        </p:txBody>
      </p:sp>
      <p:sp>
        <p:nvSpPr>
          <p:cNvPr id="27" name="Shape 25"/>
          <p:cNvSpPr/>
          <p:nvPr/>
        </p:nvSpPr>
        <p:spPr>
          <a:xfrm>
            <a:off x="6565392" y="786384"/>
            <a:ext cx="2377440" cy="3639312"/>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28" name="Shape 26"/>
          <p:cNvSpPr/>
          <p:nvPr/>
        </p:nvSpPr>
        <p:spPr>
          <a:xfrm>
            <a:off x="6565392" y="786384"/>
            <a:ext cx="2377440" cy="384048"/>
          </a:xfrm>
          <a:prstGeom prst="rect">
            <a:avLst/>
          </a:prstGeom>
          <a:solidFill>
            <a:srgbClr val="2ECC71"/>
          </a:solidFill>
          <a:ln/>
        </p:spPr>
      </p:sp>
      <p:sp>
        <p:nvSpPr>
          <p:cNvPr id="29" name="Text 27"/>
          <p:cNvSpPr/>
          <p:nvPr/>
        </p:nvSpPr>
        <p:spPr>
          <a:xfrm>
            <a:off x="6565392" y="786384"/>
            <a:ext cx="2377440" cy="384048"/>
          </a:xfrm>
          <a:prstGeom prst="rect">
            <a:avLst/>
          </a:prstGeom>
          <a:noFill/>
          <a:ln/>
        </p:spPr>
        <p:txBody>
          <a:bodyPr wrap="square" lIns="0" tIns="0" rIns="0" bIns="0" rtlCol="0" anchor="ctr"/>
          <a:lstStyle/>
          <a:p>
            <a:pPr algn="ctr" indent="0" marL="0">
              <a:buNone/>
            </a:pPr>
            <a:r>
              <a:rPr lang="en-US" sz="800" b="1" dirty="0">
                <a:solidFill>
                  <a:srgbClr val="0B1929"/>
                </a:solidFill>
              </a:rPr>
              <a:t>SECONDARY (Driven) ADAPTERS</a:t>
            </a:r>
            <a:endParaRPr lang="en-US" sz="800" dirty="0"/>
          </a:p>
        </p:txBody>
      </p:sp>
      <p:sp>
        <p:nvSpPr>
          <p:cNvPr id="30" name="Shape 28"/>
          <p:cNvSpPr/>
          <p:nvPr/>
        </p:nvSpPr>
        <p:spPr>
          <a:xfrm>
            <a:off x="6711696" y="1298448"/>
            <a:ext cx="2103120" cy="502920"/>
          </a:xfrm>
          <a:prstGeom prst="rect">
            <a:avLst/>
          </a:prstGeom>
          <a:solidFill>
            <a:srgbClr val="1E3A52"/>
          </a:solidFill>
          <a:ln/>
          <a:effectLst>
            <a:outerShdw sx="100000" sy="100000" kx="0" ky="0" algn="bl" rotWithShape="0" blurRad="50800" dist="25400" dir="8100000">
              <a:srgbClr val="000000">
                <a:alpha val="20000"/>
              </a:srgbClr>
            </a:outerShdw>
          </a:effectLst>
        </p:spPr>
      </p:sp>
      <p:sp>
        <p:nvSpPr>
          <p:cNvPr id="31" name="Text 29"/>
          <p:cNvSpPr/>
          <p:nvPr/>
        </p:nvSpPr>
        <p:spPr>
          <a:xfrm>
            <a:off x="6711696" y="1298448"/>
            <a:ext cx="2103120" cy="502920"/>
          </a:xfrm>
          <a:prstGeom prst="rect">
            <a:avLst/>
          </a:prstGeom>
          <a:noFill/>
          <a:ln/>
        </p:spPr>
        <p:txBody>
          <a:bodyPr wrap="square" lIns="0" tIns="0" rIns="0" bIns="0" rtlCol="0" anchor="ctr"/>
          <a:lstStyle/>
          <a:p>
            <a:pPr algn="ctr" indent="0" marL="0">
              <a:buNone/>
            </a:pPr>
            <a:r>
              <a:rPr lang="en-US" sz="950" dirty="0">
                <a:solidFill>
                  <a:srgbClr val="EDF4F8"/>
                </a:solidFill>
              </a:rPr>
              <a:t>PostgreSQL Repo</a:t>
            </a:r>
            <a:endParaRPr lang="en-US" sz="950" dirty="0"/>
          </a:p>
        </p:txBody>
      </p:sp>
      <p:sp>
        <p:nvSpPr>
          <p:cNvPr id="32" name="Shape 30"/>
          <p:cNvSpPr/>
          <p:nvPr/>
        </p:nvSpPr>
        <p:spPr>
          <a:xfrm>
            <a:off x="6345936" y="1549908"/>
            <a:ext cx="219456" cy="0"/>
          </a:xfrm>
          <a:prstGeom prst="line">
            <a:avLst/>
          </a:prstGeom>
          <a:noFill/>
          <a:ln w="25400">
            <a:solidFill>
              <a:srgbClr val="2ECC71"/>
            </a:solidFill>
            <a:prstDash val="solid"/>
          </a:ln>
        </p:spPr>
      </p:sp>
      <p:sp>
        <p:nvSpPr>
          <p:cNvPr id="33" name="Shape 31"/>
          <p:cNvSpPr/>
          <p:nvPr/>
        </p:nvSpPr>
        <p:spPr>
          <a:xfrm>
            <a:off x="6711696" y="1956816"/>
            <a:ext cx="2103120" cy="502920"/>
          </a:xfrm>
          <a:prstGeom prst="rect">
            <a:avLst/>
          </a:prstGeom>
          <a:solidFill>
            <a:srgbClr val="1E3A52"/>
          </a:solidFill>
          <a:ln/>
          <a:effectLst>
            <a:outerShdw sx="100000" sy="100000" kx="0" ky="0" algn="bl" rotWithShape="0" blurRad="50800" dist="25400" dir="8100000">
              <a:srgbClr val="000000">
                <a:alpha val="20000"/>
              </a:srgbClr>
            </a:outerShdw>
          </a:effectLst>
        </p:spPr>
      </p:sp>
      <p:sp>
        <p:nvSpPr>
          <p:cNvPr id="34" name="Text 32"/>
          <p:cNvSpPr/>
          <p:nvPr/>
        </p:nvSpPr>
        <p:spPr>
          <a:xfrm>
            <a:off x="6711696" y="1956816"/>
            <a:ext cx="2103120" cy="502920"/>
          </a:xfrm>
          <a:prstGeom prst="rect">
            <a:avLst/>
          </a:prstGeom>
          <a:noFill/>
          <a:ln/>
        </p:spPr>
        <p:txBody>
          <a:bodyPr wrap="square" lIns="0" tIns="0" rIns="0" bIns="0" rtlCol="0" anchor="ctr"/>
          <a:lstStyle/>
          <a:p>
            <a:pPr algn="ctr" indent="0" marL="0">
              <a:buNone/>
            </a:pPr>
            <a:r>
              <a:rPr lang="en-US" sz="950" dirty="0">
                <a:solidFill>
                  <a:srgbClr val="EDF4F8"/>
                </a:solidFill>
              </a:rPr>
              <a:t>CAN Bus / LIN Driver</a:t>
            </a:r>
            <a:endParaRPr lang="en-US" sz="950" dirty="0"/>
          </a:p>
        </p:txBody>
      </p:sp>
      <p:sp>
        <p:nvSpPr>
          <p:cNvPr id="35" name="Shape 33"/>
          <p:cNvSpPr/>
          <p:nvPr/>
        </p:nvSpPr>
        <p:spPr>
          <a:xfrm>
            <a:off x="6345936" y="2208276"/>
            <a:ext cx="219456" cy="0"/>
          </a:xfrm>
          <a:prstGeom prst="line">
            <a:avLst/>
          </a:prstGeom>
          <a:noFill/>
          <a:ln w="25400">
            <a:solidFill>
              <a:srgbClr val="2ECC71"/>
            </a:solidFill>
            <a:prstDash val="solid"/>
          </a:ln>
        </p:spPr>
      </p:sp>
      <p:sp>
        <p:nvSpPr>
          <p:cNvPr id="36" name="Shape 34"/>
          <p:cNvSpPr/>
          <p:nvPr/>
        </p:nvSpPr>
        <p:spPr>
          <a:xfrm>
            <a:off x="6711696" y="2615184"/>
            <a:ext cx="2103120" cy="502920"/>
          </a:xfrm>
          <a:prstGeom prst="rect">
            <a:avLst/>
          </a:prstGeom>
          <a:solidFill>
            <a:srgbClr val="1E3A52"/>
          </a:solidFill>
          <a:ln/>
          <a:effectLst>
            <a:outerShdw sx="100000" sy="100000" kx="0" ky="0" algn="bl" rotWithShape="0" blurRad="50800" dist="25400" dir="8100000">
              <a:srgbClr val="000000">
                <a:alpha val="20000"/>
              </a:srgbClr>
            </a:outerShdw>
          </a:effectLst>
        </p:spPr>
      </p:sp>
      <p:sp>
        <p:nvSpPr>
          <p:cNvPr id="37" name="Text 35"/>
          <p:cNvSpPr/>
          <p:nvPr/>
        </p:nvSpPr>
        <p:spPr>
          <a:xfrm>
            <a:off x="6711696" y="2615184"/>
            <a:ext cx="2103120" cy="502920"/>
          </a:xfrm>
          <a:prstGeom prst="rect">
            <a:avLst/>
          </a:prstGeom>
          <a:noFill/>
          <a:ln/>
        </p:spPr>
        <p:txBody>
          <a:bodyPr wrap="square" lIns="0" tIns="0" rIns="0" bIns="0" rtlCol="0" anchor="ctr"/>
          <a:lstStyle/>
          <a:p>
            <a:pPr algn="ctr" indent="0" marL="0">
              <a:buNone/>
            </a:pPr>
            <a:r>
              <a:rPr lang="en-US" sz="950" dirty="0">
                <a:solidFill>
                  <a:srgbClr val="EDF4F8"/>
                </a:solidFill>
              </a:rPr>
              <a:t>Message Broker</a:t>
            </a:r>
            <a:endParaRPr lang="en-US" sz="950" dirty="0"/>
          </a:p>
        </p:txBody>
      </p:sp>
      <p:sp>
        <p:nvSpPr>
          <p:cNvPr id="38" name="Shape 36"/>
          <p:cNvSpPr/>
          <p:nvPr/>
        </p:nvSpPr>
        <p:spPr>
          <a:xfrm>
            <a:off x="6345936" y="2866644"/>
            <a:ext cx="219456" cy="0"/>
          </a:xfrm>
          <a:prstGeom prst="line">
            <a:avLst/>
          </a:prstGeom>
          <a:noFill/>
          <a:ln w="25400">
            <a:solidFill>
              <a:srgbClr val="2ECC71"/>
            </a:solidFill>
            <a:prstDash val="solid"/>
          </a:ln>
        </p:spPr>
      </p:sp>
      <p:sp>
        <p:nvSpPr>
          <p:cNvPr id="39" name="Shape 37"/>
          <p:cNvSpPr/>
          <p:nvPr/>
        </p:nvSpPr>
        <p:spPr>
          <a:xfrm>
            <a:off x="6711696" y="3273552"/>
            <a:ext cx="2103120" cy="502920"/>
          </a:xfrm>
          <a:prstGeom prst="rect">
            <a:avLst/>
          </a:prstGeom>
          <a:solidFill>
            <a:srgbClr val="1E3A52"/>
          </a:solidFill>
          <a:ln/>
          <a:effectLst>
            <a:outerShdw sx="100000" sy="100000" kx="0" ky="0" algn="bl" rotWithShape="0" blurRad="50800" dist="25400" dir="8100000">
              <a:srgbClr val="000000">
                <a:alpha val="20000"/>
              </a:srgbClr>
            </a:outerShdw>
          </a:effectLst>
        </p:spPr>
      </p:sp>
      <p:sp>
        <p:nvSpPr>
          <p:cNvPr id="40" name="Text 38"/>
          <p:cNvSpPr/>
          <p:nvPr/>
        </p:nvSpPr>
        <p:spPr>
          <a:xfrm>
            <a:off x="6711696" y="3273552"/>
            <a:ext cx="2103120" cy="502920"/>
          </a:xfrm>
          <a:prstGeom prst="rect">
            <a:avLst/>
          </a:prstGeom>
          <a:noFill/>
          <a:ln/>
        </p:spPr>
        <p:txBody>
          <a:bodyPr wrap="square" lIns="0" tIns="0" rIns="0" bIns="0" rtlCol="0" anchor="ctr"/>
          <a:lstStyle/>
          <a:p>
            <a:pPr algn="ctr" indent="0" marL="0">
              <a:buNone/>
            </a:pPr>
            <a:r>
              <a:rPr lang="en-US" sz="950" dirty="0">
                <a:solidFill>
                  <a:srgbClr val="EDF4F8"/>
                </a:solidFill>
              </a:rPr>
              <a:t>Mock / In-Memory Stub</a:t>
            </a:r>
            <a:endParaRPr lang="en-US" sz="950" dirty="0"/>
          </a:p>
        </p:txBody>
      </p:sp>
      <p:sp>
        <p:nvSpPr>
          <p:cNvPr id="41" name="Shape 39"/>
          <p:cNvSpPr/>
          <p:nvPr/>
        </p:nvSpPr>
        <p:spPr>
          <a:xfrm>
            <a:off x="6345936" y="3525012"/>
            <a:ext cx="219456" cy="0"/>
          </a:xfrm>
          <a:prstGeom prst="line">
            <a:avLst/>
          </a:prstGeom>
          <a:noFill/>
          <a:ln w="25400">
            <a:solidFill>
              <a:srgbClr val="2ECC71"/>
            </a:solidFill>
            <a:prstDash val="solid"/>
          </a:ln>
        </p:spPr>
      </p:sp>
      <p:sp>
        <p:nvSpPr>
          <p:cNvPr id="42" name="Text 40"/>
          <p:cNvSpPr/>
          <p:nvPr/>
        </p:nvSpPr>
        <p:spPr>
          <a:xfrm>
            <a:off x="6583680" y="4261104"/>
            <a:ext cx="2340864" cy="420624"/>
          </a:xfrm>
          <a:prstGeom prst="rect">
            <a:avLst/>
          </a:prstGeom>
          <a:noFill/>
          <a:ln/>
        </p:spPr>
        <p:txBody>
          <a:bodyPr wrap="square" lIns="0" tIns="0" rIns="0" bIns="0" rtlCol="0" anchor="ctr"/>
          <a:lstStyle/>
          <a:p>
            <a:pPr algn="ctr" indent="0" marL="0">
              <a:buNone/>
            </a:pPr>
            <a:r>
              <a:rPr lang="en-US" sz="750" i="1" dirty="0">
                <a:solidFill>
                  <a:srgbClr val="6A97B0"/>
                </a:solidFill>
              </a:rPr>
              <a:t>Driven by the app.</a:t>
            </a:r>
            <a:endParaRPr lang="en-US" sz="750" dirty="0"/>
          </a:p>
          <a:p>
            <a:pPr algn="ctr" indent="0" marL="0">
              <a:buNone/>
            </a:pPr>
            <a:r>
              <a:rPr lang="en-US" sz="750" i="1" dirty="0">
                <a:solidFill>
                  <a:srgbClr val="6A97B0"/>
                </a:solidFill>
              </a:rPr>
              <a:t>"Secondary Actor" — answers queries or receives events.</a:t>
            </a:r>
            <a:endParaRPr lang="en-US" sz="750" dirty="0"/>
          </a:p>
        </p:txBody>
      </p:sp>
      <p:sp>
        <p:nvSpPr>
          <p:cNvPr id="43" name="Shape 41"/>
          <p:cNvSpPr/>
          <p:nvPr/>
        </p:nvSpPr>
        <p:spPr>
          <a:xfrm>
            <a:off x="201168" y="4809744"/>
            <a:ext cx="8741664" cy="274320"/>
          </a:xfrm>
          <a:prstGeom prst="rect">
            <a:avLst/>
          </a:prstGeom>
          <a:solidFill>
            <a:srgbClr val="0B1929"/>
          </a:solidFill>
          <a:ln/>
        </p:spPr>
      </p:sp>
      <p:sp>
        <p:nvSpPr>
          <p:cNvPr id="44" name="Shape 42"/>
          <p:cNvSpPr/>
          <p:nvPr/>
        </p:nvSpPr>
        <p:spPr>
          <a:xfrm>
            <a:off x="201168" y="4809744"/>
            <a:ext cx="91440" cy="274320"/>
          </a:xfrm>
          <a:prstGeom prst="rect">
            <a:avLst/>
          </a:prstGeom>
          <a:solidFill>
            <a:srgbClr val="00C2CB"/>
          </a:solidFill>
          <a:ln/>
        </p:spPr>
      </p:sp>
      <p:sp>
        <p:nvSpPr>
          <p:cNvPr id="45" name="Text 43"/>
          <p:cNvSpPr/>
          <p:nvPr/>
        </p:nvSpPr>
        <p:spPr>
          <a:xfrm>
            <a:off x="365760" y="4809744"/>
            <a:ext cx="8412480" cy="274320"/>
          </a:xfrm>
          <a:prstGeom prst="rect">
            <a:avLst/>
          </a:prstGeom>
          <a:noFill/>
          <a:ln/>
        </p:spPr>
        <p:txBody>
          <a:bodyPr wrap="square" lIns="0" tIns="0" rIns="0" bIns="0" rtlCol="0" anchor="ctr"/>
          <a:lstStyle/>
          <a:p>
            <a:pPr indent="0" marL="0">
              <a:buNone/>
            </a:pPr>
            <a:r>
              <a:rPr lang="en-US" sz="850" dirty="0">
                <a:solidFill>
                  <a:srgbClr val="B8D4E0"/>
                </a:solidFill>
                <a:latin typeface="Calibri" pitchFamily="34" charset="0"/>
                <a:ea typeface="Calibri" pitchFamily="34" charset="-122"/>
                <a:cs typeface="Calibri" pitchFamily="34" charset="-120"/>
              </a:rPr>
              <a:t>Cockburn's Rule:  "Code pertaining to the inside part should not leak into the outside part."  Adapters implement port interfaces. Dependency arrow always points inward.</a:t>
            </a:r>
            <a:endParaRPr lang="en-US" sz="850" dirty="0"/>
          </a:p>
        </p:txBody>
      </p:sp>
      <p:sp>
        <p:nvSpPr>
          <p:cNvPr id="300" name="BenefitsBar"/>
          <p:cNvSpPr/>
          <p:nvPr/>
        </p:nvSpPr>
        <p:spPr>
          <a:xfrm>
            <a:off x="201168" y="4700000"/>
            <a:ext cx="8741664" cy="380000"/>
          </a:xfrm>
          <a:prstGeom prst="rect">
            <a:avLst/>
          </a:prstGeom>
          <a:solidFill>
            <a:srgbClr val="0B1929"/>
          </a:solidFill>
          <a:ln/>
        </p:spPr>
      </p:sp>
      <p:sp>
        <p:nvSpPr>
          <p:cNvPr id="301" name="BenefitDebug"/>
          <p:cNvSpPr/>
          <p:nvPr/>
        </p:nvSpPr>
        <p:spPr>
          <a:xfrm>
            <a:off x="280000" y="4710000"/>
            <a:ext cx="2800000" cy="360000"/>
          </a:xfrm>
          <a:prstGeom prst="rect">
            <a:avLst/>
          </a:prstGeom>
          <a:noFill/>
          <a:ln/>
        </p:spPr>
        <p:txBody>
          <a:bodyPr wrap="square" lIns="50800" tIns="0" rIns="50800" bIns="0" rtlCol="0" anchor="ctr"/>
          <a:lstStyle/>
          <a:p>
            <a:pPr indent="0" marL="0">
              <a:buNone/>
            </a:pPr>
            <a:r>
              <a:rPr lang="en-US" sz="800" b="1" dirty="0">
                <a:solidFill>
                  <a:srgbClr val="FF6B35"/>
                </a:solidFill>
              </a:rPr>
              <a:t xml:space="preserve">Debug: </a:t>
            </a:r>
            <a:r>
              <a:rPr lang="en-US" sz="800" dirty="0">
                <a:solidFill>
                  <a:srgbClr val="B8D4E0"/>
                </a:solidFill>
              </a:rPr>
              <a:t>Failures isolate to adapter boundaries → fast defect pre-analysis</a:t>
            </a:r>
          </a:p>
        </p:txBody>
      </p:sp>
      <p:sp>
        <p:nvSpPr>
          <p:cNvPr id="302" name="BenefitTest"/>
          <p:cNvSpPr/>
          <p:nvPr/>
        </p:nvSpPr>
        <p:spPr>
          <a:xfrm>
            <a:off x="3230000" y="4710000"/>
            <a:ext cx="2700000" cy="360000"/>
          </a:xfrm>
          <a:prstGeom prst="rect">
            <a:avLst/>
          </a:prstGeom>
          <a:noFill/>
          <a:ln/>
        </p:spPr>
        <p:txBody>
          <a:bodyPr wrap="square" lIns="50800" tIns="0" rIns="50800" bIns="0" rtlCol="0" anchor="ctr"/>
          <a:lstStyle/>
          <a:p>
            <a:pPr indent="0" marL="0">
              <a:buNone/>
            </a:pPr>
            <a:r>
              <a:rPr lang="en-US" sz="800" b="1" dirty="0">
                <a:solidFill>
                  <a:srgbClr val="00C2CB"/>
                </a:solidFill>
              </a:rPr>
              <a:t xml:space="preserve">Test: </a:t>
            </a:r>
            <a:r>
              <a:rPr lang="en-US" sz="800" dirty="0">
                <a:solidFill>
                  <a:srgbClr val="B8D4E0"/>
                </a:solidFill>
              </a:rPr>
              <a:t>Domain tests with zero hardware — CI runs in milliseconds</a:t>
            </a:r>
          </a:p>
        </p:txBody>
      </p:sp>
      <p:sp>
        <p:nvSpPr>
          <p:cNvPr id="303" name="BenefitExtend"/>
          <p:cNvSpPr/>
          <p:nvPr/>
        </p:nvSpPr>
        <p:spPr>
          <a:xfrm>
            <a:off x="6080000" y="4710000"/>
            <a:ext cx="2800000" cy="360000"/>
          </a:xfrm>
          <a:prstGeom prst="rect">
            <a:avLst/>
          </a:prstGeom>
          <a:noFill/>
          <a:ln/>
        </p:spPr>
        <p:txBody>
          <a:bodyPr wrap="square" lIns="50800" tIns="0" rIns="50800" bIns="0" rtlCol="0" anchor="ctr"/>
          <a:lstStyle/>
          <a:p>
            <a:pPr indent="0" marL="0">
              <a:buNone/>
            </a:pPr>
            <a:r>
              <a:rPr lang="en-US" sz="800" b="1" dirty="0">
                <a:solidFill>
                  <a:srgbClr val="4CAF50"/>
                </a:solidFill>
              </a:rPr>
              <a:t xml:space="preserve">Extend: </a:t>
            </a:r>
            <a:r>
              <a:rPr lang="en-US" sz="800" dirty="0">
                <a:solidFill>
                  <a:srgbClr val="B8D4E0"/>
                </a:solidFill>
              </a:rPr>
              <a:t>New protocol = one new adapter, zero domain changes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52638"/>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800" b="1" dirty="0">
                <a:solidFill>
                  <a:srgbClr val="00C2CB"/>
                </a:solidFill>
                <a:latin typeface="Trebuchet MS" pitchFamily="34" charset="0"/>
                <a:ea typeface="Trebuchet MS" pitchFamily="34" charset="-122"/>
                <a:cs typeface="Trebuchet MS" pitchFamily="34" charset="-120"/>
              </a:rPr>
              <a:t>03  Benefits: Debug · Test · Extend</a:t>
            </a:r>
            <a:endParaRPr lang="en-US" sz="1800" dirty="0"/>
          </a:p>
        </p:txBody>
      </p:sp>
      <p:sp>
        <p:nvSpPr>
          <p:cNvPr id="4" name="Shape 2"/>
          <p:cNvSpPr/>
          <p:nvPr/>
        </p:nvSpPr>
        <p:spPr>
          <a:xfrm>
            <a:off x="274320" y="777240"/>
            <a:ext cx="2834640" cy="4187952"/>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5" name="Shape 3"/>
          <p:cNvSpPr/>
          <p:nvPr/>
        </p:nvSpPr>
        <p:spPr>
          <a:xfrm>
            <a:off x="274320" y="777240"/>
            <a:ext cx="2834640" cy="54864"/>
          </a:xfrm>
          <a:prstGeom prst="rect">
            <a:avLst/>
          </a:prstGeom>
          <a:solidFill>
            <a:srgbClr val="FF6B35"/>
          </a:solidFill>
          <a:ln/>
        </p:spPr>
      </p:sp>
      <p:pic>
        <p:nvPicPr>
          <p:cNvPr id="6" name="Image 0" descr="preencoded.png"/>
          <p:cNvPicPr>
            <a:picLocks noChangeAspect="1"/>
          </p:cNvPicPr>
          <p:nvPr/>
        </p:nvPicPr>
        <p:blipFill>
          <a:blip r:embed="rId1"/>
          <a:stretch>
            <a:fillRect/>
          </a:stretch>
        </p:blipFill>
        <p:spPr>
          <a:xfrm>
            <a:off x="1463040" y="950976"/>
            <a:ext cx="457200" cy="457200"/>
          </a:xfrm>
          <a:prstGeom prst="rect">
            <a:avLst/>
          </a:prstGeom>
        </p:spPr>
      </p:pic>
      <p:sp>
        <p:nvSpPr>
          <p:cNvPr id="7" name="Text 4"/>
          <p:cNvSpPr/>
          <p:nvPr/>
        </p:nvSpPr>
        <p:spPr>
          <a:xfrm>
            <a:off x="365760" y="1481328"/>
            <a:ext cx="2651760" cy="365760"/>
          </a:xfrm>
          <a:prstGeom prst="rect">
            <a:avLst/>
          </a:prstGeom>
          <a:noFill/>
          <a:ln/>
        </p:spPr>
        <p:txBody>
          <a:bodyPr wrap="square" lIns="0" tIns="0" rIns="0" bIns="0" rtlCol="0" anchor="ctr"/>
          <a:lstStyle/>
          <a:p>
            <a:pPr algn="ctr" indent="0" marL="0">
              <a:buNone/>
            </a:pPr>
            <a:r>
              <a:rPr lang="en-US" sz="1600" b="1" dirty="0">
                <a:solidFill>
                  <a:srgbClr val="FF6B35"/>
                </a:solidFill>
                <a:latin typeface="Trebuchet MS" pitchFamily="34" charset="0"/>
                <a:ea typeface="Trebuchet MS" pitchFamily="34" charset="-122"/>
                <a:cs typeface="Trebuchet MS" pitchFamily="34" charset="-120"/>
              </a:rPr>
              <a:t>Debugging</a:t>
            </a:r>
            <a:endParaRPr lang="en-US" sz="1600" dirty="0"/>
          </a:p>
        </p:txBody>
      </p:sp>
      <p:sp>
        <p:nvSpPr>
          <p:cNvPr id="8" name="Text 5"/>
          <p:cNvSpPr/>
          <p:nvPr/>
        </p:nvSpPr>
        <p:spPr>
          <a:xfrm>
            <a:off x="411480" y="1892808"/>
            <a:ext cx="2560320" cy="438912"/>
          </a:xfrm>
          <a:prstGeom prst="rect">
            <a:avLst/>
          </a:prstGeom>
          <a:noFill/>
          <a:ln/>
        </p:spPr>
        <p:txBody>
          <a:bodyPr wrap="square" lIns="0" tIns="0" rIns="0" bIns="0" rtlCol="0" anchor="ctr"/>
          <a:lstStyle/>
          <a:p>
            <a:pPr algn="ctr" indent="0" marL="0">
              <a:buNone/>
            </a:pPr>
            <a:r>
              <a:rPr lang="en-US" sz="850" i="1" dirty="0">
                <a:solidFill>
                  <a:srgbClr val="B8D4E0"/>
                </a:solidFill>
                <a:latin typeface="Calibri" pitchFamily="34" charset="0"/>
                <a:ea typeface="Calibri" pitchFamily="34" charset="-122"/>
                <a:cs typeface="Calibri" pitchFamily="34" charset="-120"/>
              </a:rPr>
              <a:t>Failures isolate to adapter boundaries — critical for HMI defect pre-analysis.</a:t>
            </a:r>
            <a:endParaRPr lang="en-US" sz="850" dirty="0"/>
          </a:p>
        </p:txBody>
      </p:sp>
      <p:sp>
        <p:nvSpPr>
          <p:cNvPr id="9" name="Shape 6"/>
          <p:cNvSpPr/>
          <p:nvPr/>
        </p:nvSpPr>
        <p:spPr>
          <a:xfrm>
            <a:off x="411480" y="2450592"/>
            <a:ext cx="2560320" cy="365760"/>
          </a:xfrm>
          <a:prstGeom prst="rect">
            <a:avLst/>
          </a:prstGeom>
          <a:solidFill>
            <a:srgbClr val="1E3A52"/>
          </a:solidFill>
          <a:ln/>
        </p:spPr>
      </p:sp>
      <p:sp>
        <p:nvSpPr>
          <p:cNvPr id="10" name="Shape 7"/>
          <p:cNvSpPr/>
          <p:nvPr/>
        </p:nvSpPr>
        <p:spPr>
          <a:xfrm>
            <a:off x="411480" y="2450592"/>
            <a:ext cx="54864" cy="365760"/>
          </a:xfrm>
          <a:prstGeom prst="rect">
            <a:avLst/>
          </a:prstGeom>
          <a:solidFill>
            <a:srgbClr val="FF6B35"/>
          </a:solidFill>
          <a:ln/>
        </p:spPr>
      </p:sp>
      <p:sp>
        <p:nvSpPr>
          <p:cNvPr id="11" name="Text 8"/>
          <p:cNvSpPr/>
          <p:nvPr/>
        </p:nvSpPr>
        <p:spPr>
          <a:xfrm>
            <a:off x="530352" y="2450592"/>
            <a:ext cx="2377440" cy="365760"/>
          </a:xfrm>
          <a:prstGeom prst="rect">
            <a:avLst/>
          </a:prstGeom>
          <a:noFill/>
          <a:ln/>
        </p:spPr>
        <p:txBody>
          <a:bodyPr wrap="square" lIns="0" tIns="0" rIns="0" bIns="0" rtlCol="0" anchor="ctr"/>
          <a:lstStyle/>
          <a:p>
            <a:pPr indent="0" marL="0">
              <a:buNone/>
            </a:pPr>
            <a:r>
              <a:rPr lang="en-US" sz="780" dirty="0">
                <a:solidFill>
                  <a:srgbClr val="6A97B0"/>
                </a:solidFill>
                <a:latin typeface="Calibri" pitchFamily="34" charset="0"/>
                <a:ea typeface="Calibri" pitchFamily="34" charset="-122"/>
                <a:cs typeface="Calibri" pitchFamily="34" charset="-120"/>
              </a:rPr>
              <a:t>Swap real CAN driver with in-memory stub → reproduce defect without a truck on the bench</a:t>
            </a:r>
            <a:endParaRPr lang="en-US" sz="780" dirty="0"/>
          </a:p>
        </p:txBody>
      </p:sp>
      <p:sp>
        <p:nvSpPr>
          <p:cNvPr id="12" name="Shape 9"/>
          <p:cNvSpPr/>
          <p:nvPr/>
        </p:nvSpPr>
        <p:spPr>
          <a:xfrm>
            <a:off x="411480" y="2871216"/>
            <a:ext cx="2560320" cy="365760"/>
          </a:xfrm>
          <a:prstGeom prst="rect">
            <a:avLst/>
          </a:prstGeom>
          <a:solidFill>
            <a:srgbClr val="1E3A52"/>
          </a:solidFill>
          <a:ln/>
        </p:spPr>
      </p:sp>
      <p:sp>
        <p:nvSpPr>
          <p:cNvPr id="13" name="Shape 10"/>
          <p:cNvSpPr/>
          <p:nvPr/>
        </p:nvSpPr>
        <p:spPr>
          <a:xfrm>
            <a:off x="411480" y="2871216"/>
            <a:ext cx="54864" cy="365760"/>
          </a:xfrm>
          <a:prstGeom prst="rect">
            <a:avLst/>
          </a:prstGeom>
          <a:solidFill>
            <a:srgbClr val="FF6B35"/>
          </a:solidFill>
          <a:ln/>
        </p:spPr>
      </p:sp>
      <p:sp>
        <p:nvSpPr>
          <p:cNvPr id="14" name="Text 11"/>
          <p:cNvSpPr/>
          <p:nvPr/>
        </p:nvSpPr>
        <p:spPr>
          <a:xfrm>
            <a:off x="530352" y="2871216"/>
            <a:ext cx="2377440" cy="365760"/>
          </a:xfrm>
          <a:prstGeom prst="rect">
            <a:avLst/>
          </a:prstGeom>
          <a:noFill/>
          <a:ln/>
        </p:spPr>
        <p:txBody>
          <a:bodyPr wrap="square" lIns="0" tIns="0" rIns="0" bIns="0" rtlCol="0" anchor="ctr"/>
          <a:lstStyle/>
          <a:p>
            <a:pPr indent="0" marL="0">
              <a:buNone/>
            </a:pPr>
            <a:r>
              <a:rPr lang="en-US" sz="780" dirty="0">
                <a:solidFill>
                  <a:srgbClr val="6A97B0"/>
                </a:solidFill>
                <a:latin typeface="Calibri" pitchFamily="34" charset="0"/>
                <a:ea typeface="Calibri" pitchFamily="34" charset="-122"/>
                <a:cs typeface="Calibri" pitchFamily="34" charset="-120"/>
              </a:rPr>
              <a:t>Domain is never at fault for infrastructure bugs; root cause narrows to one adapter</a:t>
            </a:r>
            <a:endParaRPr lang="en-US" sz="780" dirty="0"/>
          </a:p>
        </p:txBody>
      </p:sp>
      <p:sp>
        <p:nvSpPr>
          <p:cNvPr id="15" name="Shape 12"/>
          <p:cNvSpPr/>
          <p:nvPr/>
        </p:nvSpPr>
        <p:spPr>
          <a:xfrm>
            <a:off x="411480" y="3291840"/>
            <a:ext cx="2560320" cy="365760"/>
          </a:xfrm>
          <a:prstGeom prst="rect">
            <a:avLst/>
          </a:prstGeom>
          <a:solidFill>
            <a:srgbClr val="1E3A52"/>
          </a:solidFill>
          <a:ln/>
        </p:spPr>
      </p:sp>
      <p:sp>
        <p:nvSpPr>
          <p:cNvPr id="16" name="Shape 13"/>
          <p:cNvSpPr/>
          <p:nvPr/>
        </p:nvSpPr>
        <p:spPr>
          <a:xfrm>
            <a:off x="411480" y="3291840"/>
            <a:ext cx="54864" cy="365760"/>
          </a:xfrm>
          <a:prstGeom prst="rect">
            <a:avLst/>
          </a:prstGeom>
          <a:solidFill>
            <a:srgbClr val="FF6B35"/>
          </a:solidFill>
          <a:ln/>
        </p:spPr>
      </p:sp>
      <p:sp>
        <p:nvSpPr>
          <p:cNvPr id="17" name="Text 14"/>
          <p:cNvSpPr/>
          <p:nvPr/>
        </p:nvSpPr>
        <p:spPr>
          <a:xfrm>
            <a:off x="530352" y="3291840"/>
            <a:ext cx="2377440" cy="365760"/>
          </a:xfrm>
          <a:prstGeom prst="rect">
            <a:avLst/>
          </a:prstGeom>
          <a:noFill/>
          <a:ln/>
        </p:spPr>
        <p:txBody>
          <a:bodyPr wrap="square" lIns="0" tIns="0" rIns="0" bIns="0" rtlCol="0" anchor="ctr"/>
          <a:lstStyle/>
          <a:p>
            <a:pPr indent="0" marL="0">
              <a:buNone/>
            </a:pPr>
            <a:r>
              <a:rPr lang="en-US" sz="780" dirty="0">
                <a:solidFill>
                  <a:srgbClr val="6A97B0"/>
                </a:solidFill>
                <a:latin typeface="Calibri" pitchFamily="34" charset="0"/>
                <a:ea typeface="Calibri" pitchFamily="34" charset="-122"/>
                <a:cs typeface="Calibri" pitchFamily="34" charset="-120"/>
              </a:rPr>
              <a:t>Cockburn: app runs in 'fully isolated mode' with test+mock adapters in place</a:t>
            </a:r>
            <a:endParaRPr lang="en-US" sz="780" dirty="0"/>
          </a:p>
        </p:txBody>
      </p:sp>
      <p:sp>
        <p:nvSpPr>
          <p:cNvPr id="18" name="Shape 15"/>
          <p:cNvSpPr/>
          <p:nvPr/>
        </p:nvSpPr>
        <p:spPr>
          <a:xfrm>
            <a:off x="411480" y="3712464"/>
            <a:ext cx="2560320" cy="365760"/>
          </a:xfrm>
          <a:prstGeom prst="rect">
            <a:avLst/>
          </a:prstGeom>
          <a:solidFill>
            <a:srgbClr val="1E3A52"/>
          </a:solidFill>
          <a:ln/>
        </p:spPr>
      </p:sp>
      <p:sp>
        <p:nvSpPr>
          <p:cNvPr id="19" name="Shape 16"/>
          <p:cNvSpPr/>
          <p:nvPr/>
        </p:nvSpPr>
        <p:spPr>
          <a:xfrm>
            <a:off x="411480" y="3712464"/>
            <a:ext cx="54864" cy="365760"/>
          </a:xfrm>
          <a:prstGeom prst="rect">
            <a:avLst/>
          </a:prstGeom>
          <a:solidFill>
            <a:srgbClr val="FF6B35"/>
          </a:solidFill>
          <a:ln/>
        </p:spPr>
      </p:sp>
      <p:sp>
        <p:nvSpPr>
          <p:cNvPr id="20" name="Text 17"/>
          <p:cNvSpPr/>
          <p:nvPr/>
        </p:nvSpPr>
        <p:spPr>
          <a:xfrm>
            <a:off x="530352" y="3712464"/>
            <a:ext cx="2377440" cy="365760"/>
          </a:xfrm>
          <a:prstGeom prst="rect">
            <a:avLst/>
          </a:prstGeom>
          <a:noFill/>
          <a:ln/>
        </p:spPr>
        <p:txBody>
          <a:bodyPr wrap="square" lIns="0" tIns="0" rIns="0" bIns="0" rtlCol="0" anchor="ctr"/>
          <a:lstStyle/>
          <a:p>
            <a:pPr indent="0" marL="0">
              <a:buNone/>
            </a:pPr>
            <a:r>
              <a:rPr lang="en-US" sz="780" dirty="0">
                <a:solidFill>
                  <a:srgbClr val="6A97B0"/>
                </a:solidFill>
                <a:latin typeface="Calibri" pitchFamily="34" charset="0"/>
                <a:ea typeface="Calibri" pitchFamily="34" charset="-122"/>
                <a:cs typeface="Calibri" pitchFamily="34" charset="-120"/>
              </a:rPr>
              <a:t>Directly supports role: quick turnaround on critical defect prototype builds</a:t>
            </a:r>
            <a:endParaRPr lang="en-US" sz="780" dirty="0"/>
          </a:p>
        </p:txBody>
      </p:sp>
      <p:sp>
        <p:nvSpPr>
          <p:cNvPr id="21" name="Shape 18"/>
          <p:cNvSpPr/>
          <p:nvPr/>
        </p:nvSpPr>
        <p:spPr>
          <a:xfrm>
            <a:off x="3246120" y="777240"/>
            <a:ext cx="2834640" cy="4187952"/>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22" name="Shape 19"/>
          <p:cNvSpPr/>
          <p:nvPr/>
        </p:nvSpPr>
        <p:spPr>
          <a:xfrm>
            <a:off x="3246120" y="777240"/>
            <a:ext cx="2834640" cy="54864"/>
          </a:xfrm>
          <a:prstGeom prst="rect">
            <a:avLst/>
          </a:prstGeom>
          <a:solidFill>
            <a:srgbClr val="2ECC71"/>
          </a:solidFill>
          <a:ln/>
        </p:spPr>
      </p:sp>
      <p:pic>
        <p:nvPicPr>
          <p:cNvPr id="23" name="Image 1" descr="preencoded.png"/>
          <p:cNvPicPr>
            <a:picLocks noChangeAspect="1"/>
          </p:cNvPicPr>
          <p:nvPr/>
        </p:nvPicPr>
        <p:blipFill>
          <a:blip r:embed="rId2"/>
          <a:stretch>
            <a:fillRect/>
          </a:stretch>
        </p:blipFill>
        <p:spPr>
          <a:xfrm>
            <a:off x="4434840" y="950976"/>
            <a:ext cx="457200" cy="457200"/>
          </a:xfrm>
          <a:prstGeom prst="rect">
            <a:avLst/>
          </a:prstGeom>
        </p:spPr>
      </p:pic>
      <p:sp>
        <p:nvSpPr>
          <p:cNvPr id="24" name="Text 20"/>
          <p:cNvSpPr/>
          <p:nvPr/>
        </p:nvSpPr>
        <p:spPr>
          <a:xfrm>
            <a:off x="3337560" y="1481328"/>
            <a:ext cx="2651760" cy="365760"/>
          </a:xfrm>
          <a:prstGeom prst="rect">
            <a:avLst/>
          </a:prstGeom>
          <a:noFill/>
          <a:ln/>
        </p:spPr>
        <p:txBody>
          <a:bodyPr wrap="square" lIns="0" tIns="0" rIns="0" bIns="0" rtlCol="0" anchor="ctr"/>
          <a:lstStyle/>
          <a:p>
            <a:pPr algn="ctr" indent="0" marL="0">
              <a:buNone/>
            </a:pPr>
            <a:r>
              <a:rPr lang="en-US" sz="1600" b="1" dirty="0">
                <a:solidFill>
                  <a:srgbClr val="2ECC71"/>
                </a:solidFill>
                <a:latin typeface="Trebuchet MS" pitchFamily="34" charset="0"/>
                <a:ea typeface="Trebuchet MS" pitchFamily="34" charset="-122"/>
                <a:cs typeface="Trebuchet MS" pitchFamily="34" charset="-120"/>
              </a:rPr>
              <a:t>Testing</a:t>
            </a:r>
            <a:endParaRPr lang="en-US" sz="1600" dirty="0"/>
          </a:p>
        </p:txBody>
      </p:sp>
      <p:sp>
        <p:nvSpPr>
          <p:cNvPr id="25" name="Text 21"/>
          <p:cNvSpPr/>
          <p:nvPr/>
        </p:nvSpPr>
        <p:spPr>
          <a:xfrm>
            <a:off x="3383280" y="1892808"/>
            <a:ext cx="2560320" cy="438912"/>
          </a:xfrm>
          <a:prstGeom prst="rect">
            <a:avLst/>
          </a:prstGeom>
          <a:noFill/>
          <a:ln/>
        </p:spPr>
        <p:txBody>
          <a:bodyPr wrap="square" lIns="0" tIns="0" rIns="0" bIns="0" rtlCol="0" anchor="ctr"/>
          <a:lstStyle/>
          <a:p>
            <a:pPr algn="ctr" indent="0" marL="0">
              <a:buNone/>
            </a:pPr>
            <a:r>
              <a:rPr lang="en-US" sz="850" i="1" dirty="0">
                <a:solidFill>
                  <a:srgbClr val="B8D4E0"/>
                </a:solidFill>
                <a:latin typeface="Calibri" pitchFamily="34" charset="0"/>
                <a:ea typeface="Calibri" pitchFamily="34" charset="-122"/>
                <a:cs typeface="Calibri" pitchFamily="34" charset="-120"/>
              </a:rPr>
              <a:t>Unit test domain business rules with plain objects — zero hardware dependency.</a:t>
            </a:r>
            <a:endParaRPr lang="en-US" sz="850" dirty="0"/>
          </a:p>
        </p:txBody>
      </p:sp>
      <p:sp>
        <p:nvSpPr>
          <p:cNvPr id="26" name="Shape 22"/>
          <p:cNvSpPr/>
          <p:nvPr/>
        </p:nvSpPr>
        <p:spPr>
          <a:xfrm>
            <a:off x="3383280" y="2450592"/>
            <a:ext cx="2560320" cy="365760"/>
          </a:xfrm>
          <a:prstGeom prst="rect">
            <a:avLst/>
          </a:prstGeom>
          <a:solidFill>
            <a:srgbClr val="1E3A52"/>
          </a:solidFill>
          <a:ln/>
        </p:spPr>
      </p:sp>
      <p:sp>
        <p:nvSpPr>
          <p:cNvPr id="27" name="Shape 23"/>
          <p:cNvSpPr/>
          <p:nvPr/>
        </p:nvSpPr>
        <p:spPr>
          <a:xfrm>
            <a:off x="3383280" y="2450592"/>
            <a:ext cx="54864" cy="365760"/>
          </a:xfrm>
          <a:prstGeom prst="rect">
            <a:avLst/>
          </a:prstGeom>
          <a:solidFill>
            <a:srgbClr val="2ECC71"/>
          </a:solidFill>
          <a:ln/>
        </p:spPr>
      </p:sp>
      <p:sp>
        <p:nvSpPr>
          <p:cNvPr id="28" name="Text 24"/>
          <p:cNvSpPr/>
          <p:nvPr/>
        </p:nvSpPr>
        <p:spPr>
          <a:xfrm>
            <a:off x="3502152" y="2450592"/>
            <a:ext cx="2377440" cy="365760"/>
          </a:xfrm>
          <a:prstGeom prst="rect">
            <a:avLst/>
          </a:prstGeom>
          <a:noFill/>
          <a:ln/>
        </p:spPr>
        <p:txBody>
          <a:bodyPr wrap="square" lIns="0" tIns="0" rIns="0" bIns="0" rtlCol="0" anchor="ctr"/>
          <a:lstStyle/>
          <a:p>
            <a:pPr indent="0" marL="0">
              <a:buNone/>
            </a:pPr>
            <a:r>
              <a:rPr lang="en-US" sz="780" dirty="0">
                <a:solidFill>
                  <a:srgbClr val="6A97B0"/>
                </a:solidFill>
                <a:latin typeface="Calibri" pitchFamily="34" charset="0"/>
                <a:ea typeface="Calibri" pitchFamily="34" charset="-122"/>
                <a:cs typeface="Calibri" pitchFamily="34" charset="-120"/>
              </a:rPr>
              <a:t>Cockburn: 'run automated regression-tests against the application' — primary motivation</a:t>
            </a:r>
            <a:endParaRPr lang="en-US" sz="780" dirty="0"/>
          </a:p>
        </p:txBody>
      </p:sp>
      <p:sp>
        <p:nvSpPr>
          <p:cNvPr id="29" name="Shape 25"/>
          <p:cNvSpPr/>
          <p:nvPr/>
        </p:nvSpPr>
        <p:spPr>
          <a:xfrm>
            <a:off x="3383280" y="2871216"/>
            <a:ext cx="2560320" cy="365760"/>
          </a:xfrm>
          <a:prstGeom prst="rect">
            <a:avLst/>
          </a:prstGeom>
          <a:solidFill>
            <a:srgbClr val="1E3A52"/>
          </a:solidFill>
          <a:ln/>
        </p:spPr>
      </p:sp>
      <p:sp>
        <p:nvSpPr>
          <p:cNvPr id="30" name="Shape 26"/>
          <p:cNvSpPr/>
          <p:nvPr/>
        </p:nvSpPr>
        <p:spPr>
          <a:xfrm>
            <a:off x="3383280" y="2871216"/>
            <a:ext cx="54864" cy="365760"/>
          </a:xfrm>
          <a:prstGeom prst="rect">
            <a:avLst/>
          </a:prstGeom>
          <a:solidFill>
            <a:srgbClr val="2ECC71"/>
          </a:solidFill>
          <a:ln/>
        </p:spPr>
      </p:sp>
      <p:sp>
        <p:nvSpPr>
          <p:cNvPr id="31" name="Text 27"/>
          <p:cNvSpPr/>
          <p:nvPr/>
        </p:nvSpPr>
        <p:spPr>
          <a:xfrm>
            <a:off x="3502152" y="2871216"/>
            <a:ext cx="2377440" cy="365760"/>
          </a:xfrm>
          <a:prstGeom prst="rect">
            <a:avLst/>
          </a:prstGeom>
          <a:noFill/>
          <a:ln/>
        </p:spPr>
        <p:txBody>
          <a:bodyPr wrap="square" lIns="0" tIns="0" rIns="0" bIns="0" rtlCol="0" anchor="ctr"/>
          <a:lstStyle/>
          <a:p>
            <a:pPr indent="0" marL="0">
              <a:buNone/>
            </a:pPr>
            <a:r>
              <a:rPr lang="en-US" sz="780" dirty="0">
                <a:solidFill>
                  <a:srgbClr val="6A97B0"/>
                </a:solidFill>
                <a:latin typeface="Calibri" pitchFamily="34" charset="0"/>
                <a:ea typeface="Calibri" pitchFamily="34" charset="-122"/>
                <a:cs typeface="Calibri" pitchFamily="34" charset="-120"/>
              </a:rPr>
              <a:t>No mocking framework needed: inject a stub port, exercise the use case directly</a:t>
            </a:r>
            <a:endParaRPr lang="en-US" sz="780" dirty="0"/>
          </a:p>
        </p:txBody>
      </p:sp>
      <p:sp>
        <p:nvSpPr>
          <p:cNvPr id="32" name="Shape 28"/>
          <p:cNvSpPr/>
          <p:nvPr/>
        </p:nvSpPr>
        <p:spPr>
          <a:xfrm>
            <a:off x="3383280" y="3291840"/>
            <a:ext cx="2560320" cy="365760"/>
          </a:xfrm>
          <a:prstGeom prst="rect">
            <a:avLst/>
          </a:prstGeom>
          <a:solidFill>
            <a:srgbClr val="1E3A52"/>
          </a:solidFill>
          <a:ln/>
        </p:spPr>
      </p:sp>
      <p:sp>
        <p:nvSpPr>
          <p:cNvPr id="33" name="Shape 29"/>
          <p:cNvSpPr/>
          <p:nvPr/>
        </p:nvSpPr>
        <p:spPr>
          <a:xfrm>
            <a:off x="3383280" y="3291840"/>
            <a:ext cx="54864" cy="365760"/>
          </a:xfrm>
          <a:prstGeom prst="rect">
            <a:avLst/>
          </a:prstGeom>
          <a:solidFill>
            <a:srgbClr val="2ECC71"/>
          </a:solidFill>
          <a:ln/>
        </p:spPr>
      </p:sp>
      <p:sp>
        <p:nvSpPr>
          <p:cNvPr id="34" name="Text 30"/>
          <p:cNvSpPr/>
          <p:nvPr/>
        </p:nvSpPr>
        <p:spPr>
          <a:xfrm>
            <a:off x="3502152" y="3291840"/>
            <a:ext cx="2377440" cy="365760"/>
          </a:xfrm>
          <a:prstGeom prst="rect">
            <a:avLst/>
          </a:prstGeom>
          <a:noFill/>
          <a:ln/>
        </p:spPr>
        <p:txBody>
          <a:bodyPr wrap="square" lIns="0" tIns="0" rIns="0" bIns="0" rtlCol="0" anchor="ctr"/>
          <a:lstStyle/>
          <a:p>
            <a:pPr indent="0" marL="0">
              <a:buNone/>
            </a:pPr>
            <a:r>
              <a:rPr lang="en-US" sz="780" dirty="0">
                <a:solidFill>
                  <a:srgbClr val="6A97B0"/>
                </a:solidFill>
                <a:latin typeface="Calibri" pitchFamily="34" charset="0"/>
                <a:ea typeface="Calibri" pitchFamily="34" charset="-122"/>
                <a:cs typeface="Calibri" pitchFamily="34" charset="-120"/>
              </a:rPr>
              <a:t>Test pyramid enforced by architecture, not just team discipline</a:t>
            </a:r>
            <a:endParaRPr lang="en-US" sz="780" dirty="0"/>
          </a:p>
        </p:txBody>
      </p:sp>
      <p:sp>
        <p:nvSpPr>
          <p:cNvPr id="35" name="Shape 31"/>
          <p:cNvSpPr/>
          <p:nvPr/>
        </p:nvSpPr>
        <p:spPr>
          <a:xfrm>
            <a:off x="3383280" y="3712464"/>
            <a:ext cx="2560320" cy="365760"/>
          </a:xfrm>
          <a:prstGeom prst="rect">
            <a:avLst/>
          </a:prstGeom>
          <a:solidFill>
            <a:srgbClr val="1E3A52"/>
          </a:solidFill>
          <a:ln/>
        </p:spPr>
      </p:sp>
      <p:sp>
        <p:nvSpPr>
          <p:cNvPr id="36" name="Shape 32"/>
          <p:cNvSpPr/>
          <p:nvPr/>
        </p:nvSpPr>
        <p:spPr>
          <a:xfrm>
            <a:off x="3383280" y="3712464"/>
            <a:ext cx="54864" cy="365760"/>
          </a:xfrm>
          <a:prstGeom prst="rect">
            <a:avLst/>
          </a:prstGeom>
          <a:solidFill>
            <a:srgbClr val="2ECC71"/>
          </a:solidFill>
          <a:ln/>
        </p:spPr>
      </p:sp>
      <p:sp>
        <p:nvSpPr>
          <p:cNvPr id="37" name="Text 33"/>
          <p:cNvSpPr/>
          <p:nvPr/>
        </p:nvSpPr>
        <p:spPr>
          <a:xfrm>
            <a:off x="3502152" y="3712464"/>
            <a:ext cx="2377440" cy="365760"/>
          </a:xfrm>
          <a:prstGeom prst="rect">
            <a:avLst/>
          </a:prstGeom>
          <a:noFill/>
          <a:ln/>
        </p:spPr>
        <p:txBody>
          <a:bodyPr wrap="square" lIns="0" tIns="0" rIns="0" bIns="0" rtlCol="0" anchor="ctr"/>
          <a:lstStyle/>
          <a:p>
            <a:pPr indent="0" marL="0">
              <a:buNone/>
            </a:pPr>
            <a:r>
              <a:rPr lang="en-US" sz="780" dirty="0">
                <a:solidFill>
                  <a:srgbClr val="6A97B0"/>
                </a:solidFill>
                <a:latin typeface="Calibri" pitchFamily="34" charset="0"/>
                <a:ea typeface="Calibri" pitchFamily="34" charset="-122"/>
                <a:cs typeface="Calibri" pitchFamily="34" charset="-120"/>
              </a:rPr>
              <a:t>CI pipeline runs full domain test suite in milliseconds, not minutes</a:t>
            </a:r>
            <a:endParaRPr lang="en-US" sz="780" dirty="0"/>
          </a:p>
        </p:txBody>
      </p:sp>
      <p:sp>
        <p:nvSpPr>
          <p:cNvPr id="38" name="Shape 34"/>
          <p:cNvSpPr/>
          <p:nvPr/>
        </p:nvSpPr>
        <p:spPr>
          <a:xfrm>
            <a:off x="6217920" y="777240"/>
            <a:ext cx="2834640" cy="4187952"/>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39" name="Shape 35"/>
          <p:cNvSpPr/>
          <p:nvPr/>
        </p:nvSpPr>
        <p:spPr>
          <a:xfrm>
            <a:off x="6217920" y="777240"/>
            <a:ext cx="2834640" cy="54864"/>
          </a:xfrm>
          <a:prstGeom prst="rect">
            <a:avLst/>
          </a:prstGeom>
          <a:solidFill>
            <a:srgbClr val="00C2CB"/>
          </a:solidFill>
          <a:ln/>
        </p:spPr>
      </p:sp>
      <p:pic>
        <p:nvPicPr>
          <p:cNvPr id="40" name="Image 2" descr="preencoded.png"/>
          <p:cNvPicPr>
            <a:picLocks noChangeAspect="1"/>
          </p:cNvPicPr>
          <p:nvPr/>
        </p:nvPicPr>
        <p:blipFill>
          <a:blip r:embed="rId3"/>
          <a:stretch>
            <a:fillRect/>
          </a:stretch>
        </p:blipFill>
        <p:spPr>
          <a:xfrm>
            <a:off x="7406640" y="950976"/>
            <a:ext cx="457200" cy="457200"/>
          </a:xfrm>
          <a:prstGeom prst="rect">
            <a:avLst/>
          </a:prstGeom>
        </p:spPr>
      </p:pic>
      <p:sp>
        <p:nvSpPr>
          <p:cNvPr id="41" name="Text 36"/>
          <p:cNvSpPr/>
          <p:nvPr/>
        </p:nvSpPr>
        <p:spPr>
          <a:xfrm>
            <a:off x="6309360" y="1481328"/>
            <a:ext cx="2651760" cy="365760"/>
          </a:xfrm>
          <a:prstGeom prst="rect">
            <a:avLst/>
          </a:prstGeom>
          <a:noFill/>
          <a:ln/>
        </p:spPr>
        <p:txBody>
          <a:bodyPr wrap="square" lIns="0" tIns="0" rIns="0" bIns="0" rtlCol="0" anchor="ctr"/>
          <a:lstStyle/>
          <a:p>
            <a:pPr algn="ctr" indent="0" marL="0">
              <a:buNone/>
            </a:pPr>
            <a:r>
              <a:rPr lang="en-US" sz="1600" b="1" dirty="0">
                <a:solidFill>
                  <a:srgbClr val="00C2CB"/>
                </a:solidFill>
                <a:latin typeface="Trebuchet MS" pitchFamily="34" charset="0"/>
                <a:ea typeface="Trebuchet MS" pitchFamily="34" charset="-122"/>
                <a:cs typeface="Trebuchet MS" pitchFamily="34" charset="-120"/>
              </a:rPr>
              <a:t>Extensibility</a:t>
            </a:r>
            <a:endParaRPr lang="en-US" sz="1600" dirty="0"/>
          </a:p>
        </p:txBody>
      </p:sp>
      <p:sp>
        <p:nvSpPr>
          <p:cNvPr id="42" name="Text 37"/>
          <p:cNvSpPr/>
          <p:nvPr/>
        </p:nvSpPr>
        <p:spPr>
          <a:xfrm>
            <a:off x="6355080" y="1892808"/>
            <a:ext cx="2560320" cy="438912"/>
          </a:xfrm>
          <a:prstGeom prst="rect">
            <a:avLst/>
          </a:prstGeom>
          <a:noFill/>
          <a:ln/>
        </p:spPr>
        <p:txBody>
          <a:bodyPr wrap="square" lIns="0" tIns="0" rIns="0" bIns="0" rtlCol="0" anchor="ctr"/>
          <a:lstStyle/>
          <a:p>
            <a:pPr algn="ctr" indent="0" marL="0">
              <a:buNone/>
            </a:pPr>
            <a:r>
              <a:rPr lang="en-US" sz="850" i="1" dirty="0">
                <a:solidFill>
                  <a:srgbClr val="B8D4E0"/>
                </a:solidFill>
                <a:latin typeface="Calibri" pitchFamily="34" charset="0"/>
                <a:ea typeface="Calibri" pitchFamily="34" charset="-122"/>
                <a:cs typeface="Calibri" pitchFamily="34" charset="-120"/>
              </a:rPr>
              <a:t>New protocol, new UI platform, new data source — zero domain changes.</a:t>
            </a:r>
            <a:endParaRPr lang="en-US" sz="850" dirty="0"/>
          </a:p>
        </p:txBody>
      </p:sp>
      <p:sp>
        <p:nvSpPr>
          <p:cNvPr id="43" name="Shape 38"/>
          <p:cNvSpPr/>
          <p:nvPr/>
        </p:nvSpPr>
        <p:spPr>
          <a:xfrm>
            <a:off x="6355080" y="2450592"/>
            <a:ext cx="2560320" cy="365760"/>
          </a:xfrm>
          <a:prstGeom prst="rect">
            <a:avLst/>
          </a:prstGeom>
          <a:solidFill>
            <a:srgbClr val="1E3A52"/>
          </a:solidFill>
          <a:ln/>
        </p:spPr>
      </p:sp>
      <p:sp>
        <p:nvSpPr>
          <p:cNvPr id="44" name="Shape 39"/>
          <p:cNvSpPr/>
          <p:nvPr/>
        </p:nvSpPr>
        <p:spPr>
          <a:xfrm>
            <a:off x="6355080" y="2450592"/>
            <a:ext cx="54864" cy="365760"/>
          </a:xfrm>
          <a:prstGeom prst="rect">
            <a:avLst/>
          </a:prstGeom>
          <a:solidFill>
            <a:srgbClr val="00C2CB"/>
          </a:solidFill>
          <a:ln/>
        </p:spPr>
      </p:sp>
      <p:sp>
        <p:nvSpPr>
          <p:cNvPr id="45" name="Text 40"/>
          <p:cNvSpPr/>
          <p:nvPr/>
        </p:nvSpPr>
        <p:spPr>
          <a:xfrm>
            <a:off x="6473952" y="2450592"/>
            <a:ext cx="2377440" cy="365760"/>
          </a:xfrm>
          <a:prstGeom prst="rect">
            <a:avLst/>
          </a:prstGeom>
          <a:noFill/>
          <a:ln/>
        </p:spPr>
        <p:txBody>
          <a:bodyPr wrap="square" lIns="0" tIns="0" rIns="0" bIns="0" rtlCol="0" anchor="ctr"/>
          <a:lstStyle/>
          <a:p>
            <a:pPr indent="0" marL="0">
              <a:buNone/>
            </a:pPr>
            <a:r>
              <a:rPr lang="en-US" sz="780" dirty="0">
                <a:solidFill>
                  <a:srgbClr val="6A97B0"/>
                </a:solidFill>
                <a:latin typeface="Calibri" pitchFamily="34" charset="0"/>
                <a:ea typeface="Calibri" pitchFamily="34" charset="-122"/>
                <a:cs typeface="Calibri" pitchFamily="34" charset="-120"/>
              </a:rPr>
              <a:t>Cockburn's weather system example: add HTTP + email by writing two new adapters only</a:t>
            </a:r>
            <a:endParaRPr lang="en-US" sz="780" dirty="0"/>
          </a:p>
        </p:txBody>
      </p:sp>
      <p:sp>
        <p:nvSpPr>
          <p:cNvPr id="46" name="Shape 41"/>
          <p:cNvSpPr/>
          <p:nvPr/>
        </p:nvSpPr>
        <p:spPr>
          <a:xfrm>
            <a:off x="6355080" y="2871216"/>
            <a:ext cx="2560320" cy="365760"/>
          </a:xfrm>
          <a:prstGeom prst="rect">
            <a:avLst/>
          </a:prstGeom>
          <a:solidFill>
            <a:srgbClr val="1E3A52"/>
          </a:solidFill>
          <a:ln/>
        </p:spPr>
      </p:sp>
      <p:sp>
        <p:nvSpPr>
          <p:cNvPr id="47" name="Shape 42"/>
          <p:cNvSpPr/>
          <p:nvPr/>
        </p:nvSpPr>
        <p:spPr>
          <a:xfrm>
            <a:off x="6355080" y="2871216"/>
            <a:ext cx="54864" cy="365760"/>
          </a:xfrm>
          <a:prstGeom prst="rect">
            <a:avLst/>
          </a:prstGeom>
          <a:solidFill>
            <a:srgbClr val="00C2CB"/>
          </a:solidFill>
          <a:ln/>
        </p:spPr>
      </p:sp>
      <p:sp>
        <p:nvSpPr>
          <p:cNvPr id="48" name="Text 43"/>
          <p:cNvSpPr/>
          <p:nvPr/>
        </p:nvSpPr>
        <p:spPr>
          <a:xfrm>
            <a:off x="6473952" y="2871216"/>
            <a:ext cx="2377440" cy="365760"/>
          </a:xfrm>
          <a:prstGeom prst="rect">
            <a:avLst/>
          </a:prstGeom>
          <a:noFill/>
          <a:ln/>
        </p:spPr>
        <p:txBody>
          <a:bodyPr wrap="square" lIns="0" tIns="0" rIns="0" bIns="0" rtlCol="0" anchor="ctr"/>
          <a:lstStyle/>
          <a:p>
            <a:pPr indent="0" marL="0">
              <a:buNone/>
            </a:pPr>
            <a:r>
              <a:rPr lang="en-US" sz="780" dirty="0">
                <a:solidFill>
                  <a:srgbClr val="6A97B0"/>
                </a:solidFill>
                <a:latin typeface="Calibri" pitchFamily="34" charset="0"/>
                <a:ea typeface="Calibri" pitchFamily="34" charset="-122"/>
                <a:cs typeface="Calibri" pitchFamily="34" charset="-120"/>
              </a:rPr>
              <a:t>Add LIN bus support: one new driven adapter, domain and ports untouched</a:t>
            </a:r>
            <a:endParaRPr lang="en-US" sz="780" dirty="0"/>
          </a:p>
        </p:txBody>
      </p:sp>
      <p:sp>
        <p:nvSpPr>
          <p:cNvPr id="49" name="Shape 44"/>
          <p:cNvSpPr/>
          <p:nvPr/>
        </p:nvSpPr>
        <p:spPr>
          <a:xfrm>
            <a:off x="6355080" y="3291840"/>
            <a:ext cx="2560320" cy="365760"/>
          </a:xfrm>
          <a:prstGeom prst="rect">
            <a:avLst/>
          </a:prstGeom>
          <a:solidFill>
            <a:srgbClr val="1E3A52"/>
          </a:solidFill>
          <a:ln/>
        </p:spPr>
      </p:sp>
      <p:sp>
        <p:nvSpPr>
          <p:cNvPr id="50" name="Shape 45"/>
          <p:cNvSpPr/>
          <p:nvPr/>
        </p:nvSpPr>
        <p:spPr>
          <a:xfrm>
            <a:off x="6355080" y="3291840"/>
            <a:ext cx="54864" cy="365760"/>
          </a:xfrm>
          <a:prstGeom prst="rect">
            <a:avLst/>
          </a:prstGeom>
          <a:solidFill>
            <a:srgbClr val="00C2CB"/>
          </a:solidFill>
          <a:ln/>
        </p:spPr>
      </p:sp>
      <p:sp>
        <p:nvSpPr>
          <p:cNvPr id="51" name="Text 46"/>
          <p:cNvSpPr/>
          <p:nvPr/>
        </p:nvSpPr>
        <p:spPr>
          <a:xfrm>
            <a:off x="6473952" y="3291840"/>
            <a:ext cx="2377440" cy="365760"/>
          </a:xfrm>
          <a:prstGeom prst="rect">
            <a:avLst/>
          </a:prstGeom>
          <a:noFill/>
          <a:ln/>
        </p:spPr>
        <p:txBody>
          <a:bodyPr wrap="square" lIns="0" tIns="0" rIns="0" bIns="0" rtlCol="0" anchor="ctr"/>
          <a:lstStyle/>
          <a:p>
            <a:pPr indent="0" marL="0">
              <a:buNone/>
            </a:pPr>
            <a:r>
              <a:rPr lang="en-US" sz="780" dirty="0">
                <a:solidFill>
                  <a:srgbClr val="6A97B0"/>
                </a:solidFill>
                <a:latin typeface="Calibri" pitchFamily="34" charset="0"/>
                <a:ea typeface="Calibri" pitchFamily="34" charset="-122"/>
                <a:cs typeface="Calibri" pitchFamily="34" charset="-120"/>
              </a:rPr>
              <a:t>QML and Android UI share one domain — true multi-platform HMI from one codebase</a:t>
            </a:r>
            <a:endParaRPr lang="en-US" sz="780" dirty="0"/>
          </a:p>
        </p:txBody>
      </p:sp>
      <p:sp>
        <p:nvSpPr>
          <p:cNvPr id="52" name="Shape 47"/>
          <p:cNvSpPr/>
          <p:nvPr/>
        </p:nvSpPr>
        <p:spPr>
          <a:xfrm>
            <a:off x="6355080" y="3712464"/>
            <a:ext cx="2560320" cy="365760"/>
          </a:xfrm>
          <a:prstGeom prst="rect">
            <a:avLst/>
          </a:prstGeom>
          <a:solidFill>
            <a:srgbClr val="1E3A52"/>
          </a:solidFill>
          <a:ln/>
        </p:spPr>
      </p:sp>
      <p:sp>
        <p:nvSpPr>
          <p:cNvPr id="53" name="Shape 48"/>
          <p:cNvSpPr/>
          <p:nvPr/>
        </p:nvSpPr>
        <p:spPr>
          <a:xfrm>
            <a:off x="6355080" y="3712464"/>
            <a:ext cx="54864" cy="365760"/>
          </a:xfrm>
          <a:prstGeom prst="rect">
            <a:avLst/>
          </a:prstGeom>
          <a:solidFill>
            <a:srgbClr val="00C2CB"/>
          </a:solidFill>
          <a:ln/>
        </p:spPr>
      </p:sp>
      <p:sp>
        <p:nvSpPr>
          <p:cNvPr id="54" name="Text 49"/>
          <p:cNvSpPr/>
          <p:nvPr/>
        </p:nvSpPr>
        <p:spPr>
          <a:xfrm>
            <a:off x="6473952" y="3712464"/>
            <a:ext cx="2377440" cy="365760"/>
          </a:xfrm>
          <a:prstGeom prst="rect">
            <a:avLst/>
          </a:prstGeom>
          <a:noFill/>
          <a:ln/>
        </p:spPr>
        <p:txBody>
          <a:bodyPr wrap="square" lIns="0" tIns="0" rIns="0" bIns="0" rtlCol="0" anchor="ctr"/>
          <a:lstStyle/>
          <a:p>
            <a:pPr indent="0" marL="0">
              <a:buNone/>
            </a:pPr>
            <a:r>
              <a:rPr lang="en-US" sz="780" dirty="0">
                <a:solidFill>
                  <a:srgbClr val="6A97B0"/>
                </a:solidFill>
                <a:latin typeface="Calibri" pitchFamily="34" charset="0"/>
                <a:ea typeface="Calibri" pitchFamily="34" charset="-122"/>
                <a:cs typeface="Calibri" pitchFamily="34" charset="-120"/>
              </a:rPr>
              <a:t>SOA evolution: adapters become microservice endpoints with zero domain refactoring</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263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929"/>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700" b="1" dirty="0">
                <a:solidFill>
                  <a:srgbClr val="00C2CB"/>
                </a:solidFill>
                <a:latin typeface="Trebuchet MS" pitchFamily="34" charset="0"/>
                <a:ea typeface="Trebuchet MS" pitchFamily="34" charset="-122"/>
                <a:cs typeface="Trebuchet MS" pitchFamily="34" charset="-120"/>
              </a:rPr>
              <a:t>04  HA in HMI, AUTOSAR &amp; ISO 26262 — Automotive Alignment</a:t>
            </a:r>
            <a:endParaRPr lang="en-US" sz="1700" dirty="0"/>
          </a:p>
        </p:txBody>
      </p:sp>
      <p:sp>
        <p:nvSpPr>
          <p:cNvPr id="4" name="Shape 2"/>
          <p:cNvSpPr/>
          <p:nvPr/>
        </p:nvSpPr>
        <p:spPr>
          <a:xfrm>
            <a:off x="256032" y="777240"/>
            <a:ext cx="4187952" cy="4187952"/>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5" name="Text 3"/>
          <p:cNvSpPr/>
          <p:nvPr/>
        </p:nvSpPr>
        <p:spPr>
          <a:xfrm>
            <a:off x="347472" y="841248"/>
            <a:ext cx="4005072" cy="347472"/>
          </a:xfrm>
          <a:prstGeom prst="rect">
            <a:avLst/>
          </a:prstGeom>
          <a:noFill/>
          <a:ln/>
        </p:spPr>
        <p:txBody>
          <a:bodyPr wrap="square" lIns="0" tIns="0" rIns="0" bIns="0" rtlCol="0" anchor="ctr"/>
          <a:lstStyle/>
          <a:p>
            <a:pPr algn="ctr" indent="0" marL="0">
              <a:buNone/>
            </a:pPr>
            <a:r>
              <a:rPr lang="en-US" sz="1050" b="1" dirty="0">
                <a:solidFill>
                  <a:srgbClr val="00C2CB"/>
                </a:solidFill>
                <a:latin typeface="Trebuchet MS" pitchFamily="34" charset="0"/>
                <a:ea typeface="Trebuchet MS" pitchFamily="34" charset="-122"/>
                <a:cs typeface="Trebuchet MS" pitchFamily="34" charset="-120"/>
              </a:rPr>
              <a:t>AUTOSAR Classic — Layered SW Architecture</a:t>
            </a:r>
            <a:endParaRPr lang="en-US" sz="1050" dirty="0"/>
          </a:p>
        </p:txBody>
      </p:sp>
      <p:sp>
        <p:nvSpPr>
          <p:cNvPr id="6" name="Shape 4"/>
          <p:cNvSpPr/>
          <p:nvPr/>
        </p:nvSpPr>
        <p:spPr>
          <a:xfrm>
            <a:off x="365760" y="1316736"/>
            <a:ext cx="2633472" cy="502920"/>
          </a:xfrm>
          <a:prstGeom prst="rect">
            <a:avLst/>
          </a:prstGeom>
          <a:solidFill>
            <a:srgbClr val="1E3A52"/>
          </a:solidFill>
          <a:ln/>
          <a:effectLst>
            <a:outerShdw sx="100000" sy="100000" kx="0" ky="0" algn="bl" rotWithShape="0" blurRad="50800" dist="25400" dir="8100000">
              <a:srgbClr val="000000">
                <a:alpha val="20000"/>
              </a:srgbClr>
            </a:outerShdw>
          </a:effectLst>
        </p:spPr>
      </p:sp>
      <p:sp>
        <p:nvSpPr>
          <p:cNvPr id="7" name="Text 5"/>
          <p:cNvSpPr/>
          <p:nvPr/>
        </p:nvSpPr>
        <p:spPr>
          <a:xfrm>
            <a:off x="365760" y="1316736"/>
            <a:ext cx="2633472" cy="502920"/>
          </a:xfrm>
          <a:prstGeom prst="rect">
            <a:avLst/>
          </a:prstGeom>
          <a:noFill/>
          <a:ln/>
        </p:spPr>
        <p:txBody>
          <a:bodyPr wrap="square" lIns="0" tIns="0" rIns="0" bIns="0" rtlCol="0" anchor="ctr"/>
          <a:lstStyle/>
          <a:p>
            <a:pPr algn="ctr" indent="0" marL="0">
              <a:buNone/>
            </a:pPr>
            <a:r>
              <a:rPr lang="en-US" sz="850" b="1" dirty="0">
                <a:solidFill>
                  <a:srgbClr val="EDF4F8"/>
                </a:solidFill>
              </a:rPr>
              <a:t>Application Layer  (SWC)</a:t>
            </a:r>
            <a:endParaRPr lang="en-US" sz="850" dirty="0"/>
          </a:p>
        </p:txBody>
      </p:sp>
      <p:sp>
        <p:nvSpPr>
          <p:cNvPr id="8" name="Shape 6"/>
          <p:cNvSpPr/>
          <p:nvPr/>
        </p:nvSpPr>
        <p:spPr>
          <a:xfrm>
            <a:off x="2999232" y="1568196"/>
            <a:ext cx="201168" cy="0"/>
          </a:xfrm>
          <a:prstGeom prst="line">
            <a:avLst/>
          </a:prstGeom>
          <a:noFill/>
          <a:ln w="19050">
            <a:solidFill>
              <a:srgbClr val="00C2CB"/>
            </a:solidFill>
            <a:prstDash val="solid"/>
          </a:ln>
        </p:spPr>
      </p:sp>
      <p:sp>
        <p:nvSpPr>
          <p:cNvPr id="9" name="Text 7"/>
          <p:cNvSpPr/>
          <p:nvPr/>
        </p:nvSpPr>
        <p:spPr>
          <a:xfrm>
            <a:off x="3218688" y="1408176"/>
            <a:ext cx="1115568" cy="310896"/>
          </a:xfrm>
          <a:prstGeom prst="rect">
            <a:avLst/>
          </a:prstGeom>
          <a:noFill/>
          <a:ln/>
        </p:spPr>
        <p:txBody>
          <a:bodyPr wrap="square" lIns="0" tIns="0" rIns="0" bIns="0" rtlCol="0" anchor="ctr"/>
          <a:lstStyle/>
          <a:p>
            <a:pPr indent="0" marL="0">
              <a:buNone/>
            </a:pPr>
            <a:r>
              <a:rPr lang="en-US" sz="850" b="1" dirty="0">
                <a:solidFill>
                  <a:srgbClr val="00C2CB"/>
                </a:solidFill>
              </a:rPr>
              <a:t>≡ Domain Logic</a:t>
            </a:r>
            <a:endParaRPr lang="en-US" sz="850" dirty="0"/>
          </a:p>
        </p:txBody>
      </p:sp>
      <p:sp>
        <p:nvSpPr>
          <p:cNvPr id="10" name="Shape 8"/>
          <p:cNvSpPr/>
          <p:nvPr/>
        </p:nvSpPr>
        <p:spPr>
          <a:xfrm>
            <a:off x="365760" y="1911096"/>
            <a:ext cx="2633472" cy="502920"/>
          </a:xfrm>
          <a:prstGeom prst="rect">
            <a:avLst/>
          </a:prstGeom>
          <a:solidFill>
            <a:srgbClr val="0099A3"/>
          </a:solidFill>
          <a:ln/>
          <a:effectLst>
            <a:outerShdw sx="100000" sy="100000" kx="0" ky="0" algn="bl" rotWithShape="0" blurRad="50800" dist="25400" dir="8100000">
              <a:srgbClr val="000000">
                <a:alpha val="20000"/>
              </a:srgbClr>
            </a:outerShdw>
          </a:effectLst>
        </p:spPr>
      </p:sp>
      <p:sp>
        <p:nvSpPr>
          <p:cNvPr id="11" name="Text 9"/>
          <p:cNvSpPr/>
          <p:nvPr/>
        </p:nvSpPr>
        <p:spPr>
          <a:xfrm>
            <a:off x="365760" y="1911096"/>
            <a:ext cx="2633472" cy="502920"/>
          </a:xfrm>
          <a:prstGeom prst="rect">
            <a:avLst/>
          </a:prstGeom>
          <a:noFill/>
          <a:ln/>
        </p:spPr>
        <p:txBody>
          <a:bodyPr wrap="square" lIns="0" tIns="0" rIns="0" bIns="0" rtlCol="0" anchor="ctr"/>
          <a:lstStyle/>
          <a:p>
            <a:pPr algn="ctr" indent="0" marL="0">
              <a:buNone/>
            </a:pPr>
            <a:r>
              <a:rPr lang="en-US" sz="850" b="1" dirty="0">
                <a:solidFill>
                  <a:srgbClr val="0B1929"/>
                </a:solidFill>
              </a:rPr>
              <a:t>RTE — Runtime Environment</a:t>
            </a:r>
            <a:endParaRPr lang="en-US" sz="850" dirty="0"/>
          </a:p>
        </p:txBody>
      </p:sp>
      <p:sp>
        <p:nvSpPr>
          <p:cNvPr id="12" name="Shape 10"/>
          <p:cNvSpPr/>
          <p:nvPr/>
        </p:nvSpPr>
        <p:spPr>
          <a:xfrm>
            <a:off x="2999232" y="2162556"/>
            <a:ext cx="201168" cy="0"/>
          </a:xfrm>
          <a:prstGeom prst="line">
            <a:avLst/>
          </a:prstGeom>
          <a:noFill/>
          <a:ln w="19050">
            <a:solidFill>
              <a:srgbClr val="FF6B35"/>
            </a:solidFill>
            <a:prstDash val="solid"/>
          </a:ln>
        </p:spPr>
      </p:sp>
      <p:sp>
        <p:nvSpPr>
          <p:cNvPr id="13" name="Text 11"/>
          <p:cNvSpPr/>
          <p:nvPr/>
        </p:nvSpPr>
        <p:spPr>
          <a:xfrm>
            <a:off x="3218688" y="2002536"/>
            <a:ext cx="1115568" cy="310896"/>
          </a:xfrm>
          <a:prstGeom prst="rect">
            <a:avLst/>
          </a:prstGeom>
          <a:noFill/>
          <a:ln/>
        </p:spPr>
        <p:txBody>
          <a:bodyPr wrap="square" lIns="0" tIns="0" rIns="0" bIns="0" rtlCol="0" anchor="ctr"/>
          <a:lstStyle/>
          <a:p>
            <a:pPr indent="0" marL="0">
              <a:buNone/>
            </a:pPr>
            <a:r>
              <a:rPr lang="en-US" sz="850" b="1" dirty="0">
                <a:solidFill>
                  <a:srgbClr val="FF6B35"/>
                </a:solidFill>
              </a:rPr>
              <a:t>≡ Port Boundary</a:t>
            </a:r>
            <a:endParaRPr lang="en-US" sz="850" dirty="0"/>
          </a:p>
        </p:txBody>
      </p:sp>
      <p:sp>
        <p:nvSpPr>
          <p:cNvPr id="14" name="Shape 12"/>
          <p:cNvSpPr/>
          <p:nvPr/>
        </p:nvSpPr>
        <p:spPr>
          <a:xfrm>
            <a:off x="365760" y="2505456"/>
            <a:ext cx="2633472" cy="502920"/>
          </a:xfrm>
          <a:prstGeom prst="rect">
            <a:avLst/>
          </a:prstGeom>
          <a:solidFill>
            <a:srgbClr val="1E3A52"/>
          </a:solidFill>
          <a:ln/>
          <a:effectLst>
            <a:outerShdw sx="100000" sy="100000" kx="0" ky="0" algn="bl" rotWithShape="0" blurRad="50800" dist="25400" dir="8100000">
              <a:srgbClr val="000000">
                <a:alpha val="20000"/>
              </a:srgbClr>
            </a:outerShdw>
          </a:effectLst>
        </p:spPr>
      </p:sp>
      <p:sp>
        <p:nvSpPr>
          <p:cNvPr id="15" name="Text 13"/>
          <p:cNvSpPr/>
          <p:nvPr/>
        </p:nvSpPr>
        <p:spPr>
          <a:xfrm>
            <a:off x="365760" y="2505456"/>
            <a:ext cx="2633472" cy="502920"/>
          </a:xfrm>
          <a:prstGeom prst="rect">
            <a:avLst/>
          </a:prstGeom>
          <a:noFill/>
          <a:ln/>
        </p:spPr>
        <p:txBody>
          <a:bodyPr wrap="square" lIns="0" tIns="0" rIns="0" bIns="0" rtlCol="0" anchor="ctr"/>
          <a:lstStyle/>
          <a:p>
            <a:pPr algn="ctr" indent="0" marL="0">
              <a:buNone/>
            </a:pPr>
            <a:r>
              <a:rPr lang="en-US" sz="850" b="1" dirty="0">
                <a:solidFill>
                  <a:srgbClr val="EDF4F8"/>
                </a:solidFill>
              </a:rPr>
              <a:t>BSW — Basic Software</a:t>
            </a:r>
            <a:endParaRPr lang="en-US" sz="850" dirty="0"/>
          </a:p>
        </p:txBody>
      </p:sp>
      <p:sp>
        <p:nvSpPr>
          <p:cNvPr id="16" name="Shape 14"/>
          <p:cNvSpPr/>
          <p:nvPr/>
        </p:nvSpPr>
        <p:spPr>
          <a:xfrm>
            <a:off x="2999232" y="2756916"/>
            <a:ext cx="201168" cy="0"/>
          </a:xfrm>
          <a:prstGeom prst="line">
            <a:avLst/>
          </a:prstGeom>
          <a:noFill/>
          <a:ln w="19050">
            <a:solidFill>
              <a:srgbClr val="2ECC71"/>
            </a:solidFill>
            <a:prstDash val="solid"/>
          </a:ln>
        </p:spPr>
      </p:sp>
      <p:sp>
        <p:nvSpPr>
          <p:cNvPr id="17" name="Text 15"/>
          <p:cNvSpPr/>
          <p:nvPr/>
        </p:nvSpPr>
        <p:spPr>
          <a:xfrm>
            <a:off x="3218688" y="2596896"/>
            <a:ext cx="1115568" cy="310896"/>
          </a:xfrm>
          <a:prstGeom prst="rect">
            <a:avLst/>
          </a:prstGeom>
          <a:noFill/>
          <a:ln/>
        </p:spPr>
        <p:txBody>
          <a:bodyPr wrap="square" lIns="0" tIns="0" rIns="0" bIns="0" rtlCol="0" anchor="ctr"/>
          <a:lstStyle/>
          <a:p>
            <a:pPr indent="0" marL="0">
              <a:buNone/>
            </a:pPr>
            <a:r>
              <a:rPr lang="en-US" sz="850" b="1" dirty="0">
                <a:solidFill>
                  <a:srgbClr val="2ECC71"/>
                </a:solidFill>
              </a:rPr>
              <a:t>≡ Driven Adapters</a:t>
            </a:r>
            <a:endParaRPr lang="en-US" sz="850" dirty="0"/>
          </a:p>
        </p:txBody>
      </p:sp>
      <p:sp>
        <p:nvSpPr>
          <p:cNvPr id="18" name="Shape 16"/>
          <p:cNvSpPr/>
          <p:nvPr/>
        </p:nvSpPr>
        <p:spPr>
          <a:xfrm>
            <a:off x="365760" y="3099816"/>
            <a:ext cx="2633472" cy="502920"/>
          </a:xfrm>
          <a:prstGeom prst="rect">
            <a:avLst/>
          </a:prstGeom>
          <a:solidFill>
            <a:srgbClr val="3D5A70"/>
          </a:solidFill>
          <a:ln/>
          <a:effectLst>
            <a:outerShdw sx="100000" sy="100000" kx="0" ky="0" algn="bl" rotWithShape="0" blurRad="50800" dist="25400" dir="8100000">
              <a:srgbClr val="000000">
                <a:alpha val="20000"/>
              </a:srgbClr>
            </a:outerShdw>
          </a:effectLst>
        </p:spPr>
      </p:sp>
      <p:sp>
        <p:nvSpPr>
          <p:cNvPr id="19" name="Text 17"/>
          <p:cNvSpPr/>
          <p:nvPr/>
        </p:nvSpPr>
        <p:spPr>
          <a:xfrm>
            <a:off x="365760" y="3099816"/>
            <a:ext cx="2633472" cy="502920"/>
          </a:xfrm>
          <a:prstGeom prst="rect">
            <a:avLst/>
          </a:prstGeom>
          <a:noFill/>
          <a:ln/>
        </p:spPr>
        <p:txBody>
          <a:bodyPr wrap="square" lIns="0" tIns="0" rIns="0" bIns="0" rtlCol="0" anchor="ctr"/>
          <a:lstStyle/>
          <a:p>
            <a:pPr algn="ctr" indent="0" marL="0">
              <a:buNone/>
            </a:pPr>
            <a:r>
              <a:rPr lang="en-US" sz="850" b="1" dirty="0">
                <a:solidFill>
                  <a:srgbClr val="B8D4E0"/>
                </a:solidFill>
              </a:rPr>
              <a:t>MCAL — Microcontroller Abstraction</a:t>
            </a:r>
            <a:endParaRPr lang="en-US" sz="850" dirty="0"/>
          </a:p>
        </p:txBody>
      </p:sp>
      <p:sp>
        <p:nvSpPr>
          <p:cNvPr id="20" name="Shape 18"/>
          <p:cNvSpPr/>
          <p:nvPr/>
        </p:nvSpPr>
        <p:spPr>
          <a:xfrm>
            <a:off x="2999232" y="3351276"/>
            <a:ext cx="201168" cy="0"/>
          </a:xfrm>
          <a:prstGeom prst="line">
            <a:avLst/>
          </a:prstGeom>
          <a:noFill/>
          <a:ln w="19050">
            <a:solidFill>
              <a:srgbClr val="2ECC71"/>
            </a:solidFill>
            <a:prstDash val="solid"/>
          </a:ln>
        </p:spPr>
      </p:sp>
      <p:sp>
        <p:nvSpPr>
          <p:cNvPr id="21" name="Text 19"/>
          <p:cNvSpPr/>
          <p:nvPr/>
        </p:nvSpPr>
        <p:spPr>
          <a:xfrm>
            <a:off x="3218688" y="3191256"/>
            <a:ext cx="1115568" cy="310896"/>
          </a:xfrm>
          <a:prstGeom prst="rect">
            <a:avLst/>
          </a:prstGeom>
          <a:noFill/>
          <a:ln/>
        </p:spPr>
        <p:txBody>
          <a:bodyPr wrap="square" lIns="0" tIns="0" rIns="0" bIns="0" rtlCol="0" anchor="ctr"/>
          <a:lstStyle/>
          <a:p>
            <a:pPr indent="0" marL="0">
              <a:buNone/>
            </a:pPr>
            <a:r>
              <a:rPr lang="en-US" sz="850" b="1" dirty="0">
                <a:solidFill>
                  <a:srgbClr val="2ECC71"/>
                </a:solidFill>
              </a:rPr>
              <a:t>≡ HW Adapter</a:t>
            </a:r>
            <a:endParaRPr lang="en-US" sz="850" dirty="0"/>
          </a:p>
        </p:txBody>
      </p:sp>
      <p:sp>
        <p:nvSpPr>
          <p:cNvPr id="22" name="Shape 20"/>
          <p:cNvSpPr/>
          <p:nvPr/>
        </p:nvSpPr>
        <p:spPr>
          <a:xfrm>
            <a:off x="365760" y="3694176"/>
            <a:ext cx="2633472" cy="502920"/>
          </a:xfrm>
          <a:prstGeom prst="rect">
            <a:avLst/>
          </a:prstGeom>
          <a:solidFill>
            <a:srgbClr val="0B1929"/>
          </a:solidFill>
          <a:ln/>
          <a:effectLst>
            <a:outerShdw sx="100000" sy="100000" kx="0" ky="0" algn="bl" rotWithShape="0" blurRad="50800" dist="25400" dir="8100000">
              <a:srgbClr val="000000">
                <a:alpha val="20000"/>
              </a:srgbClr>
            </a:outerShdw>
          </a:effectLst>
        </p:spPr>
      </p:sp>
      <p:sp>
        <p:nvSpPr>
          <p:cNvPr id="23" name="Text 21"/>
          <p:cNvSpPr/>
          <p:nvPr/>
        </p:nvSpPr>
        <p:spPr>
          <a:xfrm>
            <a:off x="365760" y="3694176"/>
            <a:ext cx="2633472" cy="502920"/>
          </a:xfrm>
          <a:prstGeom prst="rect">
            <a:avLst/>
          </a:prstGeom>
          <a:noFill/>
          <a:ln/>
        </p:spPr>
        <p:txBody>
          <a:bodyPr wrap="square" lIns="0" tIns="0" rIns="0" bIns="0" rtlCol="0" anchor="ctr"/>
          <a:lstStyle/>
          <a:p>
            <a:pPr algn="ctr" indent="0" marL="0">
              <a:buNone/>
            </a:pPr>
            <a:r>
              <a:rPr lang="en-US" sz="850" b="1" dirty="0">
                <a:solidFill>
                  <a:srgbClr val="6A97B0"/>
                </a:solidFill>
              </a:rPr>
              <a:t>Hardware  (ECU / CAN / Sensors)</a:t>
            </a:r>
            <a:endParaRPr lang="en-US" sz="850" dirty="0"/>
          </a:p>
        </p:txBody>
      </p:sp>
      <p:sp>
        <p:nvSpPr>
          <p:cNvPr id="24" name="Shape 22"/>
          <p:cNvSpPr/>
          <p:nvPr/>
        </p:nvSpPr>
        <p:spPr>
          <a:xfrm>
            <a:off x="329184" y="4325112"/>
            <a:ext cx="4041648" cy="530352"/>
          </a:xfrm>
          <a:prstGeom prst="rect">
            <a:avLst/>
          </a:prstGeom>
          <a:solidFill>
            <a:srgbClr val="0B1929"/>
          </a:solidFill>
          <a:ln/>
        </p:spPr>
      </p:sp>
      <p:sp>
        <p:nvSpPr>
          <p:cNvPr id="25" name="Shape 23"/>
          <p:cNvSpPr/>
          <p:nvPr/>
        </p:nvSpPr>
        <p:spPr>
          <a:xfrm>
            <a:off x="329184" y="4325112"/>
            <a:ext cx="91440" cy="530352"/>
          </a:xfrm>
          <a:prstGeom prst="rect">
            <a:avLst/>
          </a:prstGeom>
          <a:solidFill>
            <a:srgbClr val="FF6B35"/>
          </a:solidFill>
          <a:ln/>
        </p:spPr>
      </p:sp>
      <p:sp>
        <p:nvSpPr>
          <p:cNvPr id="26" name="Text 24"/>
          <p:cNvSpPr/>
          <p:nvPr/>
        </p:nvSpPr>
        <p:spPr>
          <a:xfrm>
            <a:off x="475488" y="4325112"/>
            <a:ext cx="3840480" cy="530352"/>
          </a:xfrm>
          <a:prstGeom prst="rect">
            <a:avLst/>
          </a:prstGeom>
          <a:noFill/>
          <a:ln/>
        </p:spPr>
        <p:txBody>
          <a:bodyPr wrap="square" lIns="0" tIns="0" rIns="0" bIns="0" rtlCol="0" anchor="ctr"/>
          <a:lstStyle/>
          <a:p>
            <a:pPr indent="0" marL="0">
              <a:buNone/>
            </a:pPr>
            <a:r>
              <a:rPr lang="en-US" sz="780" dirty="0">
                <a:solidFill>
                  <a:srgbClr val="B8D4E0"/>
                </a:solidFill>
                <a:latin typeface="Calibri" pitchFamily="34" charset="0"/>
                <a:ea typeface="Calibri" pitchFamily="34" charset="-122"/>
                <a:cs typeface="Calibri" pitchFamily="34" charset="-120"/>
              </a:rPr>
              <a:t>ISO 26262 / Functional Safety:  HA's port boundaries provide natural partitions for ASIL decomposition. Safety-critical domain logic is isolated from non-critical adapter code — a direct architectural enabler for functional safety analysis.</a:t>
            </a:r>
            <a:endParaRPr lang="en-US" sz="780" dirty="0"/>
          </a:p>
        </p:txBody>
      </p:sp>
      <p:sp>
        <p:nvSpPr>
          <p:cNvPr id="27" name="Shape 25"/>
          <p:cNvSpPr/>
          <p:nvPr/>
        </p:nvSpPr>
        <p:spPr>
          <a:xfrm>
            <a:off x="4626864" y="777240"/>
            <a:ext cx="4224528" cy="4187952"/>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28" name="Text 26"/>
          <p:cNvSpPr/>
          <p:nvPr/>
        </p:nvSpPr>
        <p:spPr>
          <a:xfrm>
            <a:off x="4718304" y="841248"/>
            <a:ext cx="4041648" cy="347472"/>
          </a:xfrm>
          <a:prstGeom prst="rect">
            <a:avLst/>
          </a:prstGeom>
          <a:noFill/>
          <a:ln/>
        </p:spPr>
        <p:txBody>
          <a:bodyPr wrap="square" lIns="0" tIns="0" rIns="0" bIns="0" rtlCol="0" anchor="ctr"/>
          <a:lstStyle/>
          <a:p>
            <a:pPr algn="ctr" indent="0" marL="0">
              <a:buNone/>
            </a:pPr>
            <a:r>
              <a:rPr lang="en-US" sz="1050" b="1" dirty="0">
                <a:solidFill>
                  <a:srgbClr val="00C2CB"/>
                </a:solidFill>
                <a:latin typeface="Trebuchet MS" pitchFamily="34" charset="0"/>
                <a:ea typeface="Trebuchet MS" pitchFamily="34" charset="-122"/>
                <a:cs typeface="Trebuchet MS" pitchFamily="34" charset="-120"/>
              </a:rPr>
              <a:t>Qt / HMI Rendering &amp; Industry Adoption</a:t>
            </a:r>
            <a:endParaRPr lang="en-US" sz="1050" dirty="0"/>
          </a:p>
        </p:txBody>
      </p:sp>
      <p:sp>
        <p:nvSpPr>
          <p:cNvPr id="29" name="Shape 27"/>
          <p:cNvSpPr/>
          <p:nvPr/>
        </p:nvSpPr>
        <p:spPr>
          <a:xfrm>
            <a:off x="4736592" y="1280160"/>
            <a:ext cx="4005072" cy="749808"/>
          </a:xfrm>
          <a:prstGeom prst="rect">
            <a:avLst/>
          </a:prstGeom>
          <a:solidFill>
            <a:srgbClr val="1E3A52"/>
          </a:solidFill>
          <a:ln/>
          <a:effectLst>
            <a:outerShdw sx="100000" sy="100000" kx="0" ky="0" algn="bl" rotWithShape="0" blurRad="50800" dist="25400" dir="8100000">
              <a:srgbClr val="000000">
                <a:alpha val="20000"/>
              </a:srgbClr>
            </a:outerShdw>
          </a:effectLst>
        </p:spPr>
      </p:sp>
      <p:sp>
        <p:nvSpPr>
          <p:cNvPr id="30" name="Shape 28"/>
          <p:cNvSpPr/>
          <p:nvPr/>
        </p:nvSpPr>
        <p:spPr>
          <a:xfrm>
            <a:off x="4736592" y="1280160"/>
            <a:ext cx="91440" cy="749808"/>
          </a:xfrm>
          <a:prstGeom prst="rect">
            <a:avLst/>
          </a:prstGeom>
          <a:solidFill>
            <a:srgbClr val="00C2CB"/>
          </a:solidFill>
          <a:ln/>
        </p:spPr>
      </p:sp>
      <p:sp>
        <p:nvSpPr>
          <p:cNvPr id="31" name="Text 29"/>
          <p:cNvSpPr/>
          <p:nvPr/>
        </p:nvSpPr>
        <p:spPr>
          <a:xfrm>
            <a:off x="4882896" y="1316736"/>
            <a:ext cx="3749040" cy="274320"/>
          </a:xfrm>
          <a:prstGeom prst="rect">
            <a:avLst/>
          </a:prstGeom>
          <a:noFill/>
          <a:ln/>
        </p:spPr>
        <p:txBody>
          <a:bodyPr wrap="square" lIns="0" tIns="0" rIns="0" bIns="0" rtlCol="0" anchor="ctr"/>
          <a:lstStyle/>
          <a:p>
            <a:pPr indent="0" marL="0">
              <a:buNone/>
            </a:pPr>
            <a:r>
              <a:rPr lang="en-US" sz="1050" b="1" dirty="0">
                <a:solidFill>
                  <a:srgbClr val="00C2CB"/>
                </a:solidFill>
              </a:rPr>
              <a:t>Qt / QML Rendering Adapter</a:t>
            </a:r>
            <a:endParaRPr lang="en-US" sz="1050" dirty="0"/>
          </a:p>
        </p:txBody>
      </p:sp>
      <p:sp>
        <p:nvSpPr>
          <p:cNvPr id="32" name="Text 30"/>
          <p:cNvSpPr/>
          <p:nvPr/>
        </p:nvSpPr>
        <p:spPr>
          <a:xfrm>
            <a:off x="4882896" y="1572768"/>
            <a:ext cx="3749040" cy="402336"/>
          </a:xfrm>
          <a:prstGeom prst="rect">
            <a:avLst/>
          </a:prstGeom>
          <a:noFill/>
          <a:ln/>
        </p:spPr>
        <p:txBody>
          <a:bodyPr wrap="square" lIns="0" tIns="0" rIns="0" bIns="0" rtlCol="0" anchor="ctr"/>
          <a:lstStyle/>
          <a:p>
            <a:pPr indent="0" marL="0">
              <a:buNone/>
            </a:pPr>
            <a:r>
              <a:rPr lang="en-US" sz="800" dirty="0">
                <a:solidFill>
                  <a:srgbClr val="6A97B0"/>
                </a:solidFill>
                <a:latin typeface="Calibri" pitchFamily="34" charset="0"/>
                <a:ea typeface="Calibri" pitchFamily="34" charset="-122"/>
                <a:cs typeface="Calibri" pitchFamily="34" charset="-120"/>
              </a:rPr>
              <a:t>Qt's QML layer is a natural driving adapter — it maps user gestures and display events to use case calls without coupling rendering logic to the vehicle domain. Swap QML for Android HMI: one adapter, zero domain changes.</a:t>
            </a:r>
            <a:endParaRPr lang="en-US" sz="800" dirty="0"/>
          </a:p>
        </p:txBody>
      </p:sp>
      <p:pic>
        <p:nvPicPr>
          <p:cNvPr id="33" name="Image 0" descr="preencoded.png"/>
          <p:cNvPicPr>
            <a:picLocks noChangeAspect="1"/>
          </p:cNvPicPr>
          <p:nvPr/>
        </p:nvPicPr>
        <p:blipFill>
          <a:blip r:embed="rId1"/>
          <a:stretch>
            <a:fillRect/>
          </a:stretch>
        </p:blipFill>
        <p:spPr>
          <a:xfrm>
            <a:off x="4754880" y="2176272"/>
            <a:ext cx="256032" cy="256032"/>
          </a:xfrm>
          <a:prstGeom prst="rect">
            <a:avLst/>
          </a:prstGeom>
        </p:spPr>
      </p:pic>
      <p:sp>
        <p:nvSpPr>
          <p:cNvPr id="34" name="Text 31"/>
          <p:cNvSpPr/>
          <p:nvPr/>
        </p:nvSpPr>
        <p:spPr>
          <a:xfrm>
            <a:off x="5084064" y="2157984"/>
            <a:ext cx="3621024" cy="274320"/>
          </a:xfrm>
          <a:prstGeom prst="rect">
            <a:avLst/>
          </a:prstGeom>
          <a:noFill/>
          <a:ln/>
        </p:spPr>
        <p:txBody>
          <a:bodyPr wrap="square" lIns="0" tIns="0" rIns="0" bIns="0" rtlCol="0" anchor="ctr"/>
          <a:lstStyle/>
          <a:p>
            <a:pPr indent="0" marL="0">
              <a:buNone/>
            </a:pPr>
            <a:r>
              <a:rPr lang="en-US" sz="1000" b="1" dirty="0">
                <a:solidFill>
                  <a:srgbClr val="EDF4F8"/>
                </a:solidFill>
              </a:rPr>
              <a:t>Bosch / Continental</a:t>
            </a:r>
            <a:endParaRPr lang="en-US" sz="1000" dirty="0"/>
          </a:p>
        </p:txBody>
      </p:sp>
      <p:sp>
        <p:nvSpPr>
          <p:cNvPr id="35" name="Text 32"/>
          <p:cNvSpPr/>
          <p:nvPr/>
        </p:nvSpPr>
        <p:spPr>
          <a:xfrm>
            <a:off x="5084064" y="2414016"/>
            <a:ext cx="3621024" cy="310896"/>
          </a:xfrm>
          <a:prstGeom prst="rect">
            <a:avLst/>
          </a:prstGeom>
          <a:noFill/>
          <a:ln/>
        </p:spPr>
        <p:txBody>
          <a:bodyPr wrap="square" lIns="0" tIns="0" rIns="0" bIns="0" rtlCol="0" anchor="ctr"/>
          <a:lstStyle/>
          <a:p>
            <a:pPr indent="0" marL="0">
              <a:buNone/>
            </a:pPr>
            <a:r>
              <a:rPr lang="en-US" sz="800" dirty="0">
                <a:solidFill>
                  <a:srgbClr val="6A97B0"/>
                </a:solidFill>
                <a:latin typeface="Calibri" pitchFamily="34" charset="0"/>
                <a:ea typeface="Calibri" pitchFamily="34" charset="-122"/>
                <a:cs typeface="Calibri" pitchFamily="34" charset="-120"/>
              </a:rPr>
              <a:t>Ports &amp; Adapters in ADAS middleware separates sensor fusion domain from ECU hardware drivers across variants.</a:t>
            </a:r>
            <a:endParaRPr lang="en-US" sz="800" dirty="0"/>
          </a:p>
        </p:txBody>
      </p:sp>
      <p:sp>
        <p:nvSpPr>
          <p:cNvPr id="36" name="Shape 33"/>
          <p:cNvSpPr/>
          <p:nvPr/>
        </p:nvSpPr>
        <p:spPr>
          <a:xfrm>
            <a:off x="4681728" y="2798064"/>
            <a:ext cx="4096512" cy="18288"/>
          </a:xfrm>
          <a:prstGeom prst="rect">
            <a:avLst/>
          </a:prstGeom>
          <a:solidFill>
            <a:srgbClr val="3D5A70"/>
          </a:solidFill>
          <a:ln/>
        </p:spPr>
      </p:sp>
      <p:pic>
        <p:nvPicPr>
          <p:cNvPr id="37" name="Image 1" descr="preencoded.png"/>
          <p:cNvPicPr>
            <a:picLocks noChangeAspect="1"/>
          </p:cNvPicPr>
          <p:nvPr/>
        </p:nvPicPr>
        <p:blipFill>
          <a:blip r:embed="rId2"/>
          <a:stretch>
            <a:fillRect/>
          </a:stretch>
        </p:blipFill>
        <p:spPr>
          <a:xfrm>
            <a:off x="4754880" y="2852928"/>
            <a:ext cx="256032" cy="256032"/>
          </a:xfrm>
          <a:prstGeom prst="rect">
            <a:avLst/>
          </a:prstGeom>
        </p:spPr>
      </p:pic>
      <p:sp>
        <p:nvSpPr>
          <p:cNvPr id="38" name="Text 34"/>
          <p:cNvSpPr/>
          <p:nvPr/>
        </p:nvSpPr>
        <p:spPr>
          <a:xfrm>
            <a:off x="5084064" y="2834640"/>
            <a:ext cx="3621024" cy="274320"/>
          </a:xfrm>
          <a:prstGeom prst="rect">
            <a:avLst/>
          </a:prstGeom>
          <a:noFill/>
          <a:ln/>
        </p:spPr>
        <p:txBody>
          <a:bodyPr wrap="square" lIns="0" tIns="0" rIns="0" bIns="0" rtlCol="0" anchor="ctr"/>
          <a:lstStyle/>
          <a:p>
            <a:pPr indent="0" marL="0">
              <a:buNone/>
            </a:pPr>
            <a:r>
              <a:rPr lang="en-US" sz="1000" b="1" dirty="0">
                <a:solidFill>
                  <a:srgbClr val="EDF4F8"/>
                </a:solidFill>
              </a:rPr>
              <a:t>Netflix / Amazon</a:t>
            </a:r>
            <a:endParaRPr lang="en-US" sz="1000" dirty="0"/>
          </a:p>
        </p:txBody>
      </p:sp>
      <p:sp>
        <p:nvSpPr>
          <p:cNvPr id="39" name="Text 35"/>
          <p:cNvSpPr/>
          <p:nvPr/>
        </p:nvSpPr>
        <p:spPr>
          <a:xfrm>
            <a:off x="5084064" y="3090672"/>
            <a:ext cx="3621024" cy="310896"/>
          </a:xfrm>
          <a:prstGeom prst="rect">
            <a:avLst/>
          </a:prstGeom>
          <a:noFill/>
          <a:ln/>
        </p:spPr>
        <p:txBody>
          <a:bodyPr wrap="square" lIns="0" tIns="0" rIns="0" bIns="0" rtlCol="0" anchor="ctr"/>
          <a:lstStyle/>
          <a:p>
            <a:pPr indent="0" marL="0">
              <a:buNone/>
            </a:pPr>
            <a:r>
              <a:rPr lang="en-US" sz="800" dirty="0">
                <a:solidFill>
                  <a:srgbClr val="6A97B0"/>
                </a:solidFill>
                <a:latin typeface="Calibri" pitchFamily="34" charset="0"/>
                <a:ea typeface="Calibri" pitchFamily="34" charset="-122"/>
                <a:cs typeface="Calibri" pitchFamily="34" charset="-120"/>
              </a:rPr>
              <a:t>Swappable DB, cache, and service adapters behind a single domain — identical architecture pattern at cloud scale.</a:t>
            </a:r>
            <a:endParaRPr lang="en-US" sz="800" dirty="0"/>
          </a:p>
        </p:txBody>
      </p:sp>
      <p:sp>
        <p:nvSpPr>
          <p:cNvPr id="40" name="Shape 36"/>
          <p:cNvSpPr/>
          <p:nvPr/>
        </p:nvSpPr>
        <p:spPr>
          <a:xfrm>
            <a:off x="4681728" y="3474720"/>
            <a:ext cx="4096512" cy="18288"/>
          </a:xfrm>
          <a:prstGeom prst="rect">
            <a:avLst/>
          </a:prstGeom>
          <a:solidFill>
            <a:srgbClr val="3D5A70"/>
          </a:solidFill>
          <a:ln/>
        </p:spPr>
      </p:sp>
      <p:pic>
        <p:nvPicPr>
          <p:cNvPr id="41" name="Image 2" descr="preencoded.png"/>
          <p:cNvPicPr>
            <a:picLocks noChangeAspect="1"/>
          </p:cNvPicPr>
          <p:nvPr/>
        </p:nvPicPr>
        <p:blipFill>
          <a:blip r:embed="rId3"/>
          <a:stretch>
            <a:fillRect/>
          </a:stretch>
        </p:blipFill>
        <p:spPr>
          <a:xfrm>
            <a:off x="4754880" y="3529584"/>
            <a:ext cx="256032" cy="256032"/>
          </a:xfrm>
          <a:prstGeom prst="rect">
            <a:avLst/>
          </a:prstGeom>
        </p:spPr>
      </p:pic>
      <p:sp>
        <p:nvSpPr>
          <p:cNvPr id="42" name="Text 37"/>
          <p:cNvSpPr/>
          <p:nvPr/>
        </p:nvSpPr>
        <p:spPr>
          <a:xfrm>
            <a:off x="5084064" y="3511296"/>
            <a:ext cx="3621024" cy="274320"/>
          </a:xfrm>
          <a:prstGeom prst="rect">
            <a:avLst/>
          </a:prstGeom>
          <a:noFill/>
          <a:ln/>
        </p:spPr>
        <p:txBody>
          <a:bodyPr wrap="square" lIns="0" tIns="0" rIns="0" bIns="0" rtlCol="0" anchor="ctr"/>
          <a:lstStyle/>
          <a:p>
            <a:pPr indent="0" marL="0">
              <a:buNone/>
            </a:pPr>
            <a:r>
              <a:rPr lang="en-US" sz="1000" b="1" dirty="0">
                <a:solidFill>
                  <a:srgbClr val="EDF4F8"/>
                </a:solidFill>
              </a:rPr>
              <a:t>Daimler Truck / DTNA</a:t>
            </a:r>
            <a:endParaRPr lang="en-US" sz="1000" dirty="0"/>
          </a:p>
        </p:txBody>
      </p:sp>
      <p:sp>
        <p:nvSpPr>
          <p:cNvPr id="43" name="Text 38"/>
          <p:cNvSpPr/>
          <p:nvPr/>
        </p:nvSpPr>
        <p:spPr>
          <a:xfrm>
            <a:off x="5084064" y="3767328"/>
            <a:ext cx="3621024" cy="310896"/>
          </a:xfrm>
          <a:prstGeom prst="rect">
            <a:avLst/>
          </a:prstGeom>
          <a:noFill/>
          <a:ln/>
        </p:spPr>
        <p:txBody>
          <a:bodyPr wrap="square" lIns="0" tIns="0" rIns="0" bIns="0" rtlCol="0" anchor="ctr"/>
          <a:lstStyle/>
          <a:p>
            <a:pPr indent="0" marL="0">
              <a:buNone/>
            </a:pPr>
            <a:r>
              <a:rPr lang="en-US" sz="800" dirty="0">
                <a:solidFill>
                  <a:srgbClr val="6A97B0"/>
                </a:solidFill>
                <a:latin typeface="Calibri" pitchFamily="34" charset="0"/>
                <a:ea typeface="Calibri" pitchFamily="34" charset="-122"/>
                <a:cs typeface="Calibri" pitchFamily="34" charset="-120"/>
              </a:rPr>
              <a:t>AUTOSAR SWC/RTE in ECU firmware is structurally identical to HA's domain/port separation — not a coincidence.</a:t>
            </a:r>
            <a:endParaRPr lang="en-US" sz="800" dirty="0"/>
          </a:p>
        </p:txBody>
      </p:sp>
      <p:sp>
        <p:nvSpPr>
          <p:cNvPr id="44" name="Shape 39"/>
          <p:cNvSpPr/>
          <p:nvPr/>
        </p:nvSpPr>
        <p:spPr>
          <a:xfrm>
            <a:off x="4663440" y="4325112"/>
            <a:ext cx="4114800" cy="530352"/>
          </a:xfrm>
          <a:prstGeom prst="rect">
            <a:avLst/>
          </a:prstGeom>
          <a:solidFill>
            <a:srgbClr val="0B1929"/>
          </a:solidFill>
          <a:ln/>
          <a:effectLst>
            <a:outerShdw sx="100000" sy="100000" kx="0" ky="0" algn="bl" rotWithShape="0" blurRad="50800" dist="25400" dir="8100000">
              <a:srgbClr val="000000">
                <a:alpha val="20000"/>
              </a:srgbClr>
            </a:outerShdw>
          </a:effectLst>
        </p:spPr>
      </p:sp>
      <p:sp>
        <p:nvSpPr>
          <p:cNvPr id="45" name="Shape 40"/>
          <p:cNvSpPr/>
          <p:nvPr/>
        </p:nvSpPr>
        <p:spPr>
          <a:xfrm>
            <a:off x="4663440" y="4325112"/>
            <a:ext cx="91440" cy="530352"/>
          </a:xfrm>
          <a:prstGeom prst="rect">
            <a:avLst/>
          </a:prstGeom>
          <a:solidFill>
            <a:srgbClr val="FF6B35"/>
          </a:solidFill>
          <a:ln/>
        </p:spPr>
      </p:sp>
      <p:sp>
        <p:nvSpPr>
          <p:cNvPr id="46" name="Text 41"/>
          <p:cNvSpPr/>
          <p:nvPr/>
        </p:nvSpPr>
        <p:spPr>
          <a:xfrm>
            <a:off x="4809744" y="4325112"/>
            <a:ext cx="3895344" cy="530352"/>
          </a:xfrm>
          <a:prstGeom prst="rect">
            <a:avLst/>
          </a:prstGeom>
          <a:noFill/>
          <a:ln/>
        </p:spPr>
        <p:txBody>
          <a:bodyPr wrap="square" lIns="0" tIns="0" rIns="0" bIns="0" rtlCol="0" anchor="ctr"/>
          <a:lstStyle/>
          <a:p>
            <a:pPr indent="0" marL="0">
              <a:buNone/>
            </a:pPr>
            <a:r>
              <a:rPr lang="en-US" sz="800" dirty="0">
                <a:solidFill>
                  <a:srgbClr val="B8D4E0"/>
                </a:solidFill>
                <a:latin typeface="Calibri" pitchFamily="34" charset="0"/>
                <a:ea typeface="Calibri" pitchFamily="34" charset="-122"/>
                <a:cs typeface="Calibri" pitchFamily="34" charset="-120"/>
              </a:rPr>
              <a:t>HMI Fit:  Display rendering, driver input events, and vehicle CAN data are naturally separate bounded contexts. HA's port boundaries formalize what AUTOSAR already does implicitly.</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52638"/>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800" b="1" dirty="0">
                <a:solidFill>
                  <a:srgbClr val="00C2CB"/>
                </a:solidFill>
                <a:latin typeface="Trebuchet MS" pitchFamily="34" charset="0"/>
                <a:ea typeface="Trebuchet MS" pitchFamily="34" charset="-122"/>
                <a:cs typeface="Trebuchet MS" pitchFamily="34" charset="-120"/>
              </a:rPr>
              <a:t>05  Decomposing &amp; Refactoring: The Strangler Fig Pattern</a:t>
            </a:r>
            <a:endParaRPr lang="en-US" sz="1800" dirty="0"/>
          </a:p>
        </p:txBody>
      </p:sp>
      <p:sp>
        <p:nvSpPr>
          <p:cNvPr id="4" name="Text 2"/>
          <p:cNvSpPr/>
          <p:nvPr/>
        </p:nvSpPr>
        <p:spPr>
          <a:xfrm>
            <a:off x="320040" y="749808"/>
            <a:ext cx="8503920" cy="347472"/>
          </a:xfrm>
          <a:prstGeom prst="rect">
            <a:avLst/>
          </a:prstGeom>
          <a:noFill/>
          <a:ln/>
        </p:spPr>
        <p:txBody>
          <a:bodyPr wrap="square" lIns="0" tIns="0" rIns="0" bIns="0" rtlCol="0" anchor="ctr"/>
          <a:lstStyle/>
          <a:p>
            <a:pPr indent="0" marL="0">
              <a:buNone/>
            </a:pPr>
            <a:r>
              <a:rPr lang="en-US" sz="950" i="1" dirty="0">
                <a:solidFill>
                  <a:srgbClr val="6A97B0"/>
                </a:solidFill>
                <a:latin typeface="Calibri" pitchFamily="34" charset="0"/>
                <a:ea typeface="Calibri" pitchFamily="34" charset="-122"/>
                <a:cs typeface="Calibri" pitchFamily="34" charset="-120"/>
              </a:rPr>
              <a:t>Named after the Strangler Fig tree — new growth wraps the old trunk until the original is replaced. Zero big-bang rewrites. The only responsible approach for production HMI ECUs.</a:t>
            </a:r>
            <a:endParaRPr lang="en-US" sz="950" dirty="0"/>
          </a:p>
        </p:txBody>
      </p:sp>
      <p:sp>
        <p:nvSpPr>
          <p:cNvPr id="5" name="Shape 3"/>
          <p:cNvSpPr/>
          <p:nvPr/>
        </p:nvSpPr>
        <p:spPr>
          <a:xfrm>
            <a:off x="256032" y="1188720"/>
            <a:ext cx="1609344" cy="3675888"/>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6" name="Shape 4"/>
          <p:cNvSpPr/>
          <p:nvPr/>
        </p:nvSpPr>
        <p:spPr>
          <a:xfrm>
            <a:off x="256032" y="1188720"/>
            <a:ext cx="1609344" cy="457200"/>
          </a:xfrm>
          <a:prstGeom prst="rect">
            <a:avLst/>
          </a:prstGeom>
          <a:solidFill>
            <a:srgbClr val="0099A3"/>
          </a:solidFill>
          <a:ln/>
        </p:spPr>
      </p:sp>
      <p:sp>
        <p:nvSpPr>
          <p:cNvPr id="7" name="Text 5"/>
          <p:cNvSpPr/>
          <p:nvPr/>
        </p:nvSpPr>
        <p:spPr>
          <a:xfrm>
            <a:off x="256032" y="1188720"/>
            <a:ext cx="1609344" cy="457200"/>
          </a:xfrm>
          <a:prstGeom prst="rect">
            <a:avLst/>
          </a:prstGeom>
          <a:noFill/>
          <a:ln/>
        </p:spPr>
        <p:txBody>
          <a:bodyPr wrap="square" lIns="0" tIns="0" rIns="0" bIns="0" rtlCol="0" anchor="ctr"/>
          <a:lstStyle/>
          <a:p>
            <a:pPr algn="ctr" indent="0" marL="0">
              <a:buNone/>
            </a:pPr>
            <a:r>
              <a:rPr lang="en-US" sz="1800" b="1" dirty="0">
                <a:solidFill>
                  <a:srgbClr val="0B1929"/>
                </a:solidFill>
              </a:rPr>
              <a:t>1</a:t>
            </a:r>
            <a:endParaRPr lang="en-US" sz="1800" dirty="0"/>
          </a:p>
        </p:txBody>
      </p:sp>
      <p:sp>
        <p:nvSpPr>
          <p:cNvPr id="8" name="Text 6"/>
          <p:cNvSpPr/>
          <p:nvPr/>
        </p:nvSpPr>
        <p:spPr>
          <a:xfrm>
            <a:off x="329184" y="1700784"/>
            <a:ext cx="1463040" cy="475488"/>
          </a:xfrm>
          <a:prstGeom prst="rect">
            <a:avLst/>
          </a:prstGeom>
          <a:noFill/>
          <a:ln/>
        </p:spPr>
        <p:txBody>
          <a:bodyPr wrap="square" lIns="0" tIns="0" rIns="0" bIns="0" rtlCol="0" anchor="ctr"/>
          <a:lstStyle/>
          <a:p>
            <a:pPr algn="ctr" indent="0" marL="0">
              <a:buNone/>
            </a:pPr>
            <a:r>
              <a:rPr lang="en-US" sz="1000" b="1" dirty="0">
                <a:solidFill>
                  <a:srgbClr val="EDF4F8"/>
                </a:solidFill>
                <a:latin typeface="Trebuchet MS" pitchFamily="34" charset="0"/>
                <a:ea typeface="Trebuchet MS" pitchFamily="34" charset="-122"/>
                <a:cs typeface="Trebuchet MS" pitchFamily="34" charset="-120"/>
              </a:rPr>
              <a:t>Identify</a:t>
            </a:r>
            <a:endParaRPr lang="en-US" sz="1000" dirty="0"/>
          </a:p>
          <a:p>
            <a:pPr algn="ctr" indent="0" marL="0">
              <a:buNone/>
            </a:pPr>
            <a:r>
              <a:rPr lang="en-US" sz="1000" b="1" dirty="0">
                <a:solidFill>
                  <a:srgbClr val="EDF4F8"/>
                </a:solidFill>
                <a:latin typeface="Trebuchet MS" pitchFamily="34" charset="0"/>
                <a:ea typeface="Trebuchet MS" pitchFamily="34" charset="-122"/>
                <a:cs typeface="Trebuchet MS" pitchFamily="34" charset="-120"/>
              </a:rPr>
              <a:t>Seam</a:t>
            </a:r>
            <a:endParaRPr lang="en-US" sz="1000" dirty="0"/>
          </a:p>
        </p:txBody>
      </p:sp>
      <p:sp>
        <p:nvSpPr>
          <p:cNvPr id="9" name="Text 7"/>
          <p:cNvSpPr/>
          <p:nvPr/>
        </p:nvSpPr>
        <p:spPr>
          <a:xfrm>
            <a:off x="329184" y="2212848"/>
            <a:ext cx="1463040" cy="2542032"/>
          </a:xfrm>
          <a:prstGeom prst="rect">
            <a:avLst/>
          </a:prstGeom>
          <a:noFill/>
          <a:ln/>
        </p:spPr>
        <p:txBody>
          <a:bodyPr wrap="square" lIns="50800" tIns="50800" rIns="50800" bIns="50800" rtlCol="0" anchor="ctr"/>
          <a:lstStyle/>
          <a:p>
            <a:pPr indent="0" marL="0">
              <a:buNone/>
            </a:pPr>
            <a:r>
              <a:rPr lang="en-US" sz="850" dirty="0">
                <a:solidFill>
                  <a:srgbClr val="6A97B0"/>
                </a:solidFill>
                <a:latin typeface="Calibri" pitchFamily="34" charset="0"/>
                <a:ea typeface="Calibri" pitchFamily="34" charset="-122"/>
                <a:cs typeface="Calibri" pitchFamily="34" charset="-120"/>
              </a:rPr>
              <a:t>Find a natural boundary in the legacy ECU codebase — a CAN signal handler, a display update call, or an API that can be wrapped without disrupting adjacent logic.</a:t>
            </a:r>
            <a:endParaRPr lang="en-US" sz="850" dirty="0"/>
          </a:p>
        </p:txBody>
      </p:sp>
      <p:sp>
        <p:nvSpPr>
          <p:cNvPr id="10" name="Shape 8"/>
          <p:cNvSpPr/>
          <p:nvPr/>
        </p:nvSpPr>
        <p:spPr>
          <a:xfrm>
            <a:off x="1865376" y="2359152"/>
            <a:ext cx="146304" cy="0"/>
          </a:xfrm>
          <a:prstGeom prst="line">
            <a:avLst/>
          </a:prstGeom>
          <a:noFill/>
          <a:ln w="25400">
            <a:solidFill>
              <a:srgbClr val="00C2CB"/>
            </a:solidFill>
            <a:prstDash val="solid"/>
          </a:ln>
        </p:spPr>
      </p:sp>
      <p:sp>
        <p:nvSpPr>
          <p:cNvPr id="11" name="Shape 9"/>
          <p:cNvSpPr/>
          <p:nvPr/>
        </p:nvSpPr>
        <p:spPr>
          <a:xfrm>
            <a:off x="2011680" y="1188720"/>
            <a:ext cx="1609344" cy="3675888"/>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12" name="Shape 10"/>
          <p:cNvSpPr/>
          <p:nvPr/>
        </p:nvSpPr>
        <p:spPr>
          <a:xfrm>
            <a:off x="2011680" y="1188720"/>
            <a:ext cx="1609344" cy="457200"/>
          </a:xfrm>
          <a:prstGeom prst="rect">
            <a:avLst/>
          </a:prstGeom>
          <a:solidFill>
            <a:srgbClr val="00C2CB"/>
          </a:solidFill>
          <a:ln/>
        </p:spPr>
      </p:sp>
      <p:sp>
        <p:nvSpPr>
          <p:cNvPr id="13" name="Text 11"/>
          <p:cNvSpPr/>
          <p:nvPr/>
        </p:nvSpPr>
        <p:spPr>
          <a:xfrm>
            <a:off x="2011680" y="1188720"/>
            <a:ext cx="1609344" cy="457200"/>
          </a:xfrm>
          <a:prstGeom prst="rect">
            <a:avLst/>
          </a:prstGeom>
          <a:noFill/>
          <a:ln/>
        </p:spPr>
        <p:txBody>
          <a:bodyPr wrap="square" lIns="0" tIns="0" rIns="0" bIns="0" rtlCol="0" anchor="ctr"/>
          <a:lstStyle/>
          <a:p>
            <a:pPr algn="ctr" indent="0" marL="0">
              <a:buNone/>
            </a:pPr>
            <a:r>
              <a:rPr lang="en-US" sz="1800" b="1" dirty="0">
                <a:solidFill>
                  <a:srgbClr val="0B1929"/>
                </a:solidFill>
              </a:rPr>
              <a:t>2</a:t>
            </a:r>
            <a:endParaRPr lang="en-US" sz="1800" dirty="0"/>
          </a:p>
        </p:txBody>
      </p:sp>
      <p:sp>
        <p:nvSpPr>
          <p:cNvPr id="14" name="Text 12"/>
          <p:cNvSpPr/>
          <p:nvPr/>
        </p:nvSpPr>
        <p:spPr>
          <a:xfrm>
            <a:off x="2084832" y="1700784"/>
            <a:ext cx="1463040" cy="475488"/>
          </a:xfrm>
          <a:prstGeom prst="rect">
            <a:avLst/>
          </a:prstGeom>
          <a:noFill/>
          <a:ln/>
        </p:spPr>
        <p:txBody>
          <a:bodyPr wrap="square" lIns="0" tIns="0" rIns="0" bIns="0" rtlCol="0" anchor="ctr"/>
          <a:lstStyle/>
          <a:p>
            <a:pPr algn="ctr" indent="0" marL="0">
              <a:buNone/>
            </a:pPr>
            <a:r>
              <a:rPr lang="en-US" sz="1000" b="1" dirty="0">
                <a:solidFill>
                  <a:srgbClr val="EDF4F8"/>
                </a:solidFill>
                <a:latin typeface="Trebuchet MS" pitchFamily="34" charset="0"/>
                <a:ea typeface="Trebuchet MS" pitchFamily="34" charset="-122"/>
                <a:cs typeface="Trebuchet MS" pitchFamily="34" charset="-120"/>
              </a:rPr>
              <a:t>Introduce</a:t>
            </a:r>
            <a:endParaRPr lang="en-US" sz="1000" dirty="0"/>
          </a:p>
          <a:p>
            <a:pPr algn="ctr" indent="0" marL="0">
              <a:buNone/>
            </a:pPr>
            <a:r>
              <a:rPr lang="en-US" sz="1000" b="1" dirty="0">
                <a:solidFill>
                  <a:srgbClr val="EDF4F8"/>
                </a:solidFill>
                <a:latin typeface="Trebuchet MS" pitchFamily="34" charset="0"/>
                <a:ea typeface="Trebuchet MS" pitchFamily="34" charset="-122"/>
                <a:cs typeface="Trebuchet MS" pitchFamily="34" charset="-120"/>
              </a:rPr>
              <a:t>Port</a:t>
            </a:r>
            <a:endParaRPr lang="en-US" sz="1000" dirty="0"/>
          </a:p>
        </p:txBody>
      </p:sp>
      <p:sp>
        <p:nvSpPr>
          <p:cNvPr id="15" name="Text 13"/>
          <p:cNvSpPr/>
          <p:nvPr/>
        </p:nvSpPr>
        <p:spPr>
          <a:xfrm>
            <a:off x="2084832" y="2212848"/>
            <a:ext cx="1463040" cy="2542032"/>
          </a:xfrm>
          <a:prstGeom prst="rect">
            <a:avLst/>
          </a:prstGeom>
          <a:noFill/>
          <a:ln/>
        </p:spPr>
        <p:txBody>
          <a:bodyPr wrap="square" lIns="50800" tIns="50800" rIns="50800" bIns="50800" rtlCol="0" anchor="ctr"/>
          <a:lstStyle/>
          <a:p>
            <a:pPr indent="0" marL="0">
              <a:buNone/>
            </a:pPr>
            <a:r>
              <a:rPr lang="en-US" sz="850" dirty="0">
                <a:solidFill>
                  <a:srgbClr val="6A97B0"/>
                </a:solidFill>
                <a:latin typeface="Calibri" pitchFamily="34" charset="0"/>
                <a:ea typeface="Calibri" pitchFamily="34" charset="-122"/>
                <a:cs typeface="Calibri" pitchFamily="34" charset="-120"/>
              </a:rPr>
              <a:t>Define an interface (port) the legacy caller now targets. Both old and new implementations satisfy it — the caller is completely untouched and unaware of the change.</a:t>
            </a:r>
            <a:endParaRPr lang="en-US" sz="850" dirty="0"/>
          </a:p>
        </p:txBody>
      </p:sp>
      <p:sp>
        <p:nvSpPr>
          <p:cNvPr id="16" name="Shape 14"/>
          <p:cNvSpPr/>
          <p:nvPr/>
        </p:nvSpPr>
        <p:spPr>
          <a:xfrm>
            <a:off x="3621024" y="2359152"/>
            <a:ext cx="146304" cy="0"/>
          </a:xfrm>
          <a:prstGeom prst="line">
            <a:avLst/>
          </a:prstGeom>
          <a:noFill/>
          <a:ln w="25400">
            <a:solidFill>
              <a:srgbClr val="00C2CB"/>
            </a:solidFill>
            <a:prstDash val="solid"/>
          </a:ln>
        </p:spPr>
      </p:sp>
      <p:sp>
        <p:nvSpPr>
          <p:cNvPr id="17" name="Shape 15"/>
          <p:cNvSpPr/>
          <p:nvPr/>
        </p:nvSpPr>
        <p:spPr>
          <a:xfrm>
            <a:off x="3767328" y="1188720"/>
            <a:ext cx="1609344" cy="3675888"/>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18" name="Shape 16"/>
          <p:cNvSpPr/>
          <p:nvPr/>
        </p:nvSpPr>
        <p:spPr>
          <a:xfrm>
            <a:off x="3767328" y="1188720"/>
            <a:ext cx="1609344" cy="457200"/>
          </a:xfrm>
          <a:prstGeom prst="rect">
            <a:avLst/>
          </a:prstGeom>
          <a:solidFill>
            <a:srgbClr val="FF6B35"/>
          </a:solidFill>
          <a:ln/>
        </p:spPr>
      </p:sp>
      <p:sp>
        <p:nvSpPr>
          <p:cNvPr id="19" name="Text 17"/>
          <p:cNvSpPr/>
          <p:nvPr/>
        </p:nvSpPr>
        <p:spPr>
          <a:xfrm>
            <a:off x="3767328" y="1188720"/>
            <a:ext cx="1609344" cy="457200"/>
          </a:xfrm>
          <a:prstGeom prst="rect">
            <a:avLst/>
          </a:prstGeom>
          <a:noFill/>
          <a:ln/>
        </p:spPr>
        <p:txBody>
          <a:bodyPr wrap="square" lIns="0" tIns="0" rIns="0" bIns="0" rtlCol="0" anchor="ctr"/>
          <a:lstStyle/>
          <a:p>
            <a:pPr algn="ctr" indent="0" marL="0">
              <a:buNone/>
            </a:pPr>
            <a:r>
              <a:rPr lang="en-US" sz="1800" b="1" dirty="0">
                <a:solidFill>
                  <a:srgbClr val="0B1929"/>
                </a:solidFill>
              </a:rPr>
              <a:t>3</a:t>
            </a:r>
            <a:endParaRPr lang="en-US" sz="1800" dirty="0"/>
          </a:p>
        </p:txBody>
      </p:sp>
      <p:sp>
        <p:nvSpPr>
          <p:cNvPr id="20" name="Text 18"/>
          <p:cNvSpPr/>
          <p:nvPr/>
        </p:nvSpPr>
        <p:spPr>
          <a:xfrm>
            <a:off x="3840480" y="1700784"/>
            <a:ext cx="1463040" cy="475488"/>
          </a:xfrm>
          <a:prstGeom prst="rect">
            <a:avLst/>
          </a:prstGeom>
          <a:noFill/>
          <a:ln/>
        </p:spPr>
        <p:txBody>
          <a:bodyPr wrap="square" lIns="0" tIns="0" rIns="0" bIns="0" rtlCol="0" anchor="ctr"/>
          <a:lstStyle/>
          <a:p>
            <a:pPr algn="ctr" indent="0" marL="0">
              <a:buNone/>
            </a:pPr>
            <a:r>
              <a:rPr lang="en-US" sz="1000" b="1" dirty="0">
                <a:solidFill>
                  <a:srgbClr val="EDF4F8"/>
                </a:solidFill>
                <a:latin typeface="Trebuchet MS" pitchFamily="34" charset="0"/>
                <a:ea typeface="Trebuchet MS" pitchFamily="34" charset="-122"/>
                <a:cs typeface="Trebuchet MS" pitchFamily="34" charset="-120"/>
              </a:rPr>
              <a:t>Build New</a:t>
            </a:r>
            <a:endParaRPr lang="en-US" sz="1000" dirty="0"/>
          </a:p>
          <a:p>
            <a:pPr algn="ctr" indent="0" marL="0">
              <a:buNone/>
            </a:pPr>
            <a:r>
              <a:rPr lang="en-US" sz="1000" b="1" dirty="0">
                <a:solidFill>
                  <a:srgbClr val="EDF4F8"/>
                </a:solidFill>
                <a:latin typeface="Trebuchet MS" pitchFamily="34" charset="0"/>
                <a:ea typeface="Trebuchet MS" pitchFamily="34" charset="-122"/>
                <a:cs typeface="Trebuchet MS" pitchFamily="34" charset="-120"/>
              </a:rPr>
              <a:t>Adapter</a:t>
            </a:r>
            <a:endParaRPr lang="en-US" sz="1000" dirty="0"/>
          </a:p>
        </p:txBody>
      </p:sp>
      <p:sp>
        <p:nvSpPr>
          <p:cNvPr id="21" name="Text 19"/>
          <p:cNvSpPr/>
          <p:nvPr/>
        </p:nvSpPr>
        <p:spPr>
          <a:xfrm>
            <a:off x="3840480" y="2212848"/>
            <a:ext cx="1463040" cy="2542032"/>
          </a:xfrm>
          <a:prstGeom prst="rect">
            <a:avLst/>
          </a:prstGeom>
          <a:noFill/>
          <a:ln/>
        </p:spPr>
        <p:txBody>
          <a:bodyPr wrap="square" lIns="50800" tIns="50800" rIns="50800" bIns="50800" rtlCol="0" anchor="ctr"/>
          <a:lstStyle/>
          <a:p>
            <a:pPr indent="0" marL="0">
              <a:buNone/>
            </a:pPr>
            <a:r>
              <a:rPr lang="en-US" sz="850" dirty="0">
                <a:solidFill>
                  <a:srgbClr val="6A97B0"/>
                </a:solidFill>
                <a:latin typeface="Calibri" pitchFamily="34" charset="0"/>
                <a:ea typeface="Calibri" pitchFamily="34" charset="-122"/>
                <a:cs typeface="Calibri" pitchFamily="34" charset="-120"/>
              </a:rPr>
              <a:t>Implement the port using HA-compliant code. Domain stays pure. The new adapter handles protocol translation, data mapping, error propagation, and ISO 26262 boundaries.</a:t>
            </a:r>
            <a:endParaRPr lang="en-US" sz="850" dirty="0"/>
          </a:p>
        </p:txBody>
      </p:sp>
      <p:sp>
        <p:nvSpPr>
          <p:cNvPr id="22" name="Shape 20"/>
          <p:cNvSpPr/>
          <p:nvPr/>
        </p:nvSpPr>
        <p:spPr>
          <a:xfrm>
            <a:off x="5376672" y="2359152"/>
            <a:ext cx="146304" cy="0"/>
          </a:xfrm>
          <a:prstGeom prst="line">
            <a:avLst/>
          </a:prstGeom>
          <a:noFill/>
          <a:ln w="25400">
            <a:solidFill>
              <a:srgbClr val="00C2CB"/>
            </a:solidFill>
            <a:prstDash val="solid"/>
          </a:ln>
        </p:spPr>
      </p:sp>
      <p:sp>
        <p:nvSpPr>
          <p:cNvPr id="23" name="Shape 21"/>
          <p:cNvSpPr/>
          <p:nvPr/>
        </p:nvSpPr>
        <p:spPr>
          <a:xfrm>
            <a:off x="5522976" y="1188720"/>
            <a:ext cx="1609344" cy="3675888"/>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24" name="Shape 22"/>
          <p:cNvSpPr/>
          <p:nvPr/>
        </p:nvSpPr>
        <p:spPr>
          <a:xfrm>
            <a:off x="5522976" y="1188720"/>
            <a:ext cx="1609344" cy="457200"/>
          </a:xfrm>
          <a:prstGeom prst="rect">
            <a:avLst/>
          </a:prstGeom>
          <a:solidFill>
            <a:srgbClr val="FF9060"/>
          </a:solidFill>
          <a:ln/>
        </p:spPr>
      </p:sp>
      <p:sp>
        <p:nvSpPr>
          <p:cNvPr id="25" name="Text 23"/>
          <p:cNvSpPr/>
          <p:nvPr/>
        </p:nvSpPr>
        <p:spPr>
          <a:xfrm>
            <a:off x="5522976" y="1188720"/>
            <a:ext cx="1609344" cy="457200"/>
          </a:xfrm>
          <a:prstGeom prst="rect">
            <a:avLst/>
          </a:prstGeom>
          <a:noFill/>
          <a:ln/>
        </p:spPr>
        <p:txBody>
          <a:bodyPr wrap="square" lIns="0" tIns="0" rIns="0" bIns="0" rtlCol="0" anchor="ctr"/>
          <a:lstStyle/>
          <a:p>
            <a:pPr algn="ctr" indent="0" marL="0">
              <a:buNone/>
            </a:pPr>
            <a:r>
              <a:rPr lang="en-US" sz="1800" b="1" dirty="0">
                <a:solidFill>
                  <a:srgbClr val="0B1929"/>
                </a:solidFill>
              </a:rPr>
              <a:t>4</a:t>
            </a:r>
            <a:endParaRPr lang="en-US" sz="1800" dirty="0"/>
          </a:p>
        </p:txBody>
      </p:sp>
      <p:sp>
        <p:nvSpPr>
          <p:cNvPr id="26" name="Text 24"/>
          <p:cNvSpPr/>
          <p:nvPr/>
        </p:nvSpPr>
        <p:spPr>
          <a:xfrm>
            <a:off x="5596128" y="1700784"/>
            <a:ext cx="1463040" cy="475488"/>
          </a:xfrm>
          <a:prstGeom prst="rect">
            <a:avLst/>
          </a:prstGeom>
          <a:noFill/>
          <a:ln/>
        </p:spPr>
        <p:txBody>
          <a:bodyPr wrap="square" lIns="0" tIns="0" rIns="0" bIns="0" rtlCol="0" anchor="ctr"/>
          <a:lstStyle/>
          <a:p>
            <a:pPr algn="ctr" indent="0" marL="0">
              <a:buNone/>
            </a:pPr>
            <a:r>
              <a:rPr lang="en-US" sz="1000" b="1" dirty="0">
                <a:solidFill>
                  <a:srgbClr val="EDF4F8"/>
                </a:solidFill>
                <a:latin typeface="Trebuchet MS" pitchFamily="34" charset="0"/>
                <a:ea typeface="Trebuchet MS" pitchFamily="34" charset="-122"/>
                <a:cs typeface="Trebuchet MS" pitchFamily="34" charset="-120"/>
              </a:rPr>
              <a:t>Route &amp;</a:t>
            </a:r>
            <a:endParaRPr lang="en-US" sz="1000" dirty="0"/>
          </a:p>
          <a:p>
            <a:pPr algn="ctr" indent="0" marL="0">
              <a:buNone/>
            </a:pPr>
            <a:r>
              <a:rPr lang="en-US" sz="1000" b="1" dirty="0">
                <a:solidFill>
                  <a:srgbClr val="EDF4F8"/>
                </a:solidFill>
                <a:latin typeface="Trebuchet MS" pitchFamily="34" charset="0"/>
                <a:ea typeface="Trebuchet MS" pitchFamily="34" charset="-122"/>
                <a:cs typeface="Trebuchet MS" pitchFamily="34" charset="-120"/>
              </a:rPr>
              <a:t>Verify</a:t>
            </a:r>
            <a:endParaRPr lang="en-US" sz="1000" dirty="0"/>
          </a:p>
        </p:txBody>
      </p:sp>
      <p:sp>
        <p:nvSpPr>
          <p:cNvPr id="27" name="Text 25"/>
          <p:cNvSpPr/>
          <p:nvPr/>
        </p:nvSpPr>
        <p:spPr>
          <a:xfrm>
            <a:off x="5596128" y="2212848"/>
            <a:ext cx="1463040" cy="2542032"/>
          </a:xfrm>
          <a:prstGeom prst="rect">
            <a:avLst/>
          </a:prstGeom>
          <a:noFill/>
          <a:ln/>
        </p:spPr>
        <p:txBody>
          <a:bodyPr wrap="square" lIns="50800" tIns="50800" rIns="50800" bIns="50800" rtlCol="0" anchor="ctr"/>
          <a:lstStyle/>
          <a:p>
            <a:pPr indent="0" marL="0">
              <a:buNone/>
            </a:pPr>
            <a:r>
              <a:rPr lang="en-US" sz="850" dirty="0">
                <a:solidFill>
                  <a:srgbClr val="6A97B0"/>
                </a:solidFill>
                <a:latin typeface="Calibri" pitchFamily="34" charset="0"/>
                <a:ea typeface="Calibri" pitchFamily="34" charset="-122"/>
                <a:cs typeface="Calibri" pitchFamily="34" charset="-120"/>
              </a:rPr>
              <a:t>Gradually route live traffic to the new adapter via feature flags or a proxy layer. Rollback is instant — both adapters co-exist behind the shared port interface.</a:t>
            </a:r>
            <a:endParaRPr lang="en-US" sz="850" dirty="0"/>
          </a:p>
        </p:txBody>
      </p:sp>
      <p:sp>
        <p:nvSpPr>
          <p:cNvPr id="28" name="Shape 26"/>
          <p:cNvSpPr/>
          <p:nvPr/>
        </p:nvSpPr>
        <p:spPr>
          <a:xfrm>
            <a:off x="7132320" y="2359152"/>
            <a:ext cx="146304" cy="0"/>
          </a:xfrm>
          <a:prstGeom prst="line">
            <a:avLst/>
          </a:prstGeom>
          <a:noFill/>
          <a:ln w="25400">
            <a:solidFill>
              <a:srgbClr val="00C2CB"/>
            </a:solidFill>
            <a:prstDash val="solid"/>
          </a:ln>
        </p:spPr>
      </p:sp>
      <p:sp>
        <p:nvSpPr>
          <p:cNvPr id="29" name="Shape 27"/>
          <p:cNvSpPr/>
          <p:nvPr/>
        </p:nvSpPr>
        <p:spPr>
          <a:xfrm>
            <a:off x="7278624" y="1188720"/>
            <a:ext cx="1609344" cy="3675888"/>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30" name="Shape 28"/>
          <p:cNvSpPr/>
          <p:nvPr/>
        </p:nvSpPr>
        <p:spPr>
          <a:xfrm>
            <a:off x="7278624" y="1188720"/>
            <a:ext cx="1609344" cy="457200"/>
          </a:xfrm>
          <a:prstGeom prst="rect">
            <a:avLst/>
          </a:prstGeom>
          <a:solidFill>
            <a:srgbClr val="2ECC71"/>
          </a:solidFill>
          <a:ln/>
        </p:spPr>
      </p:sp>
      <p:sp>
        <p:nvSpPr>
          <p:cNvPr id="31" name="Text 29"/>
          <p:cNvSpPr/>
          <p:nvPr/>
        </p:nvSpPr>
        <p:spPr>
          <a:xfrm>
            <a:off x="7278624" y="1188720"/>
            <a:ext cx="1609344" cy="457200"/>
          </a:xfrm>
          <a:prstGeom prst="rect">
            <a:avLst/>
          </a:prstGeom>
          <a:noFill/>
          <a:ln/>
        </p:spPr>
        <p:txBody>
          <a:bodyPr wrap="square" lIns="0" tIns="0" rIns="0" bIns="0" rtlCol="0" anchor="ctr"/>
          <a:lstStyle/>
          <a:p>
            <a:pPr algn="ctr" indent="0" marL="0">
              <a:buNone/>
            </a:pPr>
            <a:r>
              <a:rPr lang="en-US" sz="1800" b="1" dirty="0">
                <a:solidFill>
                  <a:srgbClr val="0B1929"/>
                </a:solidFill>
              </a:rPr>
              <a:t>5</a:t>
            </a:r>
            <a:endParaRPr lang="en-US" sz="1800" dirty="0"/>
          </a:p>
        </p:txBody>
      </p:sp>
      <p:sp>
        <p:nvSpPr>
          <p:cNvPr id="32" name="Text 30"/>
          <p:cNvSpPr/>
          <p:nvPr/>
        </p:nvSpPr>
        <p:spPr>
          <a:xfrm>
            <a:off x="7351776" y="1700784"/>
            <a:ext cx="1463040" cy="475488"/>
          </a:xfrm>
          <a:prstGeom prst="rect">
            <a:avLst/>
          </a:prstGeom>
          <a:noFill/>
          <a:ln/>
        </p:spPr>
        <p:txBody>
          <a:bodyPr wrap="square" lIns="0" tIns="0" rIns="0" bIns="0" rtlCol="0" anchor="ctr"/>
          <a:lstStyle/>
          <a:p>
            <a:pPr algn="ctr" indent="0" marL="0">
              <a:buNone/>
            </a:pPr>
            <a:r>
              <a:rPr lang="en-US" sz="1000" b="1" dirty="0">
                <a:solidFill>
                  <a:srgbClr val="EDF4F8"/>
                </a:solidFill>
                <a:latin typeface="Trebuchet MS" pitchFamily="34" charset="0"/>
                <a:ea typeface="Trebuchet MS" pitchFamily="34" charset="-122"/>
                <a:cs typeface="Trebuchet MS" pitchFamily="34" charset="-120"/>
              </a:rPr>
              <a:t>Remove</a:t>
            </a:r>
            <a:endParaRPr lang="en-US" sz="1000" dirty="0"/>
          </a:p>
          <a:p>
            <a:pPr algn="ctr" indent="0" marL="0">
              <a:buNone/>
            </a:pPr>
            <a:r>
              <a:rPr lang="en-US" sz="1000" b="1" dirty="0">
                <a:solidFill>
                  <a:srgbClr val="EDF4F8"/>
                </a:solidFill>
                <a:latin typeface="Trebuchet MS" pitchFamily="34" charset="0"/>
                <a:ea typeface="Trebuchet MS" pitchFamily="34" charset="-122"/>
                <a:cs typeface="Trebuchet MS" pitchFamily="34" charset="-120"/>
              </a:rPr>
              <a:t>Legacy</a:t>
            </a:r>
            <a:endParaRPr lang="en-US" sz="1000" dirty="0"/>
          </a:p>
        </p:txBody>
      </p:sp>
      <p:sp>
        <p:nvSpPr>
          <p:cNvPr id="33" name="Text 31"/>
          <p:cNvSpPr/>
          <p:nvPr/>
        </p:nvSpPr>
        <p:spPr>
          <a:xfrm>
            <a:off x="7351776" y="2212848"/>
            <a:ext cx="1463040" cy="2542032"/>
          </a:xfrm>
          <a:prstGeom prst="rect">
            <a:avLst/>
          </a:prstGeom>
          <a:noFill/>
          <a:ln/>
        </p:spPr>
        <p:txBody>
          <a:bodyPr wrap="square" lIns="50800" tIns="50800" rIns="50800" bIns="50800" rtlCol="0" anchor="ctr"/>
          <a:lstStyle/>
          <a:p>
            <a:pPr indent="0" marL="0">
              <a:buNone/>
            </a:pPr>
            <a:r>
              <a:rPr lang="en-US" sz="850" dirty="0">
                <a:solidFill>
                  <a:srgbClr val="6A97B0"/>
                </a:solidFill>
                <a:latin typeface="Calibri" pitchFamily="34" charset="0"/>
                <a:ea typeface="Calibri" pitchFamily="34" charset="-122"/>
                <a:cs typeface="Calibri" pitchFamily="34" charset="-120"/>
              </a:rPr>
              <a:t>Once validated in production builds, delete the original. The Strangler Fig cycle is complete. Architecture debt is paid without a single high-risk cutover event.</a:t>
            </a:r>
            <a:endParaRPr lang="en-US" sz="850" dirty="0"/>
          </a:p>
        </p:txBody>
      </p:sp>
      <p:sp>
        <p:nvSpPr>
          <p:cNvPr id="34" name="Shape 32"/>
          <p:cNvSpPr/>
          <p:nvPr/>
        </p:nvSpPr>
        <p:spPr>
          <a:xfrm>
            <a:off x="256032" y="4901184"/>
            <a:ext cx="8631936" cy="219456"/>
          </a:xfrm>
          <a:prstGeom prst="rect">
            <a:avLst/>
          </a:prstGeom>
          <a:solidFill>
            <a:srgbClr val="152638"/>
          </a:solidFill>
          <a:ln/>
        </p:spPr>
      </p:sp>
      <p:sp>
        <p:nvSpPr>
          <p:cNvPr id="35" name="Shape 33"/>
          <p:cNvSpPr/>
          <p:nvPr/>
        </p:nvSpPr>
        <p:spPr>
          <a:xfrm>
            <a:off x="256032" y="4901184"/>
            <a:ext cx="91440" cy="219456"/>
          </a:xfrm>
          <a:prstGeom prst="rect">
            <a:avLst/>
          </a:prstGeom>
          <a:solidFill>
            <a:srgbClr val="FF6B35"/>
          </a:solidFill>
          <a:ln/>
        </p:spPr>
      </p:sp>
      <p:sp>
        <p:nvSpPr>
          <p:cNvPr id="36" name="Text 34"/>
          <p:cNvSpPr/>
          <p:nvPr/>
        </p:nvSpPr>
        <p:spPr>
          <a:xfrm>
            <a:off x="411480" y="4901184"/>
            <a:ext cx="8321040" cy="219456"/>
          </a:xfrm>
          <a:prstGeom prst="rect">
            <a:avLst/>
          </a:prstGeom>
          <a:noFill/>
          <a:ln/>
        </p:spPr>
        <p:txBody>
          <a:bodyPr wrap="square" lIns="0" tIns="0" rIns="0" bIns="0" rtlCol="0" anchor="ctr"/>
          <a:lstStyle/>
          <a:p>
            <a:pPr indent="0" marL="0">
              <a:buNone/>
            </a:pPr>
            <a:r>
              <a:rPr lang="en-US" sz="800" dirty="0">
                <a:solidFill>
                  <a:srgbClr val="B8D4E0"/>
                </a:solidFill>
                <a:latin typeface="Calibri" pitchFamily="34" charset="0"/>
                <a:ea typeface="Calibri" pitchFamily="34" charset="-122"/>
                <a:cs typeface="Calibri" pitchFamily="34" charset="-120"/>
              </a:rPr>
              <a:t>Why it matters for DTNA:  Instrument cluster software cannot be rewritten mid-program. Strangler Fig enables safe, incremental HA adoption on safety-critical, ISO 26262-governed, schedule-constrained systems.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2638"/>
        </a:solidFill>
      </p:bgPr>
    </p:bg>
    <p:spTree>
      <p:nvGrpSpPr>
        <p:cNvPr id="1" name=""/>
        <p:cNvGrpSpPr/>
        <p:nvPr/>
      </p:nvGrpSpPr>
      <p:grpSpPr>
        <a:xfrm>
          <a:off x="0" y="0"/>
          <a:ext cx="0" cy="0"/>
          <a:chOff x="0" y="0"/>
          <a:chExt cx="0" cy="0"/>
        </a:xfrm>
      </p:grpSpPr>
      <p:sp>
        <p:nvSpPr>
          <p:cNvPr id="2" name="HeaderBg"/>
          <p:cNvSpPr/>
          <p:nvPr/>
        </p:nvSpPr>
        <p:spPr>
          <a:xfrm>
            <a:off x="0" y="0"/>
            <a:ext cx="9144000" cy="658368"/>
          </a:xfrm>
          <a:prstGeom prst="rect">
            <a:avLst/>
          </a:prstGeom>
          <a:solidFill>
            <a:srgbClr val="0B1929"/>
          </a:solidFill>
          <a:ln/>
        </p:spPr>
      </p:sp>
      <p:sp>
        <p:nvSpPr>
          <p:cNvPr id="3" name="Title"/>
          <p:cNvSpPr/>
          <p:nvPr/>
        </p:nvSpPr>
        <p:spPr>
          <a:xfrm>
            <a:off x="365760" y="0"/>
            <a:ext cx="8412480" cy="658368"/>
          </a:xfrm>
          <a:prstGeom prst="rect">
            <a:avLst/>
          </a:prstGeom>
          <a:noFill/>
          <a:ln/>
        </p:spPr>
        <p:txBody>
          <a:bodyPr wrap="square" lIns="0" tIns="0" rIns="0" bIns="0" rtlCol="0" anchor="ctr"/>
          <a:lstStyle/>
          <a:p>
            <a:pPr indent="0" marL="0">
              <a:buNone/>
            </a:pPr>
            <a:r>
              <a:rPr lang="en-US" sz="1800" b="1" dirty="0">
                <a:solidFill>
                  <a:srgbClr val="00C2CB"/>
                </a:solidFill>
                <a:latin typeface="Trebuchet MS" pitchFamily="34" charset="0"/>
              </a:rPr>
              <a:t>06  Enforcing HA Rules &amp; Training Global Teams</a:t>
            </a:r>
          </a:p>
        </p:txBody>
      </p:sp>
      <p:sp>
        <p:nvSpPr>
          <p:cNvPr id="4" name="TeamCtxBg"/>
          <p:cNvSpPr/>
          <p:nvPr/>
        </p:nvSpPr>
        <p:spPr>
          <a:xfrm>
            <a:off x="274320" y="720000"/>
            <a:ext cx="8595360" cy="340000"/>
          </a:xfrm>
          <a:prstGeom prst="rect">
            <a:avLst/>
          </a:prstGeom>
          <a:solidFill>
            <a:srgbClr val="1E3A52"/>
          </a:solidFill>
          <a:ln/>
        </p:spPr>
      </p:sp>
      <p:pic>
        <p:nvPicPr>
          <p:cNvPr id="5" name="TeamIcon" descr="preencoded.png"/>
          <p:cNvPicPr>
            <a:picLocks noChangeAspect="1"/>
          </p:cNvPicPr>
          <p:nvPr/>
        </p:nvPicPr>
        <p:blipFill>
          <a:blip r:embed="rId1"/>
          <a:stretch>
            <a:fillRect/>
          </a:stretch>
        </p:blipFill>
        <p:spPr>
          <a:xfrm>
            <a:off x="402336" y="780000"/>
            <a:ext cx="210000" cy="210000"/>
          </a:xfrm>
          <a:prstGeom prst="rect">
            <a:avLst/>
          </a:prstGeom>
        </p:spPr>
      </p:pic>
      <p:sp>
        <p:nvSpPr>
          <p:cNvPr id="6" name="TeamCtxText"/>
          <p:cNvSpPr/>
          <p:nvPr/>
        </p:nvSpPr>
        <p:spPr>
          <a:xfrm>
            <a:off x="700000" y="735000"/>
            <a:ext cx="7900000" cy="290000"/>
          </a:xfrm>
          <a:prstGeom prst="rect">
            <a:avLst/>
          </a:prstGeom>
          <a:noFill/>
          <a:ln/>
        </p:spPr>
        <p:txBody>
          <a:bodyPr wrap="square" lIns="0" tIns="0" rIns="0" bIns="0" rtlCol="0" anchor="ctr"/>
          <a:lstStyle/>
          <a:p>
            <a:pPr indent="0" marL="0">
              <a:buNone/>
            </a:pPr>
            <a:r>
              <a:rPr lang="en-US" sz="900" b="1" dirty="0">
                <a:solidFill>
                  <a:srgbClr val="F5A623"/>
                </a:solidFill>
                <a:latin typeface="Trebuchet MS" pitchFamily="34" charset="0"/>
              </a:rPr>
              <a:t>Global Team Context:  US (Portland/Detroit)  ·  Germany (Stuttgart)  ·  India (DTICI, Bangalore/Pune)</a:t>
            </a:r>
          </a:p>
        </p:txBody>
      </p:sp>
      <p:sp>
        <p:nvSpPr>
          <p:cNvPr id="10" name="S1Bg"/>
          <p:cNvSpPr/>
          <p:nvPr/>
        </p:nvSpPr>
        <p:spPr>
          <a:xfrm>
            <a:off x="274320" y="1110000"/>
            <a:ext cx="8595360" cy="860000"/>
          </a:xfrm>
          <a:prstGeom prst="rect">
            <a:avLst/>
          </a:prstGeom>
          <a:solidFill>
            <a:srgbClr val="122130"/>
          </a:solidFill>
          <a:ln/>
        </p:spPr>
      </p:sp>
      <p:sp>
        <p:nvSpPr>
          <p:cNvPr id="11" name="S1Accent"/>
          <p:cNvSpPr/>
          <p:nvPr/>
        </p:nvSpPr>
        <p:spPr>
          <a:xfrm>
            <a:off x="274320" y="1110000"/>
            <a:ext cx="109728" cy="860000"/>
          </a:xfrm>
          <a:prstGeom prst="rect">
            <a:avLst/>
          </a:prstGeom>
          <a:solidFill>
            <a:srgbClr val="FF6B35"/>
          </a:solidFill>
          <a:ln/>
        </p:spPr>
      </p:sp>
      <p:pic>
        <p:nvPicPr>
          <p:cNvPr id="12" name="S1Icon" descr="preencoded.png"/>
          <p:cNvPicPr>
            <a:picLocks noChangeAspect="1"/>
          </p:cNvPicPr>
          <p:nvPr/>
        </p:nvPicPr>
        <p:blipFill>
          <a:blip r:embed="rId2"/>
          <a:stretch>
            <a:fillRect/>
          </a:stretch>
        </p:blipFill>
        <p:spPr>
          <a:xfrm>
            <a:off x="490000" y="1200000"/>
            <a:ext cx="250000" cy="250000"/>
          </a:xfrm>
          <a:prstGeom prst="rect">
            <a:avLst/>
          </a:prstGeom>
        </p:spPr>
      </p:pic>
      <p:sp>
        <p:nvSpPr>
          <p:cNvPr id="13" name="S1Title"/>
          <p:cNvSpPr/>
          <p:nvPr/>
        </p:nvSpPr>
        <p:spPr>
          <a:xfrm>
            <a:off x="870000" y="1135000"/>
            <a:ext cx="7900000" cy="250000"/>
          </a:xfrm>
          <a:prstGeom prst="rect">
            <a:avLst/>
          </a:prstGeom>
          <a:noFill/>
          <a:ln/>
        </p:spPr>
        <p:txBody>
          <a:bodyPr wrap="square" lIns="0" tIns="0" rIns="0" bIns="0" rtlCol="0" anchor="ctr"/>
          <a:lstStyle/>
          <a:p>
            <a:pPr indent="0" marL="0">
              <a:buNone/>
            </a:pPr>
            <a:r>
              <a:rPr lang="en-US" sz="1200" b="1" dirty="0">
                <a:solidFill>
                  <a:srgbClr val="FF6B35"/>
                </a:solidFill>
                <a:latin typeface="Trebuchet MS" pitchFamily="34" charset="0"/>
              </a:rPr>
              <a:t>Architecture Decision Records (ADRs)</a:t>
            </a:r>
          </a:p>
        </p:txBody>
      </p:sp>
      <p:sp>
        <p:nvSpPr>
          <p:cNvPr id="14" name="S1Body"/>
          <p:cNvSpPr/>
          <p:nvPr/>
        </p:nvSpPr>
        <p:spPr>
          <a:xfrm>
            <a:off x="870000" y="1400000"/>
            <a:ext cx="7900000" cy="530000"/>
          </a:xfrm>
          <a:prstGeom prst="rect">
            <a:avLst/>
          </a:prstGeom>
          <a:noFill/>
          <a:ln/>
        </p:spPr>
        <p:txBody>
          <a:bodyPr wrap="square" lIns="0" tIns="0" rIns="0" bIns="0" rtlCol="0" anchor="t"/>
          <a:lstStyle/>
          <a:p>
            <a:pPr indent="0" marL="0">
              <a:buNone/>
            </a:pPr>
            <a:r>
              <a:rPr lang="en-US" sz="950" dirty="0">
                <a:solidFill>
                  <a:srgbClr val="B8D4E0"/>
                </a:solidFill>
                <a:latin typeface="Calibri" pitchFamily="34" charset="0"/>
              </a:rPr>
              <a:t>Every architectural decision stored as Markdown in /docs/adr/ and reviewed in PRs like code. Gives US, Germany, and DTICI India a shared, auditable, immutable record that survives personnel rotation.</a:t>
            </a:r>
          </a:p>
        </p:txBody>
      </p:sp>
      <p:sp>
        <p:nvSpPr>
          <p:cNvPr id="20" name="S2Bg"/>
          <p:cNvSpPr/>
          <p:nvPr/>
        </p:nvSpPr>
        <p:spPr>
          <a:xfrm>
            <a:off x="274320" y="2010000"/>
            <a:ext cx="8595360" cy="860000"/>
          </a:xfrm>
          <a:prstGeom prst="rect">
            <a:avLst/>
          </a:prstGeom>
          <a:solidFill>
            <a:srgbClr val="122130"/>
          </a:solidFill>
          <a:ln/>
        </p:spPr>
      </p:sp>
      <p:sp>
        <p:nvSpPr>
          <p:cNvPr id="21" name="S2Accent"/>
          <p:cNvSpPr/>
          <p:nvPr/>
        </p:nvSpPr>
        <p:spPr>
          <a:xfrm>
            <a:off x="274320" y="2010000"/>
            <a:ext cx="109728" cy="860000"/>
          </a:xfrm>
          <a:prstGeom prst="rect">
            <a:avLst/>
          </a:prstGeom>
          <a:solidFill>
            <a:srgbClr val="00C2CB"/>
          </a:solidFill>
          <a:ln/>
        </p:spPr>
      </p:sp>
      <p:pic>
        <p:nvPicPr>
          <p:cNvPr id="22" name="S2Icon" descr="preencoded.png"/>
          <p:cNvPicPr>
            <a:picLocks noChangeAspect="1"/>
          </p:cNvPicPr>
          <p:nvPr/>
        </p:nvPicPr>
        <p:blipFill>
          <a:blip r:embed="rId3"/>
          <a:stretch>
            <a:fillRect/>
          </a:stretch>
        </p:blipFill>
        <p:spPr>
          <a:xfrm>
            <a:off x="490000" y="2100000"/>
            <a:ext cx="250000" cy="250000"/>
          </a:xfrm>
          <a:prstGeom prst="rect">
            <a:avLst/>
          </a:prstGeom>
        </p:spPr>
      </p:pic>
      <p:sp>
        <p:nvSpPr>
          <p:cNvPr id="23" name="S2Title"/>
          <p:cNvSpPr/>
          <p:nvPr/>
        </p:nvSpPr>
        <p:spPr>
          <a:xfrm>
            <a:off x="870000" y="2035000"/>
            <a:ext cx="7900000" cy="250000"/>
          </a:xfrm>
          <a:prstGeom prst="rect">
            <a:avLst/>
          </a:prstGeom>
          <a:noFill/>
          <a:ln/>
        </p:spPr>
        <p:txBody>
          <a:bodyPr wrap="square" lIns="0" tIns="0" rIns="0" bIns="0" rtlCol="0" anchor="ctr"/>
          <a:lstStyle/>
          <a:p>
            <a:pPr indent="0" marL="0">
              <a:buNone/>
            </a:pPr>
            <a:r>
              <a:rPr lang="en-US" sz="1200" b="1" dirty="0">
                <a:solidFill>
                  <a:srgbClr val="00C2CB"/>
                </a:solidFill>
                <a:latin typeface="Trebuchet MS" pitchFamily="34" charset="0"/>
              </a:rPr>
              <a:t>Golden Path Repository</a:t>
            </a:r>
          </a:p>
        </p:txBody>
      </p:sp>
      <p:sp>
        <p:nvSpPr>
          <p:cNvPr id="24" name="S2Body"/>
          <p:cNvSpPr/>
          <p:nvPr/>
        </p:nvSpPr>
        <p:spPr>
          <a:xfrm>
            <a:off x="870000" y="2300000"/>
            <a:ext cx="7900000" cy="530000"/>
          </a:xfrm>
          <a:prstGeom prst="rect">
            <a:avLst/>
          </a:prstGeom>
          <a:noFill/>
          <a:ln/>
        </p:spPr>
        <p:txBody>
          <a:bodyPr wrap="square" lIns="0" tIns="0" rIns="0" bIns="0" rtlCol="0" anchor="t"/>
          <a:lstStyle/>
          <a:p>
            <a:pPr indent="0" marL="0">
              <a:buNone/>
            </a:pPr>
            <a:r>
              <a:rPr lang="en-US" sz="950" dirty="0">
                <a:solidFill>
                  <a:srgbClr val="B8D4E0"/>
                </a:solidFill>
                <a:latin typeface="Calibri" pitchFamily="34" charset="0"/>
              </a:rPr>
              <a:t>Curated reference repo (domain/, ports/, adapters/, tests/) with CAN stub, Qt mock, import-lint, and CI. DTICI developers clone it before writing production ECU code — eliminates tribal knowledge across time zones. github.com/AndrewJesse/HexagonalArchitecture</a:t>
            </a:r>
          </a:p>
        </p:txBody>
      </p:sp>
      <p:sp>
        <p:nvSpPr>
          <p:cNvPr id="30" name="S3Bg"/>
          <p:cNvSpPr/>
          <p:nvPr/>
        </p:nvSpPr>
        <p:spPr>
          <a:xfrm>
            <a:off x="274320" y="2910000"/>
            <a:ext cx="8595360" cy="860000"/>
          </a:xfrm>
          <a:prstGeom prst="rect">
            <a:avLst/>
          </a:prstGeom>
          <a:solidFill>
            <a:srgbClr val="122130"/>
          </a:solidFill>
          <a:ln/>
        </p:spPr>
      </p:sp>
      <p:sp>
        <p:nvSpPr>
          <p:cNvPr id="31" name="S3Accent"/>
          <p:cNvSpPr/>
          <p:nvPr/>
        </p:nvSpPr>
        <p:spPr>
          <a:xfrm>
            <a:off x="274320" y="2910000"/>
            <a:ext cx="109728" cy="860000"/>
          </a:xfrm>
          <a:prstGeom prst="rect">
            <a:avLst/>
          </a:prstGeom>
          <a:solidFill>
            <a:srgbClr val="7B68EE"/>
          </a:solidFill>
          <a:ln/>
        </p:spPr>
      </p:sp>
      <p:pic>
        <p:nvPicPr>
          <p:cNvPr id="32" name="S3Icon" descr="preencoded.png"/>
          <p:cNvPicPr>
            <a:picLocks noChangeAspect="1"/>
          </p:cNvPicPr>
          <p:nvPr/>
        </p:nvPicPr>
        <p:blipFill>
          <a:blip r:embed="rId4"/>
          <a:stretch>
            <a:fillRect/>
          </a:stretch>
        </p:blipFill>
        <p:spPr>
          <a:xfrm>
            <a:off x="490000" y="3000000"/>
            <a:ext cx="250000" cy="250000"/>
          </a:xfrm>
          <a:prstGeom prst="rect">
            <a:avLst/>
          </a:prstGeom>
        </p:spPr>
      </p:pic>
      <p:sp>
        <p:nvSpPr>
          <p:cNvPr id="33" name="S3Title"/>
          <p:cNvSpPr/>
          <p:nvPr/>
        </p:nvSpPr>
        <p:spPr>
          <a:xfrm>
            <a:off x="870000" y="2935000"/>
            <a:ext cx="7900000" cy="250000"/>
          </a:xfrm>
          <a:prstGeom prst="rect">
            <a:avLst/>
          </a:prstGeom>
          <a:noFill/>
          <a:ln/>
        </p:spPr>
        <p:txBody>
          <a:bodyPr wrap="square" lIns="0" tIns="0" rIns="0" bIns="0" rtlCol="0" anchor="ctr"/>
          <a:lstStyle/>
          <a:p>
            <a:pPr indent="0" marL="0">
              <a:buNone/>
            </a:pPr>
            <a:r>
              <a:rPr lang="en-US" sz="1200" b="1" dirty="0">
                <a:solidFill>
                  <a:srgbClr val="9B8FFF"/>
                </a:solidFill>
                <a:latin typeface="Trebuchet MS" pitchFamily="34" charset="0"/>
              </a:rPr>
              <a:t>Dependency Rule Enforcement via Static Analysis</a:t>
            </a:r>
          </a:p>
        </p:txBody>
      </p:sp>
      <p:sp>
        <p:nvSpPr>
          <p:cNvPr id="34" name="S3Body"/>
          <p:cNvSpPr/>
          <p:nvPr/>
        </p:nvSpPr>
        <p:spPr>
          <a:xfrm>
            <a:off x="870000" y="3200000"/>
            <a:ext cx="7900000" cy="530000"/>
          </a:xfrm>
          <a:prstGeom prst="rect">
            <a:avLst/>
          </a:prstGeom>
          <a:noFill/>
          <a:ln/>
        </p:spPr>
        <p:txBody>
          <a:bodyPr wrap="square" lIns="0" tIns="0" rIns="0" bIns="0" rtlCol="0" anchor="t"/>
          <a:lstStyle/>
          <a:p>
            <a:pPr indent="0" marL="0">
              <a:buNone/>
            </a:pPr>
            <a:r>
              <a:rPr lang="en-US" sz="950" dirty="0">
                <a:solidFill>
                  <a:srgbClr val="B8D4E0"/>
                </a:solidFill>
                <a:latin typeface="Calibri" pitchFamily="34" charset="0"/>
              </a:rPr>
              <a:t>Assert in CI that domain packages never import from adapter packages — violations fail the PR. Tools: SonarQube (C/C++ + custom rules, enterprise standard), ArchUnit (Java), import-linter (Python), Dependency Cruiser (TS/JS), or custom MISRA lint for embedded.</a:t>
            </a:r>
          </a:p>
        </p:txBody>
      </p:sp>
      <p:sp>
        <p:nvSpPr>
          <p:cNvPr id="40" name="S4Bg"/>
          <p:cNvSpPr/>
          <p:nvPr/>
        </p:nvSpPr>
        <p:spPr>
          <a:xfrm>
            <a:off x="274320" y="3810000"/>
            <a:ext cx="8595360" cy="860000"/>
          </a:xfrm>
          <a:prstGeom prst="rect">
            <a:avLst/>
          </a:prstGeom>
          <a:solidFill>
            <a:srgbClr val="122130"/>
          </a:solidFill>
          <a:ln/>
        </p:spPr>
      </p:sp>
      <p:sp>
        <p:nvSpPr>
          <p:cNvPr id="41" name="S4Accent"/>
          <p:cNvSpPr/>
          <p:nvPr/>
        </p:nvSpPr>
        <p:spPr>
          <a:xfrm>
            <a:off x="274320" y="3810000"/>
            <a:ext cx="109728" cy="860000"/>
          </a:xfrm>
          <a:prstGeom prst="rect">
            <a:avLst/>
          </a:prstGeom>
          <a:solidFill>
            <a:srgbClr val="4CAF50"/>
          </a:solidFill>
          <a:ln/>
        </p:spPr>
      </p:sp>
      <p:pic>
        <p:nvPicPr>
          <p:cNvPr id="42" name="S4Icon" descr="preencoded.png"/>
          <p:cNvPicPr>
            <a:picLocks noChangeAspect="1"/>
          </p:cNvPicPr>
          <p:nvPr/>
        </p:nvPicPr>
        <p:blipFill>
          <a:blip r:embed="rId5"/>
          <a:stretch>
            <a:fillRect/>
          </a:stretch>
        </p:blipFill>
        <p:spPr>
          <a:xfrm>
            <a:off x="490000" y="3900000"/>
            <a:ext cx="250000" cy="250000"/>
          </a:xfrm>
          <a:prstGeom prst="rect">
            <a:avLst/>
          </a:prstGeom>
        </p:spPr>
      </p:pic>
      <p:sp>
        <p:nvSpPr>
          <p:cNvPr id="43" name="S4Title"/>
          <p:cNvSpPr/>
          <p:nvPr/>
        </p:nvSpPr>
        <p:spPr>
          <a:xfrm>
            <a:off x="870000" y="3835000"/>
            <a:ext cx="7900000" cy="250000"/>
          </a:xfrm>
          <a:prstGeom prst="rect">
            <a:avLst/>
          </a:prstGeom>
          <a:noFill/>
          <a:ln/>
        </p:spPr>
        <p:txBody>
          <a:bodyPr wrap="square" lIns="0" tIns="0" rIns="0" bIns="0" rtlCol="0" anchor="ctr"/>
          <a:lstStyle/>
          <a:p>
            <a:pPr indent="0" marL="0">
              <a:buNone/>
            </a:pPr>
            <a:r>
              <a:rPr lang="en-US" sz="1200" b="1" dirty="0">
                <a:solidFill>
                  <a:srgbClr val="4CAF50"/>
                </a:solidFill>
                <a:latin typeface="Trebuchet MS" pitchFamily="34" charset="0"/>
              </a:rPr>
              <a:t>Coaching DTICI — Architecture as a Teaching Framework</a:t>
            </a:r>
          </a:p>
        </p:txBody>
      </p:sp>
      <p:sp>
        <p:nvSpPr>
          <p:cNvPr id="44" name="S4Body"/>
          <p:cNvSpPr/>
          <p:nvPr/>
        </p:nvSpPr>
        <p:spPr>
          <a:xfrm>
            <a:off x="870000" y="4100000"/>
            <a:ext cx="7900000" cy="520000"/>
          </a:xfrm>
          <a:prstGeom prst="rect">
            <a:avLst/>
          </a:prstGeom>
          <a:noFill/>
          <a:ln/>
        </p:spPr>
        <p:txBody>
          <a:bodyPr wrap="square" lIns="0" tIns="0" rIns="0" bIns="0" rtlCol="0" anchor="t"/>
          <a:lstStyle/>
          <a:p>
            <a:pPr indent="0" marL="0">
              <a:buNone/>
            </a:pPr>
            <a:r>
              <a:rPr lang="en-US" sz="950" dirty="0">
                <a:solidFill>
                  <a:srgbClr val="B8D4E0"/>
                </a:solidFill>
                <a:latin typeface="Calibri" pitchFamily="34" charset="0"/>
              </a:rPr>
              <a:t>Draw the boundary, place the feature, ask “which zone?” Async office hours US → Germany → DTICI India, with the Golden Path repo as shared ground truth. Regular PR mentoring anchors the pattern without synchronous dependency.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0" y="0"/>
            <a:ext cx="5577840" cy="5143500"/>
          </a:xfrm>
          <a:prstGeom prst="rect">
            <a:avLst/>
          </a:prstGeom>
          <a:solidFill>
            <a:srgbClr val="152638"/>
          </a:solidFill>
          <a:ln/>
        </p:spPr>
      </p:sp>
      <p:sp>
        <p:nvSpPr>
          <p:cNvPr id="3" name="Shape 1"/>
          <p:cNvSpPr/>
          <p:nvPr/>
        </p:nvSpPr>
        <p:spPr>
          <a:xfrm>
            <a:off x="0" y="0"/>
            <a:ext cx="109728" cy="5143500"/>
          </a:xfrm>
          <a:prstGeom prst="rect">
            <a:avLst/>
          </a:prstGeom>
          <a:solidFill>
            <a:srgbClr val="00C2CB"/>
          </a:solidFill>
          <a:ln/>
        </p:spPr>
      </p:sp>
      <p:sp>
        <p:nvSpPr>
          <p:cNvPr id="4" name="Text 2"/>
          <p:cNvSpPr/>
          <p:nvPr/>
        </p:nvSpPr>
        <p:spPr>
          <a:xfrm>
            <a:off x="320040" y="475488"/>
            <a:ext cx="5029200" cy="1664208"/>
          </a:xfrm>
          <a:prstGeom prst="rect">
            <a:avLst/>
          </a:prstGeom>
          <a:noFill/>
          <a:ln/>
        </p:spPr>
        <p:txBody>
          <a:bodyPr wrap="square" lIns="0" tIns="0" rIns="0" bIns="0" rtlCol="0" anchor="ctr"/>
          <a:lstStyle/>
          <a:p>
            <a:pPr indent="0" marL="0">
              <a:buNone/>
            </a:pPr>
            <a:r>
              <a:rPr lang="en-US" sz="3600" b="1" dirty="0">
                <a:solidFill>
                  <a:srgbClr val="EDF4F8"/>
                </a:solidFill>
                <a:latin typeface="Trebuchet MS" pitchFamily="34" charset="0"/>
                <a:ea typeface="Trebuchet MS" pitchFamily="34" charset="-122"/>
                <a:cs typeface="Trebuchet MS" pitchFamily="34" charset="-120"/>
              </a:rPr>
              <a:t>Why This</a:t>
            </a:r>
            <a:endParaRPr lang="en-US" sz="3600" dirty="0"/>
          </a:p>
          <a:p>
            <a:pPr indent="0" marL="0">
              <a:buNone/>
            </a:pPr>
            <a:r>
              <a:rPr lang="en-US" sz="3600" b="1" dirty="0">
                <a:solidFill>
                  <a:srgbClr val="EDF4F8"/>
                </a:solidFill>
                <a:latin typeface="Trebuchet MS" pitchFamily="34" charset="0"/>
                <a:ea typeface="Trebuchet MS" pitchFamily="34" charset="-122"/>
                <a:cs typeface="Trebuchet MS" pitchFamily="34" charset="-120"/>
              </a:rPr>
              <a:t>Matters</a:t>
            </a:r>
            <a:endParaRPr lang="en-US" sz="3600" dirty="0"/>
          </a:p>
          <a:p>
            <a:pPr indent="0" marL="0">
              <a:buNone/>
            </a:pPr>
            <a:r>
              <a:rPr lang="en-US" sz="3600" b="1" dirty="0">
                <a:solidFill>
                  <a:srgbClr val="EDF4F8"/>
                </a:solidFill>
                <a:latin typeface="Trebuchet MS" pitchFamily="34" charset="0"/>
                <a:ea typeface="Trebuchet MS" pitchFamily="34" charset="-122"/>
                <a:cs typeface="Trebuchet MS" pitchFamily="34" charset="-120"/>
              </a:rPr>
              <a:t>for the Role</a:t>
            </a:r>
            <a:endParaRPr lang="en-US" sz="3600" dirty="0"/>
          </a:p>
        </p:txBody>
      </p:sp>
      <p:sp>
        <p:nvSpPr>
          <p:cNvPr id="5" name="Shape 3"/>
          <p:cNvSpPr/>
          <p:nvPr/>
        </p:nvSpPr>
        <p:spPr>
          <a:xfrm>
            <a:off x="320040" y="2231136"/>
            <a:ext cx="4572000" cy="36576"/>
          </a:xfrm>
          <a:prstGeom prst="rect">
            <a:avLst/>
          </a:prstGeom>
          <a:solidFill>
            <a:srgbClr val="3D5A70"/>
          </a:solidFill>
          <a:ln/>
        </p:spPr>
      </p:sp>
      <p:pic>
        <p:nvPicPr>
          <p:cNvPr id="6" name="Image 0" descr="preencoded.png"/>
          <p:cNvPicPr>
            <a:picLocks noChangeAspect="1"/>
          </p:cNvPicPr>
          <p:nvPr/>
        </p:nvPicPr>
        <p:blipFill>
          <a:blip r:embed="rId1"/>
          <a:stretch>
            <a:fillRect/>
          </a:stretch>
        </p:blipFill>
        <p:spPr>
          <a:xfrm>
            <a:off x="347472" y="2359152"/>
            <a:ext cx="237744" cy="237744"/>
          </a:xfrm>
          <a:prstGeom prst="rect">
            <a:avLst/>
          </a:prstGeom>
        </p:spPr>
      </p:pic>
      <p:sp>
        <p:nvSpPr>
          <p:cNvPr id="7" name="Text 4"/>
          <p:cNvSpPr/>
          <p:nvPr/>
        </p:nvSpPr>
        <p:spPr>
          <a:xfrm>
            <a:off x="694944" y="2331720"/>
            <a:ext cx="4663440" cy="329184"/>
          </a:xfrm>
          <a:prstGeom prst="rect">
            <a:avLst/>
          </a:prstGeom>
          <a:noFill/>
          <a:ln/>
        </p:spPr>
        <p:txBody>
          <a:bodyPr wrap="square" lIns="0" tIns="0" rIns="0" bIns="0" rtlCol="0" anchor="ctr"/>
          <a:lstStyle/>
          <a:p>
            <a:pPr indent="0" marL="0">
              <a:buNone/>
            </a:pPr>
            <a:r>
              <a:rPr lang="en-US" sz="900" dirty="0">
                <a:solidFill>
                  <a:srgbClr val="B8D4E0"/>
                </a:solidFill>
                <a:latin typeface="Calibri" pitchFamily="34" charset="0"/>
                <a:ea typeface="Calibri" pitchFamily="34" charset="-122"/>
                <a:cs typeface="Calibri" pitchFamily="34" charset="-120"/>
              </a:rPr>
              <a:t>Defect pre-analysis → adapter isolation pinpoints root cause without full ECU stack</a:t>
            </a:r>
            <a:endParaRPr lang="en-US" sz="900" dirty="0"/>
          </a:p>
        </p:txBody>
      </p:sp>
      <p:pic>
        <p:nvPicPr>
          <p:cNvPr id="8" name="Image 1" descr="preencoded.png"/>
          <p:cNvPicPr>
            <a:picLocks noChangeAspect="1"/>
          </p:cNvPicPr>
          <p:nvPr/>
        </p:nvPicPr>
        <p:blipFill>
          <a:blip r:embed="rId2"/>
          <a:stretch>
            <a:fillRect/>
          </a:stretch>
        </p:blipFill>
        <p:spPr>
          <a:xfrm>
            <a:off x="347472" y="2816352"/>
            <a:ext cx="237744" cy="237744"/>
          </a:xfrm>
          <a:prstGeom prst="rect">
            <a:avLst/>
          </a:prstGeom>
        </p:spPr>
      </p:pic>
      <p:sp>
        <p:nvSpPr>
          <p:cNvPr id="9" name="Text 5"/>
          <p:cNvSpPr/>
          <p:nvPr/>
        </p:nvSpPr>
        <p:spPr>
          <a:xfrm>
            <a:off x="694944" y="2788920"/>
            <a:ext cx="4663440" cy="329184"/>
          </a:xfrm>
          <a:prstGeom prst="rect">
            <a:avLst/>
          </a:prstGeom>
          <a:noFill/>
          <a:ln/>
        </p:spPr>
        <p:txBody>
          <a:bodyPr wrap="square" lIns="0" tIns="0" rIns="0" bIns="0" rtlCol="0" anchor="ctr"/>
          <a:lstStyle/>
          <a:p>
            <a:pPr indent="0" marL="0">
              <a:buNone/>
            </a:pPr>
            <a:r>
              <a:rPr lang="en-US" sz="900" dirty="0">
                <a:solidFill>
                  <a:srgbClr val="B8D4E0"/>
                </a:solidFill>
                <a:latin typeface="Calibri" pitchFamily="34" charset="0"/>
                <a:ea typeface="Calibri" pitchFamily="34" charset="-122"/>
                <a:cs typeface="Calibri" pitchFamily="34" charset="-120"/>
              </a:rPr>
              <a:t>AUTOSAR alignment → AUTOSAR SWC/RTE is Hexagonal Architecture for automotive ECUs</a:t>
            </a:r>
            <a:endParaRPr lang="en-US" sz="900" dirty="0"/>
          </a:p>
        </p:txBody>
      </p:sp>
      <p:pic>
        <p:nvPicPr>
          <p:cNvPr id="10" name="Image 2" descr="preencoded.png"/>
          <p:cNvPicPr>
            <a:picLocks noChangeAspect="1"/>
          </p:cNvPicPr>
          <p:nvPr/>
        </p:nvPicPr>
        <p:blipFill>
          <a:blip r:embed="rId3"/>
          <a:stretch>
            <a:fillRect/>
          </a:stretch>
        </p:blipFill>
        <p:spPr>
          <a:xfrm>
            <a:off x="347472" y="3273552"/>
            <a:ext cx="237744" cy="237744"/>
          </a:xfrm>
          <a:prstGeom prst="rect">
            <a:avLst/>
          </a:prstGeom>
        </p:spPr>
      </p:pic>
      <p:sp>
        <p:nvSpPr>
          <p:cNvPr id="11" name="Text 6"/>
          <p:cNvSpPr/>
          <p:nvPr/>
        </p:nvSpPr>
        <p:spPr>
          <a:xfrm>
            <a:off x="694944" y="3246120"/>
            <a:ext cx="4663440" cy="329184"/>
          </a:xfrm>
          <a:prstGeom prst="rect">
            <a:avLst/>
          </a:prstGeom>
          <a:noFill/>
          <a:ln/>
        </p:spPr>
        <p:txBody>
          <a:bodyPr wrap="square" lIns="0" tIns="0" rIns="0" bIns="0" rtlCol="0" anchor="ctr"/>
          <a:lstStyle/>
          <a:p>
            <a:pPr indent="0" marL="0">
              <a:buNone/>
            </a:pPr>
            <a:r>
              <a:rPr lang="en-US" sz="900" dirty="0">
                <a:solidFill>
                  <a:srgbClr val="B8D4E0"/>
                </a:solidFill>
                <a:latin typeface="Calibri" pitchFamily="34" charset="0"/>
                <a:ea typeface="Calibri" pitchFamily="34" charset="-122"/>
                <a:cs typeface="Calibri" pitchFamily="34" charset="-120"/>
              </a:rPr>
              <a:t>ISO 26262 → port boundaries enable ASIL decomposition and safety-critical partitioning</a:t>
            </a:r>
            <a:endParaRPr lang="en-US" sz="900" dirty="0"/>
          </a:p>
        </p:txBody>
      </p:sp>
      <p:pic>
        <p:nvPicPr>
          <p:cNvPr id="12" name="Image 3" descr="preencoded.png"/>
          <p:cNvPicPr>
            <a:picLocks noChangeAspect="1"/>
          </p:cNvPicPr>
          <p:nvPr/>
        </p:nvPicPr>
        <p:blipFill>
          <a:blip r:embed="rId4"/>
          <a:stretch>
            <a:fillRect/>
          </a:stretch>
        </p:blipFill>
        <p:spPr>
          <a:xfrm>
            <a:off x="347472" y="3730752"/>
            <a:ext cx="237744" cy="237744"/>
          </a:xfrm>
          <a:prstGeom prst="rect">
            <a:avLst/>
          </a:prstGeom>
        </p:spPr>
      </p:pic>
      <p:sp>
        <p:nvSpPr>
          <p:cNvPr id="13" name="Text 7"/>
          <p:cNvSpPr/>
          <p:nvPr/>
        </p:nvSpPr>
        <p:spPr>
          <a:xfrm>
            <a:off x="694944" y="3703320"/>
            <a:ext cx="4663440" cy="329184"/>
          </a:xfrm>
          <a:prstGeom prst="rect">
            <a:avLst/>
          </a:prstGeom>
          <a:noFill/>
          <a:ln/>
        </p:spPr>
        <p:txBody>
          <a:bodyPr wrap="square" lIns="0" tIns="0" rIns="0" bIns="0" rtlCol="0" anchor="ctr"/>
          <a:lstStyle/>
          <a:p>
            <a:pPr indent="0" marL="0">
              <a:buNone/>
            </a:pPr>
            <a:r>
              <a:rPr lang="en-US" sz="900" dirty="0">
                <a:solidFill>
                  <a:srgbClr val="B8D4E0"/>
                </a:solidFill>
                <a:latin typeface="Calibri" pitchFamily="34" charset="0"/>
                <a:ea typeface="Calibri" pitchFamily="34" charset="-122"/>
                <a:cs typeface="Calibri" pitchFamily="34" charset="-120"/>
              </a:rPr>
              <a:t>Qt/QML → rendering adapter pattern separates display logic from vehicle domain cleanly</a:t>
            </a:r>
            <a:endParaRPr lang="en-US" sz="900" dirty="0"/>
          </a:p>
        </p:txBody>
      </p:sp>
      <p:pic>
        <p:nvPicPr>
          <p:cNvPr id="14" name="Image 4" descr="preencoded.png"/>
          <p:cNvPicPr>
            <a:picLocks noChangeAspect="1"/>
          </p:cNvPicPr>
          <p:nvPr/>
        </p:nvPicPr>
        <p:blipFill>
          <a:blip r:embed="rId5"/>
          <a:stretch>
            <a:fillRect/>
          </a:stretch>
        </p:blipFill>
        <p:spPr>
          <a:xfrm>
            <a:off x="347472" y="4187952"/>
            <a:ext cx="237744" cy="237744"/>
          </a:xfrm>
          <a:prstGeom prst="rect">
            <a:avLst/>
          </a:prstGeom>
        </p:spPr>
      </p:pic>
      <p:sp>
        <p:nvSpPr>
          <p:cNvPr id="15" name="Text 8"/>
          <p:cNvSpPr/>
          <p:nvPr/>
        </p:nvSpPr>
        <p:spPr>
          <a:xfrm>
            <a:off x="694944" y="4160520"/>
            <a:ext cx="4663440" cy="329184"/>
          </a:xfrm>
          <a:prstGeom prst="rect">
            <a:avLst/>
          </a:prstGeom>
          <a:noFill/>
          <a:ln/>
        </p:spPr>
        <p:txBody>
          <a:bodyPr wrap="square" lIns="0" tIns="0" rIns="0" bIns="0" rtlCol="0" anchor="ctr"/>
          <a:lstStyle/>
          <a:p>
            <a:pPr indent="0" marL="0">
              <a:buNone/>
            </a:pPr>
            <a:r>
              <a:rPr lang="en-US" sz="900" dirty="0">
                <a:solidFill>
                  <a:srgbClr val="B8D4E0"/>
                </a:solidFill>
                <a:latin typeface="Calibri" pitchFamily="34" charset="0"/>
                <a:ea typeface="Calibri" pitchFamily="34" charset="-122"/>
                <a:cs typeface="Calibri" pitchFamily="34" charset="-120"/>
              </a:rPr>
              <a:t>DTICI India teams → ADRs + Golden Path repo bridge time zones without synchronous dependency</a:t>
            </a:r>
            <a:endParaRPr lang="en-US" sz="900" dirty="0"/>
          </a:p>
        </p:txBody>
      </p:sp>
      <p:pic>
        <p:nvPicPr>
          <p:cNvPr id="16" name="Image 5" descr="preencoded.png"/>
          <p:cNvPicPr>
            <a:picLocks noChangeAspect="1"/>
          </p:cNvPicPr>
          <p:nvPr/>
        </p:nvPicPr>
        <p:blipFill>
          <a:blip r:embed="rId6"/>
          <a:stretch>
            <a:fillRect/>
          </a:stretch>
        </p:blipFill>
        <p:spPr>
          <a:xfrm>
            <a:off x="347472" y="4645152"/>
            <a:ext cx="237744" cy="237744"/>
          </a:xfrm>
          <a:prstGeom prst="rect">
            <a:avLst/>
          </a:prstGeom>
        </p:spPr>
      </p:pic>
      <p:sp>
        <p:nvSpPr>
          <p:cNvPr id="17" name="Text 9"/>
          <p:cNvSpPr/>
          <p:nvPr/>
        </p:nvSpPr>
        <p:spPr>
          <a:xfrm>
            <a:off x="694944" y="4617720"/>
            <a:ext cx="4663440" cy="329184"/>
          </a:xfrm>
          <a:prstGeom prst="rect">
            <a:avLst/>
          </a:prstGeom>
          <a:noFill/>
          <a:ln/>
        </p:spPr>
        <p:txBody>
          <a:bodyPr wrap="square" lIns="0" tIns="0" rIns="0" bIns="0" rtlCol="0" anchor="ctr"/>
          <a:lstStyle/>
          <a:p>
            <a:pPr indent="0" marL="0">
              <a:buNone/>
            </a:pPr>
            <a:r>
              <a:rPr lang="en-US" sz="900" dirty="0">
                <a:solidFill>
                  <a:srgbClr val="B8D4E0"/>
                </a:solidFill>
                <a:latin typeface="Calibri" pitchFamily="34" charset="0"/>
                <a:ea typeface="Calibri" pitchFamily="34" charset="-122"/>
                <a:cs typeface="Calibri" pitchFamily="34" charset="-120"/>
              </a:rPr>
              <a:t>Documentation culture → every architectural decision is auditable, version-controlled, reviewable</a:t>
            </a:r>
            <a:endParaRPr lang="en-US" sz="900" dirty="0"/>
          </a:p>
        </p:txBody>
      </p:sp>
      <p:sp>
        <p:nvSpPr>
          <p:cNvPr id="18" name="Text 10"/>
          <p:cNvSpPr/>
          <p:nvPr/>
        </p:nvSpPr>
        <p:spPr>
          <a:xfrm>
            <a:off x="320040" y="4846320"/>
            <a:ext cx="5120640" cy="201168"/>
          </a:xfrm>
          <a:prstGeom prst="rect">
            <a:avLst/>
          </a:prstGeom>
          <a:noFill/>
          <a:ln/>
        </p:spPr>
        <p:txBody>
          <a:bodyPr wrap="square" lIns="0" tIns="0" rIns="0" bIns="0" rtlCol="0" anchor="ctr"/>
          <a:lstStyle/>
          <a:p>
            <a:pPr indent="0" marL="0">
              <a:buNone/>
            </a:pPr>
            <a:r>
              <a:rPr lang="en-US" sz="750" dirty="0">
                <a:solidFill>
                  <a:srgbClr val="3D5A70"/>
                </a:solidFill>
              </a:rPr>
              <a:t>Source: Alistair Cockburn, "Hexagonal Architecture" (2005)  •  Prepared by Andrew (AJ) Marchese, DTNA</a:t>
            </a:r>
            <a:endParaRPr lang="en-US" sz="750" dirty="0"/>
          </a:p>
        </p:txBody>
      </p:sp>
      <p:sp>
        <p:nvSpPr>
          <p:cNvPr id="19" name="Shape 11"/>
          <p:cNvSpPr/>
          <p:nvPr/>
        </p:nvSpPr>
        <p:spPr>
          <a:xfrm>
            <a:off x="5669280" y="182880"/>
            <a:ext cx="3273552" cy="4773168"/>
          </a:xfrm>
          <a:prstGeom prst="rect">
            <a:avLst/>
          </a:prstGeom>
          <a:solidFill>
            <a:srgbClr val="122130"/>
          </a:solidFill>
          <a:ln/>
          <a:effectLst>
            <a:outerShdw sx="100000" sy="100000" kx="0" ky="0" algn="bl" rotWithShape="0" blurRad="101600" dist="38100" dir="8100000">
              <a:srgbClr val="000000">
                <a:alpha val="28000"/>
              </a:srgbClr>
            </a:outerShdw>
          </a:effectLst>
        </p:spPr>
      </p:sp>
      <p:sp>
        <p:nvSpPr>
          <p:cNvPr id="20" name="Text 12"/>
          <p:cNvSpPr/>
          <p:nvPr/>
        </p:nvSpPr>
        <p:spPr>
          <a:xfrm>
            <a:off x="5760720" y="256032"/>
            <a:ext cx="3090672" cy="329184"/>
          </a:xfrm>
          <a:prstGeom prst="rect">
            <a:avLst/>
          </a:prstGeom>
          <a:noFill/>
          <a:ln/>
        </p:spPr>
        <p:txBody>
          <a:bodyPr wrap="square" lIns="0" tIns="0" rIns="0" bIns="0" rtlCol="0" anchor="ctr"/>
          <a:lstStyle/>
          <a:p>
            <a:pPr algn="ctr" indent="0" marL="0">
              <a:buNone/>
            </a:pPr>
            <a:r>
              <a:rPr lang="en-US" sz="1100" b="1" dirty="0">
                <a:solidFill>
                  <a:srgbClr val="00C2CB"/>
                </a:solidFill>
                <a:latin typeface="Trebuchet MS" pitchFamily="34" charset="0"/>
                <a:ea typeface="Trebuchet MS" pitchFamily="34" charset="-122"/>
                <a:cs typeface="Trebuchet MS" pitchFamily="34" charset="-120"/>
              </a:rPr>
              <a:t>Architecture at a Glance</a:t>
            </a:r>
            <a:endParaRPr lang="en-US" sz="1100" dirty="0"/>
          </a:p>
        </p:txBody>
      </p:sp>
      <p:sp>
        <p:nvSpPr>
          <p:cNvPr id="21" name="HexOutline"/>
          <p:cNvSpPr/>
          <p:nvPr/>
        </p:nvSpPr>
        <p:spPr>
          <a:xfrm>
            <a:off x="6056000" y="600000"/>
            <a:ext cx="2700000" cy="2650000"/>
          </a:xfrm>
          <a:prstGeom prst="hexagon">
            <a:avLst/>
          </a:prstGeom>
          <a:solidFill>
            <a:srgbClr val="0B1929"/>
          </a:solidFill>
          <a:ln w="19050">
            <a:solidFill>
              <a:srgbClr val="00C2CB"/>
            </a:solidFill>
            <a:prstDash val="dash"/>
          </a:ln>
        </p:spPr>
      </p:sp>
      <p:sp>
        <p:nvSpPr>
          <p:cNvPr id="22" name="DomainBox"/>
          <p:cNvSpPr/>
          <p:nvPr/>
        </p:nvSpPr>
        <p:spPr>
          <a:xfrm>
            <a:off x="6756000" y="1620000"/>
            <a:ext cx="1300000" cy="430000"/>
          </a:xfrm>
          <a:prstGeom prst="rect">
            <a:avLst/>
          </a:prstGeom>
          <a:solidFill>
            <a:srgbClr val="0099A3"/>
          </a:solidFill>
          <a:ln/>
        </p:spPr>
      </p:sp>
      <p:sp>
        <p:nvSpPr>
          <p:cNvPr id="23" name="DomainText"/>
          <p:cNvSpPr/>
          <p:nvPr/>
        </p:nvSpPr>
        <p:spPr>
          <a:xfrm>
            <a:off x="6756000" y="1620000"/>
            <a:ext cx="1300000" cy="430000"/>
          </a:xfrm>
          <a:prstGeom prst="rect">
            <a:avLst/>
          </a:prstGeom>
          <a:noFill/>
          <a:ln/>
        </p:spPr>
        <p:txBody>
          <a:bodyPr wrap="square" lIns="0" tIns="0" rIns="0" bIns="0" rtlCol="0" anchor="ctr"/>
          <a:lstStyle/>
          <a:p>
            <a:pPr algn="ctr" indent="0" marL="0">
              <a:buNone/>
            </a:pPr>
            <a:r>
              <a:rPr lang="en-US" sz="1100" b="1" dirty="0">
                <a:solidFill>
                  <a:srgbClr val="0B1929"/>
                </a:solidFill>
                <a:latin typeface="Trebuchet MS" pitchFamily="34" charset="0"/>
              </a:rPr>
              <a:t>DOMAIN</a:t>
            </a:r>
          </a:p>
        </p:txBody>
      </p:sp>
      <p:sp>
        <p:nvSpPr>
          <p:cNvPr id="24" name="DomainSub"/>
          <p:cNvSpPr/>
          <p:nvPr/>
        </p:nvSpPr>
        <p:spPr>
          <a:xfrm>
            <a:off x="6756000" y="2090000"/>
            <a:ext cx="1300000" cy="300000"/>
          </a:xfrm>
          <a:prstGeom prst="rect">
            <a:avLst/>
          </a:prstGeom>
          <a:noFill/>
          <a:ln/>
        </p:spPr>
        <p:txBody>
          <a:bodyPr wrap="square" lIns="0" tIns="0" rIns="0" bIns="0" rtlCol="0" anchor="ctr"/>
          <a:lstStyle/>
          <a:p>
            <a:pPr algn="ctr" indent="0" marL="0">
              <a:buNone/>
            </a:pPr>
            <a:r>
              <a:rPr lang="en-US" sz="700" dirty="0">
                <a:solidFill>
                  <a:srgbClr val="6A97B0"/>
                </a:solidFill>
                <a:latin typeface="Calibri" pitchFamily="34" charset="0"/>
              </a:rPr>
              <a:t>Use Cases · Entities</a:t>
            </a:r>
          </a:p>
          <a:p>
            <a:pPr algn="ctr" indent="0" marL="0">
              <a:buNone/>
            </a:pPr>
            <a:r>
              <a:rPr lang="en-US" sz="700" dirty="0">
                <a:solidFill>
                  <a:srgbClr val="6A97B0"/>
                </a:solidFill>
                <a:latin typeface="Calibri" pitchFamily="34" charset="0"/>
              </a:rPr>
              <a:t>Business Rules</a:t>
            </a:r>
          </a:p>
        </p:txBody>
      </p:sp>
      <p:sp>
        <p:nvSpPr>
          <p:cNvPr id="25" name="PortsTop"/>
          <p:cNvSpPr/>
          <p:nvPr/>
        </p:nvSpPr>
        <p:spPr>
          <a:xfrm>
            <a:off x="6606000" y="730000"/>
            <a:ext cx="1600000" cy="220000"/>
          </a:xfrm>
          <a:prstGeom prst="rect">
            <a:avLst/>
          </a:prstGeom>
          <a:noFill/>
          <a:ln/>
        </p:spPr>
        <p:txBody>
          <a:bodyPr wrap="square" lIns="0" tIns="0" rIns="0" bIns="0" rtlCol="0" anchor="ctr"/>
          <a:lstStyle/>
          <a:p>
            <a:pPr algn="ctr" indent="0" marL="0">
              <a:buNone/>
            </a:pPr>
            <a:r>
              <a:rPr lang="en-US" sz="750" spc="150" b="1" dirty="0">
                <a:solidFill>
                  <a:srgbClr val="00C2CB"/>
                </a:solidFill>
                <a:latin typeface="Trebuchet MS" pitchFamily="34" charset="0"/>
              </a:rPr>
              <a:t>PORTS</a:t>
            </a:r>
          </a:p>
        </p:txBody>
      </p:sp>
      <p:sp>
        <p:nvSpPr>
          <p:cNvPr id="26" name="PortsBot"/>
          <p:cNvSpPr/>
          <p:nvPr/>
        </p:nvSpPr>
        <p:spPr>
          <a:xfrm>
            <a:off x="6606000" y="3000000"/>
            <a:ext cx="1600000" cy="220000"/>
          </a:xfrm>
          <a:prstGeom prst="rect">
            <a:avLst/>
          </a:prstGeom>
          <a:noFill/>
          <a:ln/>
        </p:spPr>
        <p:txBody>
          <a:bodyPr wrap="square" lIns="0" tIns="0" rIns="0" bIns="0" rtlCol="0" anchor="ctr"/>
          <a:lstStyle/>
          <a:p>
            <a:pPr algn="ctr" indent="0" marL="0">
              <a:buNone/>
            </a:pPr>
            <a:r>
              <a:rPr lang="en-US" sz="750" spc="150" b="1" dirty="0">
                <a:solidFill>
                  <a:srgbClr val="00C2CB"/>
                </a:solidFill>
                <a:latin typeface="Trebuchet MS" pitchFamily="34" charset="0"/>
              </a:rPr>
              <a:t>PORTS</a:t>
            </a:r>
          </a:p>
        </p:txBody>
      </p:sp>
      <p:sp>
        <p:nvSpPr>
          <p:cNvPr id="27" name="DrivingLabel"/>
          <p:cNvSpPr/>
          <p:nvPr/>
        </p:nvSpPr>
        <p:spPr>
          <a:xfrm>
            <a:off x="5700000" y="1200000"/>
            <a:ext cx="1050000" cy="1500000"/>
          </a:xfrm>
          <a:prstGeom prst="rect">
            <a:avLst/>
          </a:prstGeom>
          <a:noFill/>
          <a:ln/>
        </p:spPr>
        <p:txBody>
          <a:bodyPr wrap="square" lIns="0" tIns="50800" rIns="0" bIns="50800" rtlCol="0" anchor="ctr"/>
          <a:lstStyle/>
          <a:p>
            <a:pPr algn="ctr" indent="0" marL="0">
              <a:buNone/>
            </a:pPr>
            <a:r>
              <a:rPr lang="en-US" sz="750" b="1" dirty="0">
                <a:solidFill>
                  <a:srgbClr val="FF6B35"/>
                </a:solidFill>
                <a:latin typeface="Trebuchet MS" pitchFamily="34" charset="0"/>
              </a:rPr>
              <a:t>DRIVING</a:t>
            </a:r>
            <a:endParaRPr lang="en-US" sz="750" dirty="0"/>
          </a:p>
          <a:p>
            <a:pPr algn="ctr" indent="0" marL="0">
              <a:buNone/>
            </a:pPr>
            <a:r>
              <a:rPr lang="en-US" sz="680" dirty="0">
                <a:solidFill>
                  <a:srgbClr val="B8D4E0"/>
                </a:solidFill>
                <a:latin typeface="Calibri" pitchFamily="34" charset="0"/>
              </a:rPr>
              <a:t>HMI Event</a:t>
            </a:r>
            <a:endParaRPr lang="en-US" sz="680" dirty="0"/>
          </a:p>
          <a:p>
            <a:pPr algn="ctr" indent="0" marL="0">
              <a:buNone/>
            </a:pPr>
            <a:r>
              <a:rPr lang="en-US" sz="680" dirty="0">
                <a:solidFill>
                  <a:srgbClr val="B8D4E0"/>
                </a:solidFill>
                <a:latin typeface="Calibri" pitchFamily="34" charset="0"/>
              </a:rPr>
              <a:t>CAN Signal</a:t>
            </a:r>
            <a:endParaRPr lang="en-US" sz="680" dirty="0"/>
          </a:p>
          <a:p>
            <a:pPr algn="ctr" indent="0" marL="0">
              <a:buNone/>
            </a:pPr>
            <a:r>
              <a:rPr lang="en-US" sz="680" dirty="0">
                <a:solidFill>
                  <a:srgbClr val="B8D4E0"/>
                </a:solidFill>
                <a:latin typeface="Calibri" pitchFamily="34" charset="0"/>
              </a:rPr>
              <a:t>CLI / Test</a:t>
            </a:r>
          </a:p>
        </p:txBody>
      </p:sp>
      <p:sp>
        <p:nvSpPr>
          <p:cNvPr id="28" name="DrivenLabel"/>
          <p:cNvSpPr/>
          <p:nvPr/>
        </p:nvSpPr>
        <p:spPr>
          <a:xfrm>
            <a:off x="8060000" y="1200000"/>
            <a:ext cx="1050000" cy="1500000"/>
          </a:xfrm>
          <a:prstGeom prst="rect">
            <a:avLst/>
          </a:prstGeom>
          <a:noFill/>
          <a:ln/>
        </p:spPr>
        <p:txBody>
          <a:bodyPr wrap="square" lIns="0" tIns="50800" rIns="0" bIns="50800" rtlCol="0" anchor="ctr"/>
          <a:lstStyle/>
          <a:p>
            <a:pPr algn="ctr" indent="0" marL="0">
              <a:buNone/>
            </a:pPr>
            <a:r>
              <a:rPr lang="en-US" sz="750" b="1" dirty="0">
                <a:solidFill>
                  <a:srgbClr val="2ECC71"/>
                </a:solidFill>
                <a:latin typeface="Trebuchet MS" pitchFamily="34" charset="0"/>
              </a:rPr>
              <a:t>DRIVEN</a:t>
            </a:r>
            <a:endParaRPr lang="en-US" sz="750" dirty="0"/>
          </a:p>
          <a:p>
            <a:pPr algn="ctr" indent="0" marL="0">
              <a:buNone/>
            </a:pPr>
            <a:r>
              <a:rPr lang="en-US" sz="680" dirty="0">
                <a:solidFill>
                  <a:srgbClr val="B8D4E0"/>
                </a:solidFill>
                <a:latin typeface="Calibri" pitchFamily="34" charset="0"/>
              </a:rPr>
              <a:t>CAN Bus/LIN</a:t>
            </a:r>
            <a:endParaRPr lang="en-US" sz="680" dirty="0"/>
          </a:p>
          <a:p>
            <a:pPr algn="ctr" indent="0" marL="0">
              <a:buNone/>
            </a:pPr>
            <a:r>
              <a:rPr lang="en-US" sz="680" dirty="0">
                <a:solidFill>
                  <a:srgbClr val="B8D4E0"/>
                </a:solidFill>
                <a:latin typeface="Calibri" pitchFamily="34" charset="0"/>
              </a:rPr>
              <a:t>Qt / QML</a:t>
            </a:r>
            <a:endParaRPr lang="en-US" sz="680" dirty="0"/>
          </a:p>
          <a:p>
            <a:pPr algn="ctr" indent="0" marL="0">
              <a:buNone/>
            </a:pPr>
            <a:r>
              <a:rPr lang="en-US" sz="680" dirty="0">
                <a:solidFill>
                  <a:srgbClr val="B8D4E0"/>
                </a:solidFill>
                <a:latin typeface="Calibri" pitchFamily="34" charset="0"/>
              </a:rPr>
              <a:t>PostgreSQL</a:t>
            </a:r>
          </a:p>
        </p:txBody>
      </p:sp>
      <p:sp>
        <p:nvSpPr>
          <p:cNvPr id="29" name="ArrowLeft"/>
          <p:cNvSpPr/>
          <p:nvPr/>
        </p:nvSpPr>
        <p:spPr>
          <a:xfrm>
            <a:off x="6020000" y="1900000"/>
            <a:ext cx="100000" cy="0"/>
          </a:xfrm>
          <a:prstGeom prst="line">
            <a:avLst/>
          </a:prstGeom>
          <a:noFill/>
          <a:ln w="19050">
            <a:solidFill>
              <a:srgbClr val="FF6B35"/>
            </a:solidFill>
          </a:ln>
        </p:spPr>
      </p:sp>
      <p:sp>
        <p:nvSpPr>
          <p:cNvPr id="30" name="ArrowRight"/>
          <p:cNvSpPr/>
          <p:nvPr/>
        </p:nvSpPr>
        <p:spPr>
          <a:xfrm>
            <a:off x="8756000" y="1900000"/>
            <a:ext cx="100000" cy="0"/>
          </a:xfrm>
          <a:prstGeom prst="line">
            <a:avLst/>
          </a:prstGeom>
          <a:noFill/>
          <a:ln w="19050">
            <a:solidFill>
              <a:srgbClr val="2ECC71"/>
            </a:solidFill>
          </a:ln>
        </p:spPr>
      </p:sp>
      <p:sp>
        <p:nvSpPr>
          <p:cNvPr id="31" name="Shape 23"/>
          <p:cNvSpPr/>
          <p:nvPr/>
        </p:nvSpPr>
        <p:spPr>
          <a:xfrm>
            <a:off x="5687568" y="4279392"/>
            <a:ext cx="3236976" cy="566928"/>
          </a:xfrm>
          <a:prstGeom prst="rect">
            <a:avLst/>
          </a:prstGeom>
          <a:solidFill>
            <a:srgbClr val="0B1929"/>
          </a:solidFill>
          <a:ln/>
        </p:spPr>
      </p:sp>
      <p:sp>
        <p:nvSpPr>
          <p:cNvPr id="32" name="Text 24"/>
          <p:cNvSpPr/>
          <p:nvPr/>
        </p:nvSpPr>
        <p:spPr>
          <a:xfrm>
            <a:off x="5742432" y="4297680"/>
            <a:ext cx="1554480" cy="164592"/>
          </a:xfrm>
          <a:prstGeom prst="rect">
            <a:avLst/>
          </a:prstGeom>
          <a:noFill/>
          <a:ln/>
        </p:spPr>
        <p:txBody>
          <a:bodyPr wrap="square" lIns="0" tIns="0" rIns="0" bIns="0" rtlCol="0" anchor="ctr"/>
          <a:lstStyle/>
          <a:p>
            <a:pPr indent="0" marL="0">
              <a:buNone/>
            </a:pPr>
            <a:r>
              <a:rPr lang="en-US" sz="750" b="1" dirty="0">
                <a:solidFill>
                  <a:srgbClr val="2ECC71"/>
                </a:solidFill>
              </a:rPr>
              <a:t>✓ Origins (Cockburn)</a:t>
            </a:r>
            <a:endParaRPr lang="en-US" sz="750" dirty="0"/>
          </a:p>
        </p:txBody>
      </p:sp>
      <p:sp>
        <p:nvSpPr>
          <p:cNvPr id="33" name="Text 25"/>
          <p:cNvSpPr/>
          <p:nvPr/>
        </p:nvSpPr>
        <p:spPr>
          <a:xfrm>
            <a:off x="7315200" y="4297680"/>
            <a:ext cx="1536192" cy="164592"/>
          </a:xfrm>
          <a:prstGeom prst="rect">
            <a:avLst/>
          </a:prstGeom>
          <a:noFill/>
          <a:ln/>
        </p:spPr>
        <p:txBody>
          <a:bodyPr wrap="square" lIns="0" tIns="0" rIns="0" bIns="0" rtlCol="0" anchor="ctr"/>
          <a:lstStyle/>
          <a:p>
            <a:pPr indent="0" marL="0">
              <a:buNone/>
            </a:pPr>
            <a:r>
              <a:rPr lang="en-US" sz="750" b="1" dirty="0">
                <a:solidFill>
                  <a:srgbClr val="2ECC71"/>
                </a:solidFill>
              </a:rPr>
              <a:t>✓ AUTOSAR</a:t>
            </a:r>
            <a:endParaRPr lang="en-US" sz="750" dirty="0"/>
          </a:p>
        </p:txBody>
      </p:sp>
      <p:sp>
        <p:nvSpPr>
          <p:cNvPr id="34" name="Text 26"/>
          <p:cNvSpPr/>
          <p:nvPr/>
        </p:nvSpPr>
        <p:spPr>
          <a:xfrm>
            <a:off x="5742432" y="4462272"/>
            <a:ext cx="1554480" cy="164592"/>
          </a:xfrm>
          <a:prstGeom prst="rect">
            <a:avLst/>
          </a:prstGeom>
          <a:noFill/>
          <a:ln/>
        </p:spPr>
        <p:txBody>
          <a:bodyPr wrap="square" lIns="0" tIns="0" rIns="0" bIns="0" rtlCol="0" anchor="ctr"/>
          <a:lstStyle/>
          <a:p>
            <a:pPr indent="0" marL="0">
              <a:buNone/>
            </a:pPr>
            <a:r>
              <a:rPr lang="en-US" sz="750" b="1" dirty="0">
                <a:solidFill>
                  <a:srgbClr val="2ECC71"/>
                </a:solidFill>
              </a:rPr>
              <a:t>✓ Core Diagram</a:t>
            </a:r>
            <a:endParaRPr lang="en-US" sz="750" dirty="0"/>
          </a:p>
        </p:txBody>
      </p:sp>
      <p:sp>
        <p:nvSpPr>
          <p:cNvPr id="35" name="Text 27"/>
          <p:cNvSpPr/>
          <p:nvPr/>
        </p:nvSpPr>
        <p:spPr>
          <a:xfrm>
            <a:off x="7315200" y="4462272"/>
            <a:ext cx="1536192" cy="164592"/>
          </a:xfrm>
          <a:prstGeom prst="rect">
            <a:avLst/>
          </a:prstGeom>
          <a:noFill/>
          <a:ln/>
        </p:spPr>
        <p:txBody>
          <a:bodyPr wrap="square" lIns="0" tIns="0" rIns="0" bIns="0" rtlCol="0" anchor="ctr"/>
          <a:lstStyle/>
          <a:p>
            <a:pPr indent="0" marL="0">
              <a:buNone/>
            </a:pPr>
            <a:r>
              <a:rPr lang="en-US" sz="750" b="1" dirty="0">
                <a:solidFill>
                  <a:srgbClr val="2ECC71"/>
                </a:solidFill>
              </a:rPr>
              <a:t>✓ Strangler Fig</a:t>
            </a:r>
            <a:endParaRPr lang="en-US" sz="750" dirty="0"/>
          </a:p>
        </p:txBody>
      </p:sp>
      <p:sp>
        <p:nvSpPr>
          <p:cNvPr id="36" name="Text 28"/>
          <p:cNvSpPr/>
          <p:nvPr/>
        </p:nvSpPr>
        <p:spPr>
          <a:xfrm>
            <a:off x="5742432" y="4626864"/>
            <a:ext cx="1554480" cy="164592"/>
          </a:xfrm>
          <a:prstGeom prst="rect">
            <a:avLst/>
          </a:prstGeom>
          <a:noFill/>
          <a:ln/>
        </p:spPr>
        <p:txBody>
          <a:bodyPr wrap="square" lIns="0" tIns="0" rIns="0" bIns="0" rtlCol="0" anchor="ctr"/>
          <a:lstStyle/>
          <a:p>
            <a:pPr indent="0" marL="0">
              <a:buNone/>
            </a:pPr>
            <a:r>
              <a:rPr lang="en-US" sz="750" b="1" dirty="0">
                <a:solidFill>
                  <a:srgbClr val="2ECC71"/>
                </a:solidFill>
              </a:rPr>
              <a:t>✓ Debug/Test/Extend</a:t>
            </a:r>
            <a:endParaRPr lang="en-US" sz="750" dirty="0"/>
          </a:p>
        </p:txBody>
      </p:sp>
      <p:sp>
        <p:nvSpPr>
          <p:cNvPr id="37" name="Text 29"/>
          <p:cNvSpPr/>
          <p:nvPr/>
        </p:nvSpPr>
        <p:spPr>
          <a:xfrm>
            <a:off x="7315200" y="4626864"/>
            <a:ext cx="1536192" cy="164592"/>
          </a:xfrm>
          <a:prstGeom prst="rect">
            <a:avLst/>
          </a:prstGeom>
          <a:noFill/>
          <a:ln/>
        </p:spPr>
        <p:txBody>
          <a:bodyPr wrap="square" lIns="0" tIns="0" rIns="0" bIns="0" rtlCol="0" anchor="ctr"/>
          <a:lstStyle/>
          <a:p>
            <a:pPr indent="0" marL="0">
              <a:buNone/>
            </a:pPr>
            <a:r>
              <a:rPr lang="en-US" sz="750" b="1" dirty="0">
                <a:solidFill>
                  <a:srgbClr val="2ECC71"/>
                </a:solidFill>
              </a:rPr>
              <a:t>✓ ADRs &amp; DTICI</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263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929"/>
          </a:solidFill>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800" b="1" dirty="0">
                <a:solidFill>
                  <a:srgbClr val="00C2CB"/>
                </a:solidFill>
                <a:latin typeface="Trebuchet MS" pitchFamily="34" charset="0"/>
              </a:rPr>
              <a:t>06  Enforcing HA Rules &amp; Training Global Teams — Part 2</a:t>
            </a:r>
          </a:p>
        </p:txBody>
      </p:sp>
      <p:sp>
        <p:nvSpPr>
          <p:cNvPr id="4" name="Shape 2"/>
          <p:cNvSpPr/>
          <p:nvPr/>
        </p:nvSpPr>
        <p:spPr>
          <a:xfrm>
            <a:off x="274320" y="768096"/>
            <a:ext cx="8595360" cy="420624"/>
          </a:xfrm>
          <a:prstGeom prst="rect">
            <a:avLst/>
          </a:prstGeom>
          <a:solidFill>
            <a:srgbClr val="1E3A52"/>
          </a:solidFill>
          <a:ln/>
        </p:spPr>
      </p:sp>
      <p:pic>
        <p:nvPicPr>
          <p:cNvPr id="5" name="Image 0" descr="preencoded.png"/>
          <p:cNvPicPr>
            <a:picLocks noChangeAspect="1"/>
          </p:cNvPicPr>
          <p:nvPr/>
        </p:nvPicPr>
        <p:blipFill>
          <a:blip r:embed="rId1"/>
          <a:stretch>
            <a:fillRect/>
          </a:stretch>
        </p:blipFill>
        <p:spPr>
          <a:xfrm>
            <a:off x="402336" y="822960"/>
            <a:ext cx="256032" cy="256032"/>
          </a:xfrm>
          <a:prstGeom prst="rect">
            <a:avLst/>
          </a:prstGeom>
        </p:spPr>
      </p:pic>
      <p:sp>
        <p:nvSpPr>
          <p:cNvPr id="6" name="Text 3"/>
          <p:cNvSpPr/>
          <p:nvPr/>
        </p:nvSpPr>
        <p:spPr>
          <a:xfrm>
            <a:off x="749808" y="804672"/>
            <a:ext cx="7973568" cy="329184"/>
          </a:xfrm>
          <a:prstGeom prst="rect">
            <a:avLst/>
          </a:prstGeom>
          <a:noFill/>
          <a:ln/>
        </p:spPr>
        <p:txBody>
          <a:bodyPr wrap="square" lIns="0" tIns="0" rIns="0" bIns="0" rtlCol="0" anchor="ctr"/>
          <a:lstStyle/>
          <a:p>
            <a:pPr indent="0" marL="0">
              <a:buNone/>
            </a:pPr>
            <a:r>
              <a:rPr lang="en-US" sz="1000" b="1" dirty="0">
                <a:solidFill>
                  <a:srgbClr val="F5A623"/>
                </a:solidFill>
                <a:latin typeface="Trebuchet MS" pitchFamily="34" charset="0"/>
              </a:rPr>
              <a:t>Global Team Context:  US (Portland/Detroit)  ·  Germany (Stuttgart)  ·  India (DTICI developers, Bangalore/Pune)</a:t>
            </a:r>
          </a:p>
        </p:txBody>
      </p:sp>
      <p:sp>
        <p:nvSpPr>
          <p:cNvPr id="7" name="Shape 4"/>
          <p:cNvSpPr/>
          <p:nvPr/>
        </p:nvSpPr>
        <p:spPr>
          <a:xfrm>
            <a:off x="274320" y="1316736"/>
            <a:ext cx="8595360" cy="1660000"/>
          </a:xfrm>
          <a:prstGeom prst="rect">
            <a:avLst/>
          </a:prstGeom>
          <a:solidFill>
            <a:srgbClr val="122130"/>
          </a:solidFill>
          <a:ln/>
        </p:spPr>
      </p:sp>
      <p:sp>
        <p:nvSpPr>
          <p:cNvPr id="8" name="Shape 5"/>
          <p:cNvSpPr/>
          <p:nvPr/>
        </p:nvSpPr>
        <p:spPr>
          <a:xfrm>
            <a:off x="274320" y="1316736"/>
            <a:ext cx="109728" cy="1660000"/>
          </a:xfrm>
          <a:prstGeom prst="rect">
            <a:avLst/>
          </a:prstGeom>
          <a:solidFill>
            <a:srgbClr val="2ECC71"/>
          </a:solidFill>
          <a:ln/>
        </p:spPr>
      </p:sp>
      <p:pic>
        <p:nvPicPr>
          <p:cNvPr id="9" name="Image 1" descr="preencoded.png"/>
          <p:cNvPicPr>
            <a:picLocks noChangeAspect="1"/>
          </p:cNvPicPr>
          <p:nvPr/>
        </p:nvPicPr>
        <p:blipFill>
          <a:blip r:embed="rId4"/>
          <a:stretch>
            <a:fillRect/>
          </a:stretch>
        </p:blipFill>
        <p:spPr>
          <a:xfrm>
            <a:off x="493776" y="1536192"/>
            <a:ext cx="347472" cy="347472"/>
          </a:xfrm>
          <a:prstGeom prst="rect">
            <a:avLst/>
          </a:prstGeom>
        </p:spPr>
      </p:pic>
      <p:sp>
        <p:nvSpPr>
          <p:cNvPr id="10" name="Text 6"/>
          <p:cNvSpPr/>
          <p:nvPr/>
        </p:nvSpPr>
        <p:spPr>
          <a:xfrm>
            <a:off x="969264" y="1371600"/>
            <a:ext cx="7772400" cy="360000"/>
          </a:xfrm>
          <a:prstGeom prst="rect">
            <a:avLst/>
          </a:prstGeom>
          <a:noFill/>
          <a:ln/>
        </p:spPr>
        <p:txBody>
          <a:bodyPr wrap="square" lIns="0" tIns="0" rIns="0" bIns="0" rtlCol="0" anchor="ctr"/>
          <a:lstStyle/>
          <a:p>
            <a:pPr indent="0" marL="0">
              <a:buNone/>
            </a:pPr>
            <a:r>
              <a:rPr lang="en-US" sz="1400" b="1" dirty="0">
                <a:solidFill>
                  <a:srgbClr val="2ECC71"/>
                </a:solidFill>
                <a:latin typeface="Trebuchet MS" pitchFamily="34" charset="0"/>
              </a:rPr>
              <a:t>Dependency Rule Enforcement via Static Analysis</a:t>
            </a:r>
          </a:p>
        </p:txBody>
      </p:sp>
      <p:sp>
        <p:nvSpPr>
          <p:cNvPr id="11" name="Text 7"/>
          <p:cNvSpPr/>
          <p:nvPr/>
        </p:nvSpPr>
        <p:spPr>
          <a:xfrm>
            <a:off x="969264" y="1790000"/>
            <a:ext cx="7772400" cy="900000"/>
          </a:xfrm>
          <a:prstGeom prst="rect">
            <a:avLst/>
          </a:prstGeom>
          <a:noFill/>
          <a:ln/>
        </p:spPr>
        <p:txBody>
          <a:bodyPr wrap="square" lIns="50800" tIns="50800" rIns="50800" bIns="50800" rtlCol="0" anchor="t"/>
          <a:lstStyle/>
          <a:p>
            <a:pPr indent="0" marL="0">
              <a:buNone/>
            </a:pPr>
            <a:r>
              <a:rPr lang="en-US" sz="1100" dirty="0">
                <a:solidFill>
                  <a:srgbClr val="B8D4E0"/>
                </a:solidFill>
                <a:latin typeface="Calibri" pitchFamily="34" charset="0"/>
              </a:rPr>
              <a:t>Assert in CI that domain packages never import from adapter packages. Violations fail the PR pipeline — architectural rules become executable tests. Developers in all three regions get immediate, specific feedback before code review. Architecture coaching becomes self-service, removing the bottleneck of synchronous review across time zones.</a:t>
            </a:r>
          </a:p>
        </p:txBody>
      </p:sp>
      <p:sp>
        <p:nvSpPr>
          <p:cNvPr id="12" name="Text 8"/>
          <p:cNvSpPr/>
          <p:nvPr/>
        </p:nvSpPr>
        <p:spPr>
          <a:xfrm>
            <a:off x="969264" y="2780000"/>
            <a:ext cx="7772400" cy="200000"/>
          </a:xfrm>
          <a:prstGeom prst="rect">
            <a:avLst/>
          </a:prstGeom>
          <a:noFill/>
          <a:ln/>
        </p:spPr>
        <p:txBody>
          <a:bodyPr wrap="square" lIns="0" tIns="0" rIns="0" bIns="0" rtlCol="0" anchor="ctr"/>
          <a:lstStyle/>
          <a:p>
            <a:pPr indent="0" marL="0">
              <a:buNone/>
            </a:pPr>
            <a:r>
              <a:rPr lang="en-US" sz="900" i="1" dirty="0">
                <a:solidFill>
                  <a:srgbClr val="2ECC71"/>
                </a:solidFill>
                <a:latin typeface="Calibri" pitchFamily="34" charset="0"/>
              </a:rPr>
              <a:t>Tools: ArchUnit (C++/Java), import-linter (Python), Dependency Cruiser (TS/JS), or custom MISRA-compatible lint rules for embedded</a:t>
            </a:r>
          </a:p>
        </p:txBody>
      </p:sp>
      <p:sp>
        <p:nvSpPr>
          <p:cNvPr id="13" name="Shape 9"/>
          <p:cNvSpPr/>
          <p:nvPr/>
        </p:nvSpPr>
        <p:spPr>
          <a:xfrm>
            <a:off x="274320" y="3100000"/>
            <a:ext cx="8595360" cy="1660000"/>
          </a:xfrm>
          <a:prstGeom prst="rect">
            <a:avLst/>
          </a:prstGeom>
          <a:solidFill>
            <a:srgbClr val="122130"/>
          </a:solidFill>
          <a:ln/>
        </p:spPr>
      </p:sp>
      <p:sp>
        <p:nvSpPr>
          <p:cNvPr id="14" name="Shape 10"/>
          <p:cNvSpPr/>
          <p:nvPr/>
        </p:nvSpPr>
        <p:spPr>
          <a:xfrm>
            <a:off x="274320" y="3100000"/>
            <a:ext cx="109728" cy="1660000"/>
          </a:xfrm>
          <a:prstGeom prst="rect">
            <a:avLst/>
          </a:prstGeom>
          <a:solidFill>
            <a:srgbClr val="F5A623"/>
          </a:solidFill>
          <a:ln/>
        </p:spPr>
      </p:sp>
      <p:pic>
        <p:nvPicPr>
          <p:cNvPr id="15" name="Image 2" descr="preencoded.png"/>
          <p:cNvPicPr>
            <a:picLocks noChangeAspect="1"/>
          </p:cNvPicPr>
          <p:nvPr/>
        </p:nvPicPr>
        <p:blipFill>
          <a:blip r:embed="rId5"/>
          <a:stretch>
            <a:fillRect/>
          </a:stretch>
        </p:blipFill>
        <p:spPr>
          <a:xfrm>
            <a:off x="493776" y="3319456"/>
            <a:ext cx="347472" cy="347472"/>
          </a:xfrm>
          <a:prstGeom prst="rect">
            <a:avLst/>
          </a:prstGeom>
        </p:spPr>
      </p:pic>
      <p:sp>
        <p:nvSpPr>
          <p:cNvPr id="16" name="Text 11"/>
          <p:cNvSpPr/>
          <p:nvPr/>
        </p:nvSpPr>
        <p:spPr>
          <a:xfrm>
            <a:off x="969264" y="3154864"/>
            <a:ext cx="7772400" cy="360000"/>
          </a:xfrm>
          <a:prstGeom prst="rect">
            <a:avLst/>
          </a:prstGeom>
          <a:noFill/>
          <a:ln/>
        </p:spPr>
        <p:txBody>
          <a:bodyPr wrap="square" lIns="0" tIns="0" rIns="0" bIns="0" rtlCol="0" anchor="ctr"/>
          <a:lstStyle/>
          <a:p>
            <a:pPr indent="0" marL="0">
              <a:buNone/>
            </a:pPr>
            <a:r>
              <a:rPr lang="en-US" sz="1400" b="1" dirty="0">
                <a:solidFill>
                  <a:srgbClr val="F5A623"/>
                </a:solidFill>
                <a:latin typeface="Trebuchet MS" pitchFamily="34" charset="0"/>
              </a:rPr>
              <a:t>Coaching DTICI Developers — Architecture as a Teaching Framework</a:t>
            </a:r>
          </a:p>
        </p:txBody>
      </p:sp>
      <p:sp>
        <p:nvSpPr>
          <p:cNvPr id="17" name="Text 12"/>
          <p:cNvSpPr/>
          <p:nvPr/>
        </p:nvSpPr>
        <p:spPr>
          <a:xfrm>
            <a:off x="969264" y="3570000"/>
            <a:ext cx="7772400" cy="900000"/>
          </a:xfrm>
          <a:prstGeom prst="rect">
            <a:avLst/>
          </a:prstGeom>
          <a:noFill/>
          <a:ln/>
        </p:spPr>
        <p:txBody>
          <a:bodyPr wrap="square" lIns="50800" tIns="50800" rIns="50800" bIns="50800" rtlCol="0" anchor="t"/>
          <a:lstStyle/>
          <a:p>
            <a:pPr indent="0" marL="0">
              <a:buNone/>
            </a:pPr>
            <a:r>
              <a:rPr lang="en-US" sz="1100" dirty="0">
                <a:solidFill>
                  <a:srgbClr val="B8D4E0"/>
                </a:solidFill>
                <a:latin typeface="Calibri" pitchFamily="34" charset="0"/>
              </a:rPr>
              <a:t>HA’s visual hexagon model is the ideal teaching framework: draw the boundary, place the feature, ask “which zone does this live in?” Regular async architecture office hours, RFC review threads, and annotated PR comments anchor the learning across US, Germany, and India.</a:t>
            </a:r>
          </a:p>
        </p:txBody>
      </p:sp>
      <p:sp>
        <p:nvSpPr>
          <p:cNvPr id="18" name="Text 13"/>
          <p:cNvSpPr/>
          <p:nvPr/>
        </p:nvSpPr>
        <p:spPr>
          <a:xfrm>
            <a:off x="969264" y="4560000"/>
            <a:ext cx="7772400" cy="200000"/>
          </a:xfrm>
          <a:prstGeom prst="rect">
            <a:avLst/>
          </a:prstGeom>
          <a:noFill/>
          <a:ln/>
        </p:spPr>
        <p:txBody>
          <a:bodyPr wrap="square" lIns="0" tIns="0" rIns="0" bIns="0" rtlCol="0" anchor="ctr"/>
          <a:lstStyle/>
          <a:p>
            <a:pPr indent="0" marL="0">
              <a:buNone/>
            </a:pPr>
            <a:r>
              <a:rPr lang="en-US" sz="900" i="1" dirty="0">
                <a:solidFill>
                  <a:srgbClr val="F5A623"/>
                </a:solidFill>
                <a:latin typeface="Calibri" pitchFamily="34" charset="0"/>
              </a:rPr>
              <a:t>Workflow: Lead arch sessions in US → async ADR review with Germany → DTICI India PR mentoring → shared Golden Path repo as ground truth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2638"/>
        </a:solidFill>
      </p:bgPr>
    </p:bg>
    <p:spTree>
      <p:nvGrpSpPr>
        <p:cNvPr id="1" name=""/>
        <p:cNvGrpSpPr/>
        <p:nvPr/>
      </p:nvGrpSpPr>
      <p:grpSpPr>
        <a:xfrm>
          <a:off x="0" y="0"/>
          <a:ext cx="0" cy="0"/>
          <a:chOff x="0" y="0"/>
          <a:chExt cx="0" cy="0"/>
        </a:xfrm>
      </p:grpSpPr>
      <p:sp>
        <p:nvSpPr>
          <p:cNvPr id="2" name="TitleBar"/>
          <p:cNvSpPr/>
          <p:nvPr/>
        </p:nvSpPr>
        <p:spPr>
          <a:xfrm>
            <a:off x="0" y="0"/>
            <a:ext cx="9144000" cy="658368"/>
          </a:xfrm>
          <a:prstGeom prst="rect">
            <a:avLst/>
          </a:prstGeom>
          <a:solidFill>
            <a:srgbClr val="0B1929"/>
          </a:solidFill>
          <a:ln/>
        </p:spPr>
      </p:sp>
      <p:sp>
        <p:nvSpPr>
          <p:cNvPr id="3" name="TitleText"/>
          <p:cNvSpPr/>
          <p:nvPr/>
        </p:nvSpPr>
        <p:spPr>
          <a:xfrm>
            <a:off x="365760" y="0"/>
            <a:ext cx="8412480" cy="658368"/>
          </a:xfrm>
          <a:prstGeom prst="rect">
            <a:avLst/>
          </a:prstGeom>
          <a:noFill/>
          <a:ln/>
        </p:spPr>
        <p:txBody>
          <a:bodyPr wrap="square" lIns="0" tIns="0" rIns="0" bIns="0" rtlCol="0" anchor="ctr"/>
          <a:lstStyle/>
          <a:p>
            <a:pPr indent="0" marL="0">
              <a:buNone/>
            </a:pPr>
            <a:r>
              <a:rPr lang="en-US" sz="1800" b="1" dirty="0">
                <a:solidFill>
                  <a:srgbClr val="F5A623"/>
                </a:solidFill>
                <a:latin typeface="Trebuchet MS" pitchFamily="34" charset="0"/>
              </a:rPr>
              <a:t>07  When NOT to Use Hexagonal Architecture — Senior Perspective</a:t>
            </a:r>
          </a:p>
        </p:txBody>
      </p:sp>
      <p:sp>
        <p:nvSpPr>
          <p:cNvPr id="4" name="Subtitle"/>
          <p:cNvSpPr/>
          <p:nvPr/>
        </p:nvSpPr>
        <p:spPr>
          <a:xfrm>
            <a:off x="274320" y="730000"/>
            <a:ext cx="8595360" cy="300000"/>
          </a:xfrm>
          <a:prstGeom prst="rect">
            <a:avLst/>
          </a:prstGeom>
          <a:noFill/>
          <a:ln/>
        </p:spPr>
        <p:txBody>
          <a:bodyPr wrap="square" lIns="0" tIns="0" rIns="0" bIns="0" rtlCol="0" anchor="ctr"/>
          <a:lstStyle/>
          <a:p>
            <a:pPr algn="ctr" indent="0" marL="0">
              <a:buNone/>
            </a:pPr>
            <a:r>
              <a:rPr lang="en-US" sz="900" i="1" dirty="0">
                <a:solidFill>
                  <a:srgbClr val="6A97B0"/>
                </a:solidFill>
                <a:latin typeface="Calibri" pitchFamily="34" charset="0"/>
              </a:rPr>
              <a:t>Knowing when a pattern is wrong is just as important as knowing when it is right. These four cases signal over-engineering.</a:t>
            </a:r>
          </a:p>
        </p:txBody>
      </p:sp>
      <p:sp>
        <p:nvSpPr>
          <p:cNvPr id="5" name="Card1Bg"/>
          <p:cNvSpPr/>
          <p:nvPr/>
        </p:nvSpPr>
        <p:spPr>
          <a:xfrm>
            <a:off x="274320" y="1130000"/>
            <a:ext cx="1950000" cy="3600000"/>
          </a:xfrm>
          <a:prstGeom prst="rect">
            <a:avLst/>
          </a:prstGeom>
          <a:solidFill>
            <a:srgbClr val="122130"/>
          </a:solidFill>
          <a:ln w="9144">
            <a:solidFill>
              <a:srgbClr val="3D5A70"/>
            </a:solidFill>
          </a:ln>
        </p:spPr>
      </p:sp>
      <p:sp>
        <p:nvSpPr>
          <p:cNvPr id="6" name="Card1Accent"/>
          <p:cNvSpPr/>
          <p:nvPr/>
        </p:nvSpPr>
        <p:spPr>
          <a:xfrm>
            <a:off x="274320" y="1130000"/>
            <a:ext cx="1950000" cy="110000"/>
          </a:xfrm>
          <a:prstGeom prst="rect">
            <a:avLst/>
          </a:prstGeom>
          <a:solidFill>
            <a:srgbClr val="FF6B35"/>
          </a:solidFill>
          <a:ln/>
        </p:spPr>
      </p:sp>
      <p:sp>
        <p:nvSpPr>
          <p:cNvPr id="7" name="Card1Num"/>
          <p:cNvSpPr/>
          <p:nvPr/>
        </p:nvSpPr>
        <p:spPr>
          <a:xfrm>
            <a:off x="274320" y="1240000"/>
            <a:ext cx="1950000" cy="500000"/>
          </a:xfrm>
          <a:prstGeom prst="rect">
            <a:avLst/>
          </a:prstGeom>
          <a:noFill/>
          <a:ln/>
        </p:spPr>
        <p:txBody>
          <a:bodyPr wrap="square" lIns="91440" tIns="91440" rIns="91440" bIns="0" rtlCol="0" anchor="t"/>
          <a:lstStyle/>
          <a:p>
            <a:pPr indent="0" marL="0">
              <a:buNone/>
            </a:pPr>
            <a:r>
              <a:rPr lang="en-US" sz="2800" b="1" dirty="0">
                <a:solidFill>
                  <a:srgbClr val="FF6B35"/>
                </a:solidFill>
                <a:latin typeface="Trebuchet MS" pitchFamily="34" charset="0"/>
              </a:rPr>
              <a:t>01</a:t>
            </a:r>
          </a:p>
        </p:txBody>
      </p:sp>
      <p:sp>
        <p:nvSpPr>
          <p:cNvPr id="8" name="Card1Title"/>
          <p:cNvSpPr/>
          <p:nvPr/>
        </p:nvSpPr>
        <p:spPr>
          <a:xfrm>
            <a:off x="274320" y="1780000"/>
            <a:ext cx="1950000" cy="350000"/>
          </a:xfrm>
          <a:prstGeom prst="rect">
            <a:avLst/>
          </a:prstGeom>
          <a:noFill/>
          <a:ln/>
        </p:spPr>
        <p:txBody>
          <a:bodyPr wrap="square" lIns="91440" tIns="0" rIns="91440" bIns="0" rtlCol="0" anchor="ctr"/>
          <a:lstStyle/>
          <a:p>
            <a:pPr indent="0" marL="0">
              <a:buNone/>
            </a:pPr>
            <a:r>
              <a:rPr lang="en-US" sz="1200" b="1" dirty="0">
                <a:solidFill>
                  <a:srgbClr val="EDF4F8"/>
                </a:solidFill>
                <a:latin typeface="Trebuchet MS" pitchFamily="34" charset="0"/>
              </a:rPr>
              <a:t>Tiny CRUD Apps</a:t>
            </a:r>
          </a:p>
        </p:txBody>
      </p:sp>
      <p:sp>
        <p:nvSpPr>
          <p:cNvPr id="9" name="Card1Body"/>
          <p:cNvSpPr/>
          <p:nvPr/>
        </p:nvSpPr>
        <p:spPr>
          <a:xfrm>
            <a:off x="274320" y="2180000"/>
            <a:ext cx="1950000" cy="2150000"/>
          </a:xfrm>
          <a:prstGeom prst="rect">
            <a:avLst/>
          </a:prstGeom>
          <a:noFill/>
          <a:ln/>
        </p:spPr>
        <p:txBody>
          <a:bodyPr wrap="square" lIns="91440" tIns="50800" rIns="91440" bIns="50800" rtlCol="0" anchor="t"/>
          <a:lstStyle/>
          <a:p>
            <a:pPr indent="0" marL="0">
              <a:buNone/>
            </a:pPr>
            <a:r>
              <a:rPr lang="en-US" sz="950" dirty="0">
                <a:solidFill>
                  <a:srgbClr val="B8D4E0"/>
                </a:solidFill>
                <a:latin typeface="Calibri" pitchFamily="34" charset="0"/>
              </a:rPr>
              <a:t>If the entire application is “save and retrieve records,” HA adds abstraction layers with zero return. The port/adapter overhead costs more than it buys. A single-layer repository pattern is sufficient.</a:t>
            </a:r>
          </a:p>
        </p:txBody>
      </p:sp>
      <p:sp>
        <p:nvSpPr>
          <p:cNvPr id="10" name="Card2Bg"/>
          <p:cNvSpPr/>
          <p:nvPr/>
        </p:nvSpPr>
        <p:spPr>
          <a:xfrm>
            <a:off x="2474000" y="1130000"/>
            <a:ext cx="1950000" cy="3600000"/>
          </a:xfrm>
          <a:prstGeom prst="rect">
            <a:avLst/>
          </a:prstGeom>
          <a:solidFill>
            <a:srgbClr val="122130"/>
          </a:solidFill>
          <a:ln w="9144">
            <a:solidFill>
              <a:srgbClr val="3D5A70"/>
            </a:solidFill>
          </a:ln>
        </p:spPr>
      </p:sp>
      <p:sp>
        <p:nvSpPr>
          <p:cNvPr id="11" name="Card2Accent"/>
          <p:cNvSpPr/>
          <p:nvPr/>
        </p:nvSpPr>
        <p:spPr>
          <a:xfrm>
            <a:off x="2474000" y="1130000"/>
            <a:ext cx="1950000" cy="110000"/>
          </a:xfrm>
          <a:prstGeom prst="rect">
            <a:avLst/>
          </a:prstGeom>
          <a:solidFill>
            <a:srgbClr val="00C2CB"/>
          </a:solidFill>
          <a:ln/>
        </p:spPr>
      </p:sp>
      <p:sp>
        <p:nvSpPr>
          <p:cNvPr id="12" name="Card2Num"/>
          <p:cNvSpPr/>
          <p:nvPr/>
        </p:nvSpPr>
        <p:spPr>
          <a:xfrm>
            <a:off x="2474000" y="1240000"/>
            <a:ext cx="1950000" cy="500000"/>
          </a:xfrm>
          <a:prstGeom prst="rect">
            <a:avLst/>
          </a:prstGeom>
          <a:noFill/>
          <a:ln/>
        </p:spPr>
        <p:txBody>
          <a:bodyPr wrap="square" lIns="91440" tIns="91440" rIns="91440" bIns="0" rtlCol="0" anchor="t"/>
          <a:lstStyle/>
          <a:p>
            <a:pPr indent="0" marL="0">
              <a:buNone/>
            </a:pPr>
            <a:r>
              <a:rPr lang="en-US" sz="2800" b="1" dirty="0">
                <a:solidFill>
                  <a:srgbClr val="00C2CB"/>
                </a:solidFill>
                <a:latin typeface="Trebuchet MS" pitchFamily="34" charset="0"/>
              </a:rPr>
              <a:t>02</a:t>
            </a:r>
          </a:p>
        </p:txBody>
      </p:sp>
      <p:sp>
        <p:nvSpPr>
          <p:cNvPr id="13" name="Card2Title"/>
          <p:cNvSpPr/>
          <p:nvPr/>
        </p:nvSpPr>
        <p:spPr>
          <a:xfrm>
            <a:off x="2474000" y="1780000"/>
            <a:ext cx="1950000" cy="350000"/>
          </a:xfrm>
          <a:prstGeom prst="rect">
            <a:avLst/>
          </a:prstGeom>
          <a:noFill/>
          <a:ln/>
        </p:spPr>
        <p:txBody>
          <a:bodyPr wrap="square" lIns="91440" tIns="0" rIns="91440" bIns="0" rtlCol="0" anchor="ctr"/>
          <a:lstStyle/>
          <a:p>
            <a:pPr indent="0" marL="0">
              <a:buNone/>
            </a:pPr>
            <a:r>
              <a:rPr lang="en-US" sz="1200" b="1" dirty="0">
                <a:solidFill>
                  <a:srgbClr val="EDF4F8"/>
                </a:solidFill>
                <a:latin typeface="Trebuchet MS" pitchFamily="34" charset="0"/>
              </a:rPr>
              <a:t>Hard Real-Time Paths</a:t>
            </a:r>
          </a:p>
        </p:txBody>
      </p:sp>
      <p:sp>
        <p:nvSpPr>
          <p:cNvPr id="14" name="Card2Body"/>
          <p:cNvSpPr/>
          <p:nvPr/>
        </p:nvSpPr>
        <p:spPr>
          <a:xfrm>
            <a:off x="2474000" y="2180000"/>
            <a:ext cx="1950000" cy="2150000"/>
          </a:xfrm>
          <a:prstGeom prst="rect">
            <a:avLst/>
          </a:prstGeom>
          <a:noFill/>
          <a:ln/>
        </p:spPr>
        <p:txBody>
          <a:bodyPr wrap="square" lIns="91440" tIns="50800" rIns="91440" bIns="50800" rtlCol="0" anchor="t"/>
          <a:lstStyle/>
          <a:p>
            <a:pPr indent="0" marL="0">
              <a:buNone/>
            </a:pPr>
            <a:r>
              <a:rPr lang="en-US" sz="950" dirty="0">
                <a:solidFill>
                  <a:srgbClr val="B8D4E0"/>
                </a:solidFill>
                <a:latin typeface="Calibri" pitchFamily="34" charset="0"/>
              </a:rPr>
              <a:t>Instrument cluster ISRs and interrupt service routines run in microseconds. Adapter indirection adds stack depth and latency. Safety-critical timing paths must be direct — HA belongs at the application layer, not inside interrupt handlers.</a:t>
            </a:r>
          </a:p>
        </p:txBody>
      </p:sp>
      <p:sp>
        <p:nvSpPr>
          <p:cNvPr id="15" name="Card3Bg"/>
          <p:cNvSpPr/>
          <p:nvPr/>
        </p:nvSpPr>
        <p:spPr>
          <a:xfrm>
            <a:off x="4674000" y="1130000"/>
            <a:ext cx="1950000" cy="3600000"/>
          </a:xfrm>
          <a:prstGeom prst="rect">
            <a:avLst/>
          </a:prstGeom>
          <a:solidFill>
            <a:srgbClr val="122130"/>
          </a:solidFill>
          <a:ln w="9144">
            <a:solidFill>
              <a:srgbClr val="3D5A70"/>
            </a:solidFill>
          </a:ln>
        </p:spPr>
      </p:sp>
      <p:sp>
        <p:nvSpPr>
          <p:cNvPr id="16" name="Card3Accent"/>
          <p:cNvSpPr/>
          <p:nvPr/>
        </p:nvSpPr>
        <p:spPr>
          <a:xfrm>
            <a:off x="4674000" y="1130000"/>
            <a:ext cx="1950000" cy="110000"/>
          </a:xfrm>
          <a:prstGeom prst="rect">
            <a:avLst/>
          </a:prstGeom>
          <a:solidFill>
            <a:srgbClr val="2ECC71"/>
          </a:solidFill>
          <a:ln/>
        </p:spPr>
      </p:sp>
      <p:sp>
        <p:nvSpPr>
          <p:cNvPr id="17" name="Card3Num"/>
          <p:cNvSpPr/>
          <p:nvPr/>
        </p:nvSpPr>
        <p:spPr>
          <a:xfrm>
            <a:off x="4674000" y="1240000"/>
            <a:ext cx="1950000" cy="500000"/>
          </a:xfrm>
          <a:prstGeom prst="rect">
            <a:avLst/>
          </a:prstGeom>
          <a:noFill/>
          <a:ln/>
        </p:spPr>
        <p:txBody>
          <a:bodyPr wrap="square" lIns="91440" tIns="91440" rIns="91440" bIns="0" rtlCol="0" anchor="t"/>
          <a:lstStyle/>
          <a:p>
            <a:pPr indent="0" marL="0">
              <a:buNone/>
            </a:pPr>
            <a:r>
              <a:rPr lang="en-US" sz="2800" b="1" dirty="0">
                <a:solidFill>
                  <a:srgbClr val="2ECC71"/>
                </a:solidFill>
                <a:latin typeface="Trebuchet MS" pitchFamily="34" charset="0"/>
              </a:rPr>
              <a:t>03</a:t>
            </a:r>
          </a:p>
        </p:txBody>
      </p:sp>
      <p:sp>
        <p:nvSpPr>
          <p:cNvPr id="18" name="Card3Title"/>
          <p:cNvSpPr/>
          <p:nvPr/>
        </p:nvSpPr>
        <p:spPr>
          <a:xfrm>
            <a:off x="4674000" y="1780000"/>
            <a:ext cx="1950000" cy="350000"/>
          </a:xfrm>
          <a:prstGeom prst="rect">
            <a:avLst/>
          </a:prstGeom>
          <a:noFill/>
          <a:ln/>
        </p:spPr>
        <p:txBody>
          <a:bodyPr wrap="square" lIns="91440" tIns="0" rIns="91440" bIns="0" rtlCol="0" anchor="ctr"/>
          <a:lstStyle/>
          <a:p>
            <a:pPr indent="0" marL="0">
              <a:buNone/>
            </a:pPr>
            <a:r>
              <a:rPr lang="en-US" sz="1200" b="1" dirty="0">
                <a:solidFill>
                  <a:srgbClr val="EDF4F8"/>
                </a:solidFill>
                <a:latin typeface="Trebuchet MS" pitchFamily="34" charset="0"/>
              </a:rPr>
              <a:t>Team Too Small</a:t>
            </a:r>
          </a:p>
        </p:txBody>
      </p:sp>
      <p:sp>
        <p:nvSpPr>
          <p:cNvPr id="19" name="Card3Body"/>
          <p:cNvSpPr/>
          <p:nvPr/>
        </p:nvSpPr>
        <p:spPr>
          <a:xfrm>
            <a:off x="4674000" y="2180000"/>
            <a:ext cx="1950000" cy="2150000"/>
          </a:xfrm>
          <a:prstGeom prst="rect">
            <a:avLst/>
          </a:prstGeom>
          <a:noFill/>
          <a:ln/>
        </p:spPr>
        <p:txBody>
          <a:bodyPr wrap="square" lIns="91440" tIns="50800" rIns="91440" bIns="50800" rtlCol="0" anchor="t"/>
          <a:lstStyle/>
          <a:p>
            <a:pPr indent="0" marL="0">
              <a:buNone/>
            </a:pPr>
            <a:r>
              <a:rPr lang="en-US" sz="950" dirty="0">
                <a:solidFill>
                  <a:srgbClr val="B8D4E0"/>
                </a:solidFill>
                <a:latin typeface="Calibri" pitchFamily="34" charset="0"/>
              </a:rPr>
              <a:t>HA requires every contributor to understand the port/adapter discipline. A 2-person team often cannot sustain the structural overhead. Without enforcement tooling and shared mental models, the pattern degrades quickly.</a:t>
            </a:r>
          </a:p>
        </p:txBody>
      </p:sp>
      <p:sp>
        <p:nvSpPr>
          <p:cNvPr id="20" name="Card4Bg"/>
          <p:cNvSpPr/>
          <p:nvPr/>
        </p:nvSpPr>
        <p:spPr>
          <a:xfrm>
            <a:off x="6874000" y="1130000"/>
            <a:ext cx="1950000" cy="3600000"/>
          </a:xfrm>
          <a:prstGeom prst="rect">
            <a:avLst/>
          </a:prstGeom>
          <a:solidFill>
            <a:srgbClr val="122130"/>
          </a:solidFill>
          <a:ln w="9144">
            <a:solidFill>
              <a:srgbClr val="3D5A70"/>
            </a:solidFill>
          </a:ln>
        </p:spPr>
      </p:sp>
      <p:sp>
        <p:nvSpPr>
          <p:cNvPr id="21" name="Card4Accent"/>
          <p:cNvSpPr/>
          <p:nvPr/>
        </p:nvSpPr>
        <p:spPr>
          <a:xfrm>
            <a:off x="6874000" y="1130000"/>
            <a:ext cx="1950000" cy="110000"/>
          </a:xfrm>
          <a:prstGeom prst="rect">
            <a:avLst/>
          </a:prstGeom>
          <a:solidFill>
            <a:srgbClr val="F5A623"/>
          </a:solidFill>
          <a:ln/>
        </p:spPr>
      </p:sp>
      <p:sp>
        <p:nvSpPr>
          <p:cNvPr id="22" name="Card4Num"/>
          <p:cNvSpPr/>
          <p:nvPr/>
        </p:nvSpPr>
        <p:spPr>
          <a:xfrm>
            <a:off x="6874000" y="1240000"/>
            <a:ext cx="1950000" cy="500000"/>
          </a:xfrm>
          <a:prstGeom prst="rect">
            <a:avLst/>
          </a:prstGeom>
          <a:noFill/>
          <a:ln/>
        </p:spPr>
        <p:txBody>
          <a:bodyPr wrap="square" lIns="91440" tIns="91440" rIns="91440" bIns="0" rtlCol="0" anchor="t"/>
          <a:lstStyle/>
          <a:p>
            <a:pPr indent="0" marL="0">
              <a:buNone/>
            </a:pPr>
            <a:r>
              <a:rPr lang="en-US" sz="2800" b="1" dirty="0">
                <a:solidFill>
                  <a:srgbClr val="F5A623"/>
                </a:solidFill>
                <a:latin typeface="Trebuchet MS" pitchFamily="34" charset="0"/>
              </a:rPr>
              <a:t>04</a:t>
            </a:r>
          </a:p>
        </p:txBody>
      </p:sp>
      <p:sp>
        <p:nvSpPr>
          <p:cNvPr id="23" name="Card4Title"/>
          <p:cNvSpPr/>
          <p:nvPr/>
        </p:nvSpPr>
        <p:spPr>
          <a:xfrm>
            <a:off x="6874000" y="1780000"/>
            <a:ext cx="1950000" cy="350000"/>
          </a:xfrm>
          <a:prstGeom prst="rect">
            <a:avLst/>
          </a:prstGeom>
          <a:noFill/>
          <a:ln/>
        </p:spPr>
        <p:txBody>
          <a:bodyPr wrap="square" lIns="91440" tIns="0" rIns="91440" bIns="0" rtlCol="0" anchor="ctr"/>
          <a:lstStyle/>
          <a:p>
            <a:pPr indent="0" marL="0">
              <a:buNone/>
            </a:pPr>
            <a:r>
              <a:rPr lang="en-US" sz="1200" b="1" dirty="0">
                <a:solidFill>
                  <a:srgbClr val="EDF4F8"/>
                </a:solidFill>
                <a:latin typeface="Trebuchet MS" pitchFamily="34" charset="0"/>
              </a:rPr>
              <a:t>Throwaway / POC Code</a:t>
            </a:r>
          </a:p>
        </p:txBody>
      </p:sp>
      <p:sp>
        <p:nvSpPr>
          <p:cNvPr id="24" name="Card4Body"/>
          <p:cNvSpPr/>
          <p:nvPr/>
        </p:nvSpPr>
        <p:spPr>
          <a:xfrm>
            <a:off x="6874000" y="2180000"/>
            <a:ext cx="1950000" cy="2150000"/>
          </a:xfrm>
          <a:prstGeom prst="rect">
            <a:avLst/>
          </a:prstGeom>
          <a:noFill/>
          <a:ln/>
        </p:spPr>
        <p:txBody>
          <a:bodyPr wrap="square" lIns="91440" tIns="50800" rIns="91440" bIns="50800" rtlCol="0" anchor="t"/>
          <a:lstStyle/>
          <a:p>
            <a:pPr indent="0" marL="0">
              <a:buNone/>
            </a:pPr>
            <a:r>
              <a:rPr lang="en-US" sz="950" dirty="0">
                <a:solidFill>
                  <a:srgbClr val="B8D4E0"/>
                </a:solidFill>
                <a:latin typeface="Calibri" pitchFamily="34" charset="0"/>
              </a:rPr>
              <a:t>Prototype and spike code is written to be thrown away. Imposing HA structure on a proof-of-concept wastes design time on code that will never reach production. Validate the idea first, then apply architecture.</a:t>
            </a:r>
          </a:p>
        </p:txBody>
      </p:sp>
      <p:sp>
        <p:nvSpPr>
          <p:cNvPr id="25" name="BottomBar"/>
          <p:cNvSpPr/>
          <p:nvPr/>
        </p:nvSpPr>
        <p:spPr>
          <a:xfrm>
            <a:off x="274320" y="4890000"/>
            <a:ext cx="8595360" cy="36576"/>
          </a:xfrm>
          <a:prstGeom prst="rect">
            <a:avLst/>
          </a:prstGeom>
          <a:solidFill>
            <a:srgbClr val="3D5A70"/>
          </a:solidFill>
          <a:ln/>
        </p:spPr>
      </p:sp>
      <p:sp>
        <p:nvSpPr>
          <p:cNvPr id="26" name="BottomNote"/>
          <p:cNvSpPr/>
          <p:nvPr/>
        </p:nvSpPr>
        <p:spPr>
          <a:xfrm>
            <a:off x="274320" y="4940000"/>
            <a:ext cx="8595360" cy="200000"/>
          </a:xfrm>
          <a:prstGeom prst="rect">
            <a:avLst/>
          </a:prstGeom>
          <a:noFill/>
          <a:ln/>
        </p:spPr>
        <p:txBody>
          <a:bodyPr wrap="square" lIns="0" tIns="0" rIns="0" bIns="0" rtlCol="0" anchor="ctr"/>
          <a:lstStyle/>
          <a:p>
            <a:pPr algn="ctr" indent="0" marL="0">
              <a:buNone/>
            </a:pPr>
            <a:r>
              <a:rPr lang="en-US" sz="800" i="1" dirty="0">
                <a:solidFill>
                  <a:srgbClr val="6A97B0"/>
                </a:solidFill>
                <a:latin typeface="Calibri" pitchFamily="34" charset="0"/>
              </a:rPr>
              <a:t>For DTNA Instrument Cluster: apply HA at the application layer (SWC/use-case level) — never inside ISR or MCAL interrupt paths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Hexagonal Architecture — HMI Software Architect</dc:title>
  <dc:subject>PptxGenJS Presentation</dc:subject>
  <dc:creator>AJ Marchese</dc:creator>
  <cp:lastModifiedBy>AJ Marchese</cp:lastModifiedBy>
  <cp:revision>1</cp:revision>
  <dcterms:created xsi:type="dcterms:W3CDTF">2026-04-13T18:45:12Z</dcterms:created>
  <dcterms:modified xsi:type="dcterms:W3CDTF">2026-04-13T18:45:12Z</dcterms:modified>
</cp:coreProperties>
</file>